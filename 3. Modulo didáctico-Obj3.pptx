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6"/>
  </p:notesMasterIdLst>
  <p:sldIdLst>
    <p:sldId id="284" r:id="rId2"/>
    <p:sldId id="285" r:id="rId3"/>
    <p:sldId id="286" r:id="rId4"/>
    <p:sldId id="259" r:id="rId5"/>
    <p:sldId id="263" r:id="rId6"/>
    <p:sldId id="289" r:id="rId7"/>
    <p:sldId id="287" r:id="rId8"/>
    <p:sldId id="288" r:id="rId9"/>
    <p:sldId id="290" r:id="rId10"/>
    <p:sldId id="293" r:id="rId11"/>
    <p:sldId id="292" r:id="rId12"/>
    <p:sldId id="294" r:id="rId13"/>
    <p:sldId id="291" r:id="rId14"/>
    <p:sldId id="295" r:id="rId15"/>
    <p:sldId id="301" r:id="rId16"/>
    <p:sldId id="262" r:id="rId17"/>
    <p:sldId id="297" r:id="rId18"/>
    <p:sldId id="296" r:id="rId19"/>
    <p:sldId id="299" r:id="rId20"/>
    <p:sldId id="302" r:id="rId21"/>
    <p:sldId id="306" r:id="rId22"/>
    <p:sldId id="303" r:id="rId23"/>
    <p:sldId id="305" r:id="rId24"/>
    <p:sldId id="304" r:id="rId25"/>
    <p:sldId id="300" r:id="rId26"/>
    <p:sldId id="273" r:id="rId27"/>
    <p:sldId id="268" r:id="rId28"/>
    <p:sldId id="307" r:id="rId29"/>
    <p:sldId id="269" r:id="rId30"/>
    <p:sldId id="265" r:id="rId31"/>
    <p:sldId id="308" r:id="rId32"/>
    <p:sldId id="310" r:id="rId33"/>
    <p:sldId id="309" r:id="rId34"/>
    <p:sldId id="276" r:id="rId35"/>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4FCE0"/>
    <a:srgbClr val="D6F38D"/>
    <a:srgbClr val="9524A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75DCB02-9BB8-47FD-8907-85C794F793BA}" styleName="Estilo temático 1 - Énfasis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D5ABB26-0587-4C30-8999-92F81FD0307C}" styleName="Sin estilo ni cuadrícul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4" d="100"/>
          <a:sy n="74" d="100"/>
        </p:scale>
        <p:origin x="534"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4457700" cy="917575"/>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5827713" y="0"/>
            <a:ext cx="4457700" cy="917575"/>
          </a:xfrm>
          <a:prstGeom prst="rect">
            <a:avLst/>
          </a:prstGeom>
        </p:spPr>
        <p:txBody>
          <a:bodyPr vert="horz" lIns="91440" tIns="45720" rIns="91440" bIns="45720" rtlCol="0"/>
          <a:lstStyle>
            <a:lvl1pPr algn="r">
              <a:defRPr sz="1200"/>
            </a:lvl1pPr>
          </a:lstStyle>
          <a:p>
            <a:fld id="{DF65ED35-0168-4738-86E5-E74FB2372288}" type="datetimeFigureOut">
              <a:rPr lang="es-CO" smtClean="0"/>
              <a:t>5/08/2026</a:t>
            </a:fld>
            <a:endParaRPr lang="es-CO"/>
          </a:p>
        </p:txBody>
      </p:sp>
      <p:sp>
        <p:nvSpPr>
          <p:cNvPr id="4" name="Marcador de imagen de diapositiva 3"/>
          <p:cNvSpPr>
            <a:spLocks noGrp="1" noRot="1" noChangeAspect="1"/>
          </p:cNvSpPr>
          <p:nvPr>
            <p:ph type="sldImg" idx="2"/>
          </p:nvPr>
        </p:nvSpPr>
        <p:spPr>
          <a:xfrm>
            <a:off x="-342900" y="2286000"/>
            <a:ext cx="10972800" cy="61722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1028700" y="8801100"/>
            <a:ext cx="8229600" cy="720090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17372013"/>
            <a:ext cx="4457700" cy="9159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5827713" y="17372013"/>
            <a:ext cx="4457700" cy="915987"/>
          </a:xfrm>
          <a:prstGeom prst="rect">
            <a:avLst/>
          </a:prstGeom>
        </p:spPr>
        <p:txBody>
          <a:bodyPr vert="horz" lIns="91440" tIns="45720" rIns="91440" bIns="45720" rtlCol="0" anchor="b"/>
          <a:lstStyle>
            <a:lvl1pPr algn="r">
              <a:defRPr sz="1200"/>
            </a:lvl1pPr>
          </a:lstStyle>
          <a:p>
            <a:fld id="{ECB109D8-68B3-41E4-AA4B-61D78C490E79}" type="slidenum">
              <a:rPr lang="es-CO" smtClean="0"/>
              <a:t>‹Nº›</a:t>
            </a:fld>
            <a:endParaRPr lang="es-CO"/>
          </a:p>
        </p:txBody>
      </p:sp>
    </p:spTree>
    <p:extLst>
      <p:ext uri="{BB962C8B-B14F-4D97-AF65-F5344CB8AC3E}">
        <p14:creationId xmlns:p14="http://schemas.microsoft.com/office/powerpoint/2010/main" val="36658459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7E2C8C"/>
        </a:solidFill>
        <a:effectLst/>
      </p:bgPr>
    </p:bg>
    <p:spTree>
      <p:nvGrpSpPr>
        <p:cNvPr id="1" name=""/>
        <p:cNvGrpSpPr/>
        <p:nvPr/>
      </p:nvGrpSpPr>
      <p:grpSpPr>
        <a:xfrm>
          <a:off x="0" y="0"/>
          <a:ext cx="0" cy="0"/>
          <a:chOff x="0" y="0"/>
          <a:chExt cx="0" cy="0"/>
        </a:xfrm>
      </p:grpSpPr>
      <p:sp>
        <p:nvSpPr>
          <p:cNvPr id="2" name="Shape 0"/>
          <p:cNvSpPr/>
          <p:nvPr/>
        </p:nvSpPr>
        <p:spPr>
          <a:xfrm>
            <a:off x="14668500" y="-1714500"/>
            <a:ext cx="5334000" cy="5334000"/>
          </a:xfrm>
          <a:prstGeom prst="ellipse">
            <a:avLst/>
          </a:prstGeom>
          <a:solidFill>
            <a:srgbClr val="8F3B9C"/>
          </a:solidFill>
          <a:ln/>
        </p:spPr>
        <p:txBody>
          <a:bodyPr/>
          <a:lstStyle/>
          <a:p>
            <a:endParaRPr lang="es-CO" noProof="0" dirty="0"/>
          </a:p>
        </p:txBody>
      </p:sp>
      <p:sp>
        <p:nvSpPr>
          <p:cNvPr id="3" name="Shape 1"/>
          <p:cNvSpPr/>
          <p:nvPr/>
        </p:nvSpPr>
        <p:spPr>
          <a:xfrm rot="1080000">
            <a:off x="-1333501" y="7810500"/>
            <a:ext cx="4572002" cy="4572002"/>
          </a:xfrm>
          <a:prstGeom prst="roundRect">
            <a:avLst>
              <a:gd name="adj" fmla="val 13333"/>
            </a:avLst>
          </a:prstGeom>
          <a:solidFill>
            <a:srgbClr val="B7D81A"/>
          </a:solidFill>
          <a:ln/>
        </p:spPr>
        <p:txBody>
          <a:bodyPr/>
          <a:lstStyle/>
          <a:p>
            <a:endParaRPr lang="es-CO" noProof="0" dirty="0"/>
          </a:p>
        </p:txBody>
      </p:sp>
      <p:sp>
        <p:nvSpPr>
          <p:cNvPr id="4" name="Shape 2"/>
          <p:cNvSpPr/>
          <p:nvPr/>
        </p:nvSpPr>
        <p:spPr>
          <a:xfrm>
            <a:off x="15049500" y="7277100"/>
            <a:ext cx="2095500" cy="2095500"/>
          </a:xfrm>
          <a:prstGeom prst="roundRect">
            <a:avLst>
              <a:gd name="adj" fmla="val 21818"/>
            </a:avLst>
          </a:prstGeom>
          <a:solidFill>
            <a:srgbClr val="A867B5"/>
          </a:solidFill>
          <a:ln/>
        </p:spPr>
        <p:txBody>
          <a:bodyPr/>
          <a:lstStyle/>
          <a:p>
            <a:endParaRPr lang="es-CO" noProof="0" dirty="0"/>
          </a:p>
        </p:txBody>
      </p:sp>
      <p:sp>
        <p:nvSpPr>
          <p:cNvPr id="5" name="Shape 3"/>
          <p:cNvSpPr/>
          <p:nvPr/>
        </p:nvSpPr>
        <p:spPr>
          <a:xfrm>
            <a:off x="1143000" y="914400"/>
            <a:ext cx="5558036" cy="546100"/>
          </a:xfrm>
          <a:prstGeom prst="roundRect">
            <a:avLst>
              <a:gd name="adj" fmla="val 50000"/>
            </a:avLst>
          </a:prstGeom>
          <a:solidFill>
            <a:srgbClr val="FFFFFF">
              <a:alpha val="14000"/>
            </a:srgbClr>
          </a:solidFill>
          <a:ln/>
        </p:spPr>
        <p:txBody>
          <a:bodyPr/>
          <a:lstStyle/>
          <a:p>
            <a:endParaRPr lang="es-CO" noProof="0" dirty="0"/>
          </a:p>
        </p:txBody>
      </p:sp>
      <p:sp>
        <p:nvSpPr>
          <p:cNvPr id="6" name="Shape 4"/>
          <p:cNvSpPr/>
          <p:nvPr/>
        </p:nvSpPr>
        <p:spPr>
          <a:xfrm>
            <a:off x="1409700" y="1120775"/>
            <a:ext cx="133350" cy="133350"/>
          </a:xfrm>
          <a:prstGeom prst="ellipse">
            <a:avLst/>
          </a:prstGeom>
          <a:solidFill>
            <a:srgbClr val="B7D81A"/>
          </a:solidFill>
          <a:ln/>
        </p:spPr>
        <p:txBody>
          <a:bodyPr/>
          <a:lstStyle/>
          <a:p>
            <a:endParaRPr lang="es-CO" noProof="0" dirty="0"/>
          </a:p>
        </p:txBody>
      </p:sp>
      <p:sp>
        <p:nvSpPr>
          <p:cNvPr id="7" name="Text 5"/>
          <p:cNvSpPr/>
          <p:nvPr/>
        </p:nvSpPr>
        <p:spPr>
          <a:xfrm>
            <a:off x="1676400" y="1047750"/>
            <a:ext cx="5233730" cy="317500"/>
          </a:xfrm>
          <a:prstGeom prst="rect">
            <a:avLst/>
          </a:prstGeom>
          <a:noFill/>
          <a:ln/>
        </p:spPr>
        <p:txBody>
          <a:bodyPr wrap="square" lIns="25400" tIns="25400" rIns="25400" bIns="25400" rtlCol="0" anchor="t">
            <a:normAutofit/>
          </a:bodyPr>
          <a:lstStyle/>
          <a:p>
            <a:pPr marL="0" indent="0" algn="l">
              <a:buNone/>
            </a:pPr>
            <a:r>
              <a:rPr lang="es-CO" sz="1650" b="1" kern="0" spc="132" noProof="0" dirty="0">
                <a:solidFill>
                  <a:srgbClr val="FFFFFF"/>
                </a:solidFill>
                <a:latin typeface="Segoe UI" pitchFamily="34" charset="0"/>
                <a:ea typeface="Segoe UI" pitchFamily="34" charset="-122"/>
                <a:cs typeface="Segoe UI" pitchFamily="34" charset="-120"/>
              </a:rPr>
              <a:t>UNIDADES TECNOLÓGICAS DE SANTANDER</a:t>
            </a:r>
            <a:endParaRPr lang="es-CO" sz="1650" noProof="0" dirty="0"/>
          </a:p>
        </p:txBody>
      </p:sp>
      <p:sp>
        <p:nvSpPr>
          <p:cNvPr id="8" name="Text 6"/>
          <p:cNvSpPr/>
          <p:nvPr/>
        </p:nvSpPr>
        <p:spPr>
          <a:xfrm>
            <a:off x="1143000" y="2857500"/>
            <a:ext cx="12573000" cy="368300"/>
          </a:xfrm>
          <a:prstGeom prst="rect">
            <a:avLst/>
          </a:prstGeom>
          <a:noFill/>
          <a:ln/>
        </p:spPr>
        <p:txBody>
          <a:bodyPr wrap="square" lIns="25400" tIns="25400" rIns="25400" bIns="25400" rtlCol="0" anchor="t">
            <a:normAutofit/>
          </a:bodyPr>
          <a:lstStyle/>
          <a:p>
            <a:pPr marL="0" indent="0" algn="l">
              <a:buNone/>
            </a:pPr>
            <a:r>
              <a:rPr lang="es-CO" sz="1950" b="1" kern="0" spc="273" noProof="0" dirty="0">
                <a:solidFill>
                  <a:srgbClr val="DDF28A"/>
                </a:solidFill>
                <a:latin typeface="Segoe UI" pitchFamily="34" charset="0"/>
                <a:ea typeface="Segoe UI" pitchFamily="34" charset="-122"/>
                <a:cs typeface="Segoe UI" pitchFamily="34" charset="-120"/>
              </a:rPr>
              <a:t>CARTILLA DE APRENDIZAJE · INGENIERÍA INDUSTRIAL</a:t>
            </a:r>
            <a:endParaRPr lang="es-CO" sz="1950" noProof="0" dirty="0"/>
          </a:p>
        </p:txBody>
      </p:sp>
      <p:sp>
        <p:nvSpPr>
          <p:cNvPr id="9" name="Text 7"/>
          <p:cNvSpPr/>
          <p:nvPr/>
        </p:nvSpPr>
        <p:spPr>
          <a:xfrm>
            <a:off x="1143000" y="3454400"/>
            <a:ext cx="11772900" cy="1848445"/>
          </a:xfrm>
          <a:prstGeom prst="rect">
            <a:avLst/>
          </a:prstGeom>
          <a:noFill/>
          <a:ln/>
        </p:spPr>
        <p:txBody>
          <a:bodyPr wrap="square" lIns="25400" tIns="25400" rIns="25400" bIns="25400" rtlCol="0" anchor="t">
            <a:normAutofit/>
          </a:bodyPr>
          <a:lstStyle/>
          <a:p>
            <a:pPr marL="0" indent="0" algn="l">
              <a:lnSpc>
                <a:spcPct val="81463"/>
              </a:lnSpc>
              <a:buNone/>
            </a:pPr>
            <a:r>
              <a:rPr lang="es-CO" sz="6600" b="1" noProof="0" dirty="0">
                <a:solidFill>
                  <a:srgbClr val="FFFFFF"/>
                </a:solidFill>
                <a:latin typeface="Segoe UI" pitchFamily="34" charset="0"/>
                <a:ea typeface="Segoe UI" pitchFamily="34" charset="-122"/>
                <a:cs typeface="Segoe UI" pitchFamily="34" charset="-120"/>
              </a:rPr>
              <a:t>Gestión Inteligente de Inventarios</a:t>
            </a:r>
            <a:endParaRPr lang="es-CO" sz="6600" noProof="0" dirty="0"/>
          </a:p>
        </p:txBody>
      </p:sp>
      <p:sp>
        <p:nvSpPr>
          <p:cNvPr id="10" name="Text 8"/>
          <p:cNvSpPr/>
          <p:nvPr/>
        </p:nvSpPr>
        <p:spPr>
          <a:xfrm>
            <a:off x="1143000" y="5569546"/>
            <a:ext cx="9614535" cy="1398091"/>
          </a:xfrm>
          <a:prstGeom prst="rect">
            <a:avLst/>
          </a:prstGeom>
          <a:noFill/>
          <a:ln/>
        </p:spPr>
        <p:txBody>
          <a:bodyPr wrap="square" lIns="25400" tIns="25400" rIns="25400" bIns="25400" rtlCol="0" anchor="t">
            <a:normAutofit/>
          </a:bodyPr>
          <a:lstStyle/>
          <a:p>
            <a:pPr marL="0" indent="0" algn="l">
              <a:lnSpc>
                <a:spcPct val="105000"/>
              </a:lnSpc>
              <a:buNone/>
            </a:pPr>
            <a:r>
              <a:rPr lang="es-CO" sz="2550" noProof="0" dirty="0">
                <a:solidFill>
                  <a:srgbClr val="F4FADF"/>
                </a:solidFill>
                <a:latin typeface="Segoe UI" pitchFamily="34" charset="0"/>
                <a:ea typeface="Segoe UI" pitchFamily="34" charset="-122"/>
                <a:cs typeface="Segoe UI" pitchFamily="34" charset="-120"/>
              </a:rPr>
              <a:t>Módulo didáctico: ruta guiada para reproducir la simulación, validación y modelado predictivo de inventarios en </a:t>
            </a:r>
            <a:r>
              <a:rPr lang="es-CO" sz="2550" noProof="0" dirty="0" err="1">
                <a:solidFill>
                  <a:srgbClr val="F4FADF"/>
                </a:solidFill>
                <a:latin typeface="Segoe UI" pitchFamily="34" charset="0"/>
                <a:ea typeface="Segoe UI" pitchFamily="34" charset="-122"/>
                <a:cs typeface="Segoe UI" pitchFamily="34" charset="-120"/>
              </a:rPr>
              <a:t>RStudio</a:t>
            </a:r>
            <a:r>
              <a:rPr lang="es-CO" sz="2550" noProof="0" dirty="0">
                <a:solidFill>
                  <a:srgbClr val="F4FADF"/>
                </a:solidFill>
                <a:latin typeface="Segoe UI" pitchFamily="34" charset="0"/>
                <a:ea typeface="Segoe UI" pitchFamily="34" charset="-122"/>
                <a:cs typeface="Segoe UI" pitchFamily="34" charset="-120"/>
              </a:rPr>
              <a:t>.</a:t>
            </a:r>
            <a:endParaRPr lang="es-CO" sz="2550" noProof="0" dirty="0"/>
          </a:p>
        </p:txBody>
      </p:sp>
      <p:sp>
        <p:nvSpPr>
          <p:cNvPr id="11" name="Shape 9"/>
          <p:cNvSpPr/>
          <p:nvPr/>
        </p:nvSpPr>
        <p:spPr>
          <a:xfrm>
            <a:off x="1143000" y="8915400"/>
            <a:ext cx="533400" cy="533400"/>
          </a:xfrm>
          <a:prstGeom prst="roundRect">
            <a:avLst>
              <a:gd name="adj" fmla="val 35714"/>
            </a:avLst>
          </a:prstGeom>
          <a:solidFill>
            <a:srgbClr val="FFFFFF"/>
          </a:solidFill>
          <a:ln/>
        </p:spPr>
        <p:txBody>
          <a:bodyPr/>
          <a:lstStyle/>
          <a:p>
            <a:endParaRPr lang="es-CO" noProof="0" dirty="0"/>
          </a:p>
        </p:txBody>
      </p:sp>
      <p:sp>
        <p:nvSpPr>
          <p:cNvPr id="12" name="Text 10"/>
          <p:cNvSpPr/>
          <p:nvPr/>
        </p:nvSpPr>
        <p:spPr>
          <a:xfrm>
            <a:off x="1104900" y="8915400"/>
            <a:ext cx="609600" cy="571500"/>
          </a:xfrm>
          <a:prstGeom prst="rect">
            <a:avLst/>
          </a:prstGeom>
          <a:noFill/>
          <a:ln/>
        </p:spPr>
        <p:txBody>
          <a:bodyPr wrap="square" lIns="25400" tIns="25400" rIns="25400" bIns="25400" rtlCol="0" anchor="ctr">
            <a:normAutofit/>
          </a:bodyPr>
          <a:lstStyle/>
          <a:p>
            <a:pPr marL="0" indent="0" algn="ctr">
              <a:buNone/>
            </a:pPr>
            <a:r>
              <a:rPr lang="es-CO" sz="1950" b="1" noProof="0" dirty="0">
                <a:solidFill>
                  <a:srgbClr val="7E2C8C"/>
                </a:solidFill>
                <a:latin typeface="Segoe UI" pitchFamily="34" charset="0"/>
                <a:ea typeface="Segoe UI" pitchFamily="34" charset="-122"/>
                <a:cs typeface="Segoe UI" pitchFamily="34" charset="-120"/>
              </a:rPr>
              <a:t>UTS</a:t>
            </a:r>
            <a:endParaRPr lang="es-CO" sz="1950" noProof="0" dirty="0"/>
          </a:p>
        </p:txBody>
      </p:sp>
      <p:sp>
        <p:nvSpPr>
          <p:cNvPr id="13" name="Text 11"/>
          <p:cNvSpPr/>
          <p:nvPr/>
        </p:nvSpPr>
        <p:spPr>
          <a:xfrm>
            <a:off x="1866900" y="9042400"/>
            <a:ext cx="4295339" cy="317500"/>
          </a:xfrm>
          <a:prstGeom prst="rect">
            <a:avLst/>
          </a:prstGeom>
          <a:noFill/>
          <a:ln/>
        </p:spPr>
        <p:txBody>
          <a:bodyPr wrap="square" lIns="25400" tIns="25400" rIns="25400" bIns="25400" rtlCol="0" anchor="t">
            <a:normAutofit/>
          </a:bodyPr>
          <a:lstStyle/>
          <a:p>
            <a:pPr marL="0" indent="0" algn="l">
              <a:buNone/>
            </a:pPr>
            <a:r>
              <a:rPr lang="es-CO" sz="1650" noProof="0" dirty="0">
                <a:solidFill>
                  <a:srgbClr val="FFFFFF"/>
                </a:solidFill>
                <a:latin typeface="Segoe UI" pitchFamily="34" charset="0"/>
                <a:ea typeface="Segoe UI" pitchFamily="34" charset="-122"/>
                <a:cs typeface="Segoe UI" pitchFamily="34" charset="-120"/>
              </a:rPr>
              <a:t>Módulo didáctico · Ingeniería Industrial</a:t>
            </a:r>
            <a:endParaRPr lang="es-CO" sz="1650" noProof="0" dirty="0"/>
          </a:p>
        </p:txBody>
      </p:sp>
      <p:sp>
        <p:nvSpPr>
          <p:cNvPr id="15" name="Text 11">
            <a:extLst>
              <a:ext uri="{FF2B5EF4-FFF2-40B4-BE49-F238E27FC236}">
                <a16:creationId xmlns:a16="http://schemas.microsoft.com/office/drawing/2014/main" id="{85BE6596-D23A-E5CC-9C07-FC848C763EC5}"/>
              </a:ext>
            </a:extLst>
          </p:cNvPr>
          <p:cNvSpPr/>
          <p:nvPr/>
        </p:nvSpPr>
        <p:spPr>
          <a:xfrm>
            <a:off x="13949580" y="9921605"/>
            <a:ext cx="4295339" cy="317500"/>
          </a:xfrm>
          <a:prstGeom prst="rect">
            <a:avLst/>
          </a:prstGeom>
          <a:noFill/>
          <a:ln/>
        </p:spPr>
        <p:txBody>
          <a:bodyPr wrap="square" lIns="25400" tIns="25400" rIns="25400" bIns="25400" rtlCol="0" anchor="t">
            <a:normAutofit fontScale="92500"/>
          </a:bodyPr>
          <a:lstStyle/>
          <a:p>
            <a:pPr marL="0" indent="0" algn="l">
              <a:buNone/>
            </a:pPr>
            <a:r>
              <a:rPr lang="es-CO" sz="1650" dirty="0">
                <a:solidFill>
                  <a:srgbClr val="FFFFFF"/>
                </a:solidFill>
                <a:latin typeface="Segoe UI" pitchFamily="34" charset="0"/>
                <a:cs typeface="Segoe UI" pitchFamily="34" charset="-120"/>
              </a:rPr>
              <a:t>Elaborado por: Daniela Sánchez - Mabely Gamboa</a:t>
            </a:r>
            <a:endParaRPr lang="es-CO" sz="1650" noProof="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47650" cy="10287000"/>
          </a:xfrm>
          <a:prstGeom prst="rect">
            <a:avLst/>
          </a:prstGeom>
          <a:solidFill>
            <a:srgbClr val="B7D81A"/>
          </a:solidFill>
          <a:ln/>
        </p:spPr>
        <p:txBody>
          <a:bodyPr/>
          <a:lstStyle/>
          <a:p>
            <a:endParaRPr lang="es-CO" noProof="0" dirty="0"/>
          </a:p>
        </p:txBody>
      </p:sp>
      <p:sp>
        <p:nvSpPr>
          <p:cNvPr id="3" name="Text 1"/>
          <p:cNvSpPr/>
          <p:nvPr/>
        </p:nvSpPr>
        <p:spPr>
          <a:xfrm>
            <a:off x="1142999" y="914400"/>
            <a:ext cx="3119907" cy="317500"/>
          </a:xfrm>
          <a:prstGeom prst="rect">
            <a:avLst/>
          </a:prstGeom>
          <a:noFill/>
          <a:ln/>
        </p:spPr>
        <p:txBody>
          <a:bodyPr wrap="square" lIns="25400" tIns="25400" rIns="25400" bIns="25400" rtlCol="0" anchor="t">
            <a:normAutofit/>
          </a:bodyPr>
          <a:lstStyle/>
          <a:p>
            <a:pPr marL="0" indent="0" algn="l">
              <a:buNone/>
            </a:pPr>
            <a:r>
              <a:rPr lang="es-CO" sz="1650" b="1" kern="0" spc="165" noProof="0" dirty="0">
                <a:solidFill>
                  <a:srgbClr val="7E2C8C"/>
                </a:solidFill>
                <a:latin typeface="Segoe UI" pitchFamily="34" charset="0"/>
                <a:ea typeface="Segoe UI" pitchFamily="34" charset="-122"/>
                <a:cs typeface="Segoe UI" pitchFamily="34" charset="-120"/>
              </a:rPr>
              <a:t>MODULO DIDÁCTICO</a:t>
            </a:r>
            <a:endParaRPr lang="es-CO" sz="1650" noProof="0" dirty="0"/>
          </a:p>
        </p:txBody>
      </p:sp>
      <p:sp>
        <p:nvSpPr>
          <p:cNvPr id="4" name="Text 2"/>
          <p:cNvSpPr/>
          <p:nvPr/>
        </p:nvSpPr>
        <p:spPr>
          <a:xfrm>
            <a:off x="1143000" y="1524000"/>
            <a:ext cx="5242897" cy="749300"/>
          </a:xfrm>
          <a:prstGeom prst="rect">
            <a:avLst/>
          </a:prstGeom>
          <a:noFill/>
          <a:ln/>
        </p:spPr>
        <p:txBody>
          <a:bodyPr wrap="square" lIns="25400" tIns="25400" rIns="25400" bIns="25400" rtlCol="0" anchor="t">
            <a:normAutofit fontScale="62500" lnSpcReduction="20000"/>
          </a:bodyPr>
          <a:lstStyle/>
          <a:p>
            <a:pPr marL="0" indent="0" algn="l">
              <a:buNone/>
            </a:pPr>
            <a:r>
              <a:rPr lang="es-CO" sz="4200" b="1" noProof="0" dirty="0">
                <a:solidFill>
                  <a:srgbClr val="3D3D3D"/>
                </a:solidFill>
                <a:latin typeface="Segoe UI" pitchFamily="34" charset="0"/>
                <a:ea typeface="Segoe UI" pitchFamily="34" charset="-122"/>
                <a:cs typeface="Segoe UI" pitchFamily="34" charset="-120"/>
              </a:rPr>
              <a:t>Ruta de aprendizaje del módulo</a:t>
            </a:r>
            <a:endParaRPr lang="es-CO" sz="4200" noProof="0" dirty="0"/>
          </a:p>
        </p:txBody>
      </p:sp>
      <p:sp>
        <p:nvSpPr>
          <p:cNvPr id="5" name="Shape 3"/>
          <p:cNvSpPr/>
          <p:nvPr/>
        </p:nvSpPr>
        <p:spPr>
          <a:xfrm>
            <a:off x="1521842" y="3095199"/>
            <a:ext cx="533400" cy="533400"/>
          </a:xfrm>
          <a:prstGeom prst="roundRect">
            <a:avLst>
              <a:gd name="adj" fmla="val 28571"/>
            </a:avLst>
          </a:prstGeom>
          <a:solidFill>
            <a:srgbClr val="F4FADF"/>
          </a:solidFill>
          <a:ln/>
        </p:spPr>
        <p:txBody>
          <a:bodyPr/>
          <a:lstStyle/>
          <a:p>
            <a:endParaRPr lang="es-CO" noProof="0" dirty="0"/>
          </a:p>
        </p:txBody>
      </p:sp>
      <p:sp>
        <p:nvSpPr>
          <p:cNvPr id="6" name="Text 4"/>
          <p:cNvSpPr/>
          <p:nvPr/>
        </p:nvSpPr>
        <p:spPr>
          <a:xfrm>
            <a:off x="1483742" y="3095199"/>
            <a:ext cx="609600" cy="571500"/>
          </a:xfrm>
          <a:prstGeom prst="rect">
            <a:avLst/>
          </a:prstGeom>
          <a:noFill/>
          <a:ln/>
        </p:spPr>
        <p:txBody>
          <a:bodyPr wrap="square" lIns="25400" tIns="25400" rIns="25400" bIns="25400" rtlCol="0" anchor="ctr">
            <a:normAutofit/>
          </a:bodyPr>
          <a:lstStyle/>
          <a:p>
            <a:pPr marL="0" indent="0" algn="ctr">
              <a:buNone/>
            </a:pPr>
            <a:r>
              <a:rPr lang="es-CO" sz="1800" b="1" noProof="0" dirty="0">
                <a:solidFill>
                  <a:srgbClr val="7E2C8C"/>
                </a:solidFill>
                <a:latin typeface="Segoe UI" pitchFamily="34" charset="0"/>
                <a:ea typeface="Segoe UI" pitchFamily="34" charset="-122"/>
                <a:cs typeface="Segoe UI" pitchFamily="34" charset="-120"/>
              </a:rPr>
              <a:t>01</a:t>
            </a:r>
            <a:endParaRPr lang="es-CO" sz="1800" noProof="0" dirty="0"/>
          </a:p>
        </p:txBody>
      </p:sp>
      <p:sp>
        <p:nvSpPr>
          <p:cNvPr id="7" name="Text 5"/>
          <p:cNvSpPr/>
          <p:nvPr/>
        </p:nvSpPr>
        <p:spPr>
          <a:xfrm>
            <a:off x="2283842" y="3171399"/>
            <a:ext cx="5433566" cy="419100"/>
          </a:xfrm>
          <a:prstGeom prst="rect">
            <a:avLst/>
          </a:prstGeom>
          <a:noFill/>
          <a:ln/>
        </p:spPr>
        <p:txBody>
          <a:bodyPr wrap="square" lIns="25400" tIns="25400" rIns="25400" bIns="25400" rtlCol="0" anchor="t">
            <a:normAutofit/>
          </a:bodyPr>
          <a:lstStyle/>
          <a:p>
            <a:pPr marL="0" indent="0" algn="l">
              <a:buNone/>
            </a:pPr>
            <a:r>
              <a:rPr lang="es-CO" sz="2000" noProof="0" dirty="0">
                <a:solidFill>
                  <a:srgbClr val="3D3D3D"/>
                </a:solidFill>
                <a:latin typeface="Segoe UI" pitchFamily="34" charset="0"/>
                <a:ea typeface="Segoe UI" pitchFamily="34" charset="-122"/>
                <a:cs typeface="Segoe UI" pitchFamily="34" charset="-120"/>
              </a:rPr>
              <a:t>Fase 1 · Diseño del entorno de simulación</a:t>
            </a:r>
            <a:endParaRPr lang="es-CO" sz="2000" noProof="0" dirty="0"/>
          </a:p>
        </p:txBody>
      </p:sp>
      <p:sp>
        <p:nvSpPr>
          <p:cNvPr id="8" name="Shape 6"/>
          <p:cNvSpPr/>
          <p:nvPr/>
        </p:nvSpPr>
        <p:spPr>
          <a:xfrm>
            <a:off x="1521842" y="3895299"/>
            <a:ext cx="533400" cy="533400"/>
          </a:xfrm>
          <a:prstGeom prst="roundRect">
            <a:avLst>
              <a:gd name="adj" fmla="val 28571"/>
            </a:avLst>
          </a:prstGeom>
          <a:solidFill>
            <a:srgbClr val="F4FADF"/>
          </a:solidFill>
          <a:ln/>
        </p:spPr>
        <p:txBody>
          <a:bodyPr/>
          <a:lstStyle/>
          <a:p>
            <a:endParaRPr lang="es-CO" noProof="0" dirty="0"/>
          </a:p>
        </p:txBody>
      </p:sp>
      <p:sp>
        <p:nvSpPr>
          <p:cNvPr id="9" name="Text 7"/>
          <p:cNvSpPr/>
          <p:nvPr/>
        </p:nvSpPr>
        <p:spPr>
          <a:xfrm>
            <a:off x="1483742" y="3895299"/>
            <a:ext cx="609600" cy="571500"/>
          </a:xfrm>
          <a:prstGeom prst="rect">
            <a:avLst/>
          </a:prstGeom>
          <a:noFill/>
          <a:ln/>
        </p:spPr>
        <p:txBody>
          <a:bodyPr wrap="square" lIns="25400" tIns="25400" rIns="25400" bIns="25400" rtlCol="0" anchor="ctr">
            <a:normAutofit/>
          </a:bodyPr>
          <a:lstStyle/>
          <a:p>
            <a:pPr marL="0" indent="0" algn="ctr">
              <a:buNone/>
            </a:pPr>
            <a:r>
              <a:rPr lang="es-CO" sz="1800" b="1" noProof="0" dirty="0">
                <a:solidFill>
                  <a:srgbClr val="7E2C8C"/>
                </a:solidFill>
                <a:latin typeface="Segoe UI" pitchFamily="34" charset="0"/>
                <a:ea typeface="Segoe UI" pitchFamily="34" charset="-122"/>
                <a:cs typeface="Segoe UI" pitchFamily="34" charset="-120"/>
              </a:rPr>
              <a:t>02</a:t>
            </a:r>
            <a:endParaRPr lang="es-CO" sz="1800" noProof="0" dirty="0"/>
          </a:p>
        </p:txBody>
      </p:sp>
      <p:sp>
        <p:nvSpPr>
          <p:cNvPr id="10" name="Text 8"/>
          <p:cNvSpPr/>
          <p:nvPr/>
        </p:nvSpPr>
        <p:spPr>
          <a:xfrm>
            <a:off x="2283842" y="3971499"/>
            <a:ext cx="4781996" cy="419100"/>
          </a:xfrm>
          <a:prstGeom prst="rect">
            <a:avLst/>
          </a:prstGeom>
          <a:noFill/>
          <a:ln/>
        </p:spPr>
        <p:txBody>
          <a:bodyPr wrap="square" lIns="25400" tIns="25400" rIns="25400" bIns="25400" rtlCol="0" anchor="t">
            <a:normAutofit/>
          </a:bodyPr>
          <a:lstStyle/>
          <a:p>
            <a:pPr marL="0" indent="0" algn="l">
              <a:buNone/>
            </a:pPr>
            <a:r>
              <a:rPr lang="es-CO" sz="2000" noProof="0" dirty="0">
                <a:solidFill>
                  <a:srgbClr val="3D3D3D"/>
                </a:solidFill>
                <a:latin typeface="Segoe UI" pitchFamily="34" charset="0"/>
                <a:ea typeface="Segoe UI" pitchFamily="34" charset="-122"/>
                <a:cs typeface="Segoe UI" pitchFamily="34" charset="-120"/>
              </a:rPr>
              <a:t>Fase 2 · Construcción del </a:t>
            </a:r>
            <a:r>
              <a:rPr lang="es-CO" sz="2000" noProof="0" dirty="0" err="1">
                <a:solidFill>
                  <a:srgbClr val="3D3D3D"/>
                </a:solidFill>
                <a:latin typeface="Segoe UI" pitchFamily="34" charset="0"/>
                <a:ea typeface="Segoe UI" pitchFamily="34" charset="-122"/>
                <a:cs typeface="Segoe UI" pitchFamily="34" charset="-120"/>
              </a:rPr>
              <a:t>dataset</a:t>
            </a:r>
            <a:r>
              <a:rPr lang="es-CO" sz="2000" noProof="0" dirty="0">
                <a:solidFill>
                  <a:srgbClr val="3D3D3D"/>
                </a:solidFill>
                <a:latin typeface="Segoe UI" pitchFamily="34" charset="0"/>
                <a:ea typeface="Segoe UI" pitchFamily="34" charset="-122"/>
                <a:cs typeface="Segoe UI" pitchFamily="34" charset="-120"/>
              </a:rPr>
              <a:t> sintético</a:t>
            </a:r>
            <a:endParaRPr lang="es-CO" sz="2000" noProof="0" dirty="0"/>
          </a:p>
        </p:txBody>
      </p:sp>
      <p:sp>
        <p:nvSpPr>
          <p:cNvPr id="11" name="Shape 9"/>
          <p:cNvSpPr/>
          <p:nvPr/>
        </p:nvSpPr>
        <p:spPr>
          <a:xfrm>
            <a:off x="1521842" y="4695399"/>
            <a:ext cx="533400" cy="533400"/>
          </a:xfrm>
          <a:prstGeom prst="roundRect">
            <a:avLst>
              <a:gd name="adj" fmla="val 28571"/>
            </a:avLst>
          </a:prstGeom>
          <a:solidFill>
            <a:srgbClr val="F4FADF"/>
          </a:solidFill>
          <a:ln/>
        </p:spPr>
        <p:txBody>
          <a:bodyPr/>
          <a:lstStyle/>
          <a:p>
            <a:endParaRPr lang="es-CO" noProof="0" dirty="0"/>
          </a:p>
        </p:txBody>
      </p:sp>
      <p:sp>
        <p:nvSpPr>
          <p:cNvPr id="12" name="Text 10"/>
          <p:cNvSpPr/>
          <p:nvPr/>
        </p:nvSpPr>
        <p:spPr>
          <a:xfrm>
            <a:off x="1483742" y="4695399"/>
            <a:ext cx="609600" cy="571500"/>
          </a:xfrm>
          <a:prstGeom prst="rect">
            <a:avLst/>
          </a:prstGeom>
          <a:noFill/>
          <a:ln/>
        </p:spPr>
        <p:txBody>
          <a:bodyPr wrap="square" lIns="25400" tIns="25400" rIns="25400" bIns="25400" rtlCol="0" anchor="ctr">
            <a:normAutofit/>
          </a:bodyPr>
          <a:lstStyle/>
          <a:p>
            <a:pPr marL="0" indent="0" algn="ctr">
              <a:buNone/>
            </a:pPr>
            <a:r>
              <a:rPr lang="es-CO" sz="1800" b="1" noProof="0" dirty="0">
                <a:solidFill>
                  <a:srgbClr val="7E2C8C"/>
                </a:solidFill>
                <a:latin typeface="Segoe UI" pitchFamily="34" charset="0"/>
                <a:ea typeface="Segoe UI" pitchFamily="34" charset="-122"/>
                <a:cs typeface="Segoe UI" pitchFamily="34" charset="-120"/>
              </a:rPr>
              <a:t>03</a:t>
            </a:r>
            <a:endParaRPr lang="es-CO" sz="1800" noProof="0" dirty="0"/>
          </a:p>
        </p:txBody>
      </p:sp>
      <p:sp>
        <p:nvSpPr>
          <p:cNvPr id="13" name="Text 11"/>
          <p:cNvSpPr/>
          <p:nvPr/>
        </p:nvSpPr>
        <p:spPr>
          <a:xfrm>
            <a:off x="2283842" y="4809699"/>
            <a:ext cx="4662934" cy="495300"/>
          </a:xfrm>
          <a:prstGeom prst="rect">
            <a:avLst/>
          </a:prstGeom>
          <a:noFill/>
          <a:ln/>
        </p:spPr>
        <p:txBody>
          <a:bodyPr wrap="square" lIns="25400" tIns="25400" rIns="25400" bIns="25400" rtlCol="0" anchor="t">
            <a:normAutofit/>
          </a:bodyPr>
          <a:lstStyle/>
          <a:p>
            <a:pPr marL="0" indent="0" algn="l">
              <a:buNone/>
            </a:pPr>
            <a:r>
              <a:rPr lang="es-CO" sz="2000" noProof="0" dirty="0">
                <a:solidFill>
                  <a:srgbClr val="3D3D3D"/>
                </a:solidFill>
                <a:latin typeface="Segoe UI" pitchFamily="34" charset="0"/>
                <a:ea typeface="Segoe UI" pitchFamily="34" charset="-122"/>
                <a:cs typeface="Segoe UI" pitchFamily="34" charset="-120"/>
              </a:rPr>
              <a:t>Fase 3 · Validación del conjunto de datos</a:t>
            </a:r>
            <a:endParaRPr lang="es-CO" sz="2000" noProof="0" dirty="0"/>
          </a:p>
        </p:txBody>
      </p:sp>
      <p:sp>
        <p:nvSpPr>
          <p:cNvPr id="14" name="Shape 12"/>
          <p:cNvSpPr/>
          <p:nvPr/>
        </p:nvSpPr>
        <p:spPr>
          <a:xfrm>
            <a:off x="1521842" y="5495499"/>
            <a:ext cx="533400" cy="533400"/>
          </a:xfrm>
          <a:prstGeom prst="roundRect">
            <a:avLst>
              <a:gd name="adj" fmla="val 28571"/>
            </a:avLst>
          </a:prstGeom>
          <a:solidFill>
            <a:srgbClr val="F4FADF"/>
          </a:solidFill>
          <a:ln/>
        </p:spPr>
        <p:txBody>
          <a:bodyPr/>
          <a:lstStyle/>
          <a:p>
            <a:endParaRPr lang="es-CO" noProof="0" dirty="0"/>
          </a:p>
        </p:txBody>
      </p:sp>
      <p:sp>
        <p:nvSpPr>
          <p:cNvPr id="15" name="Text 13"/>
          <p:cNvSpPr/>
          <p:nvPr/>
        </p:nvSpPr>
        <p:spPr>
          <a:xfrm>
            <a:off x="1483742" y="5495499"/>
            <a:ext cx="609600" cy="571500"/>
          </a:xfrm>
          <a:prstGeom prst="rect">
            <a:avLst/>
          </a:prstGeom>
          <a:noFill/>
          <a:ln/>
        </p:spPr>
        <p:txBody>
          <a:bodyPr wrap="square" lIns="25400" tIns="25400" rIns="25400" bIns="25400" rtlCol="0" anchor="ctr">
            <a:normAutofit/>
          </a:bodyPr>
          <a:lstStyle/>
          <a:p>
            <a:pPr marL="0" indent="0" algn="ctr">
              <a:buNone/>
            </a:pPr>
            <a:r>
              <a:rPr lang="es-CO" sz="1800" b="1" noProof="0" dirty="0">
                <a:solidFill>
                  <a:srgbClr val="7E2C8C"/>
                </a:solidFill>
                <a:latin typeface="Segoe UI" pitchFamily="34" charset="0"/>
                <a:ea typeface="Segoe UI" pitchFamily="34" charset="-122"/>
                <a:cs typeface="Segoe UI" pitchFamily="34" charset="-120"/>
              </a:rPr>
              <a:t>04</a:t>
            </a:r>
            <a:endParaRPr lang="es-CO" sz="1800" noProof="0" dirty="0"/>
          </a:p>
        </p:txBody>
      </p:sp>
      <p:sp>
        <p:nvSpPr>
          <p:cNvPr id="16" name="Text 14"/>
          <p:cNvSpPr/>
          <p:nvPr/>
        </p:nvSpPr>
        <p:spPr>
          <a:xfrm>
            <a:off x="2283842" y="5571699"/>
            <a:ext cx="4781996" cy="495300"/>
          </a:xfrm>
          <a:prstGeom prst="rect">
            <a:avLst/>
          </a:prstGeom>
          <a:noFill/>
          <a:ln/>
        </p:spPr>
        <p:txBody>
          <a:bodyPr wrap="square" lIns="25400" tIns="25400" rIns="25400" bIns="25400" rtlCol="0" anchor="t">
            <a:normAutofit fontScale="92500"/>
          </a:bodyPr>
          <a:lstStyle/>
          <a:p>
            <a:pPr marL="0" indent="0" algn="l">
              <a:buNone/>
            </a:pPr>
            <a:r>
              <a:rPr lang="es-CO" sz="2000" noProof="0" dirty="0">
                <a:solidFill>
                  <a:srgbClr val="3D3D3D"/>
                </a:solidFill>
                <a:latin typeface="Segoe UI" pitchFamily="34" charset="0"/>
                <a:ea typeface="Segoe UI" pitchFamily="34" charset="-122"/>
                <a:cs typeface="Segoe UI" pitchFamily="34" charset="-120"/>
              </a:rPr>
              <a:t>Fase 4 · Preparación de variables predictoras</a:t>
            </a:r>
            <a:endParaRPr lang="es-CO" sz="2000" noProof="0" dirty="0"/>
          </a:p>
        </p:txBody>
      </p:sp>
      <p:sp>
        <p:nvSpPr>
          <p:cNvPr id="17" name="Shape 15"/>
          <p:cNvSpPr/>
          <p:nvPr/>
        </p:nvSpPr>
        <p:spPr>
          <a:xfrm>
            <a:off x="1521842" y="6295599"/>
            <a:ext cx="533400" cy="533400"/>
          </a:xfrm>
          <a:prstGeom prst="roundRect">
            <a:avLst>
              <a:gd name="adj" fmla="val 28571"/>
            </a:avLst>
          </a:prstGeom>
          <a:solidFill>
            <a:srgbClr val="F4FADF"/>
          </a:solidFill>
          <a:ln/>
        </p:spPr>
        <p:txBody>
          <a:bodyPr/>
          <a:lstStyle/>
          <a:p>
            <a:endParaRPr lang="es-CO" noProof="0" dirty="0"/>
          </a:p>
        </p:txBody>
      </p:sp>
      <p:sp>
        <p:nvSpPr>
          <p:cNvPr id="18" name="Text 16"/>
          <p:cNvSpPr/>
          <p:nvPr/>
        </p:nvSpPr>
        <p:spPr>
          <a:xfrm>
            <a:off x="1483742" y="6295599"/>
            <a:ext cx="609600" cy="571500"/>
          </a:xfrm>
          <a:prstGeom prst="rect">
            <a:avLst/>
          </a:prstGeom>
          <a:noFill/>
          <a:ln/>
        </p:spPr>
        <p:txBody>
          <a:bodyPr wrap="square" lIns="25400" tIns="25400" rIns="25400" bIns="25400" rtlCol="0" anchor="ctr">
            <a:normAutofit/>
          </a:bodyPr>
          <a:lstStyle/>
          <a:p>
            <a:pPr marL="0" indent="0" algn="ctr">
              <a:buNone/>
            </a:pPr>
            <a:r>
              <a:rPr lang="es-CO" sz="1800" b="1" noProof="0" dirty="0">
                <a:solidFill>
                  <a:srgbClr val="7E2C8C"/>
                </a:solidFill>
                <a:latin typeface="Segoe UI" pitchFamily="34" charset="0"/>
                <a:ea typeface="Segoe UI" pitchFamily="34" charset="-122"/>
                <a:cs typeface="Segoe UI" pitchFamily="34" charset="-120"/>
              </a:rPr>
              <a:t>05</a:t>
            </a:r>
            <a:endParaRPr lang="es-CO" sz="1800" noProof="0" dirty="0"/>
          </a:p>
        </p:txBody>
      </p:sp>
      <p:sp>
        <p:nvSpPr>
          <p:cNvPr id="19" name="Text 17"/>
          <p:cNvSpPr/>
          <p:nvPr/>
        </p:nvSpPr>
        <p:spPr>
          <a:xfrm>
            <a:off x="2283842" y="6371799"/>
            <a:ext cx="4877604" cy="419100"/>
          </a:xfrm>
          <a:prstGeom prst="rect">
            <a:avLst/>
          </a:prstGeom>
          <a:noFill/>
          <a:ln/>
        </p:spPr>
        <p:txBody>
          <a:bodyPr wrap="square" lIns="25400" tIns="25400" rIns="25400" bIns="25400" rtlCol="0" anchor="t">
            <a:normAutofit fontScale="92500"/>
          </a:bodyPr>
          <a:lstStyle/>
          <a:p>
            <a:pPr marL="0" indent="0" algn="l">
              <a:buNone/>
            </a:pPr>
            <a:r>
              <a:rPr lang="es-CO" sz="2000" noProof="0" dirty="0">
                <a:solidFill>
                  <a:srgbClr val="3D3D3D"/>
                </a:solidFill>
                <a:latin typeface="Segoe UI" pitchFamily="34" charset="0"/>
                <a:ea typeface="Segoe UI" pitchFamily="34" charset="-122"/>
                <a:cs typeface="Segoe UI" pitchFamily="34" charset="-120"/>
              </a:rPr>
              <a:t>Fase 5 · Modelado predictivo y comparación</a:t>
            </a:r>
            <a:endParaRPr lang="es-CO" sz="2000" noProof="0" dirty="0"/>
          </a:p>
        </p:txBody>
      </p:sp>
      <p:sp>
        <p:nvSpPr>
          <p:cNvPr id="20" name="Shape 18"/>
          <p:cNvSpPr/>
          <p:nvPr/>
        </p:nvSpPr>
        <p:spPr>
          <a:xfrm>
            <a:off x="1521842" y="7095699"/>
            <a:ext cx="533400" cy="533400"/>
          </a:xfrm>
          <a:prstGeom prst="roundRect">
            <a:avLst>
              <a:gd name="adj" fmla="val 28571"/>
            </a:avLst>
          </a:prstGeom>
          <a:solidFill>
            <a:srgbClr val="F4FADF"/>
          </a:solidFill>
          <a:ln/>
        </p:spPr>
        <p:txBody>
          <a:bodyPr/>
          <a:lstStyle/>
          <a:p>
            <a:endParaRPr lang="es-CO" noProof="0" dirty="0"/>
          </a:p>
        </p:txBody>
      </p:sp>
      <p:sp>
        <p:nvSpPr>
          <p:cNvPr id="21" name="Text 19"/>
          <p:cNvSpPr/>
          <p:nvPr/>
        </p:nvSpPr>
        <p:spPr>
          <a:xfrm>
            <a:off x="1483742" y="7095699"/>
            <a:ext cx="609600" cy="571500"/>
          </a:xfrm>
          <a:prstGeom prst="rect">
            <a:avLst/>
          </a:prstGeom>
          <a:noFill/>
          <a:ln/>
        </p:spPr>
        <p:txBody>
          <a:bodyPr wrap="square" lIns="25400" tIns="25400" rIns="25400" bIns="25400" rtlCol="0" anchor="ctr">
            <a:normAutofit/>
          </a:bodyPr>
          <a:lstStyle/>
          <a:p>
            <a:pPr marL="0" indent="0" algn="ctr">
              <a:buNone/>
            </a:pPr>
            <a:r>
              <a:rPr lang="es-CO" sz="1800" b="1" noProof="0" dirty="0">
                <a:solidFill>
                  <a:srgbClr val="7E2C8C"/>
                </a:solidFill>
                <a:latin typeface="Segoe UI" pitchFamily="34" charset="0"/>
                <a:ea typeface="Segoe UI" pitchFamily="34" charset="-122"/>
                <a:cs typeface="Segoe UI" pitchFamily="34" charset="-120"/>
              </a:rPr>
              <a:t>06</a:t>
            </a:r>
            <a:endParaRPr lang="es-CO" sz="1800" noProof="0" dirty="0"/>
          </a:p>
        </p:txBody>
      </p:sp>
      <p:sp>
        <p:nvSpPr>
          <p:cNvPr id="22" name="Text 20"/>
          <p:cNvSpPr/>
          <p:nvPr/>
        </p:nvSpPr>
        <p:spPr>
          <a:xfrm>
            <a:off x="2245742" y="7103092"/>
            <a:ext cx="4624835" cy="571500"/>
          </a:xfrm>
          <a:prstGeom prst="rect">
            <a:avLst/>
          </a:prstGeom>
          <a:noFill/>
          <a:ln/>
        </p:spPr>
        <p:txBody>
          <a:bodyPr wrap="square" lIns="25400" tIns="25400" rIns="25400" bIns="25400" rtlCol="0" anchor="t">
            <a:normAutofit/>
          </a:bodyPr>
          <a:lstStyle/>
          <a:p>
            <a:pPr marL="0" indent="0" algn="l">
              <a:buNone/>
            </a:pPr>
            <a:r>
              <a:rPr lang="es-CO" sz="2000" noProof="0" dirty="0">
                <a:solidFill>
                  <a:srgbClr val="3D3D3D"/>
                </a:solidFill>
                <a:latin typeface="Segoe UI" pitchFamily="34" charset="0"/>
                <a:ea typeface="Segoe UI" pitchFamily="34" charset="-122"/>
                <a:cs typeface="Segoe UI" pitchFamily="34" charset="-120"/>
              </a:rPr>
              <a:t>Fase 6 · Síntesis y buenas prácticas</a:t>
            </a:r>
            <a:endParaRPr lang="es-CO" sz="2000" noProof="0" dirty="0"/>
          </a:p>
        </p:txBody>
      </p:sp>
      <p:sp>
        <p:nvSpPr>
          <p:cNvPr id="23" name="Shape 21"/>
          <p:cNvSpPr/>
          <p:nvPr/>
        </p:nvSpPr>
        <p:spPr>
          <a:xfrm>
            <a:off x="12192000" y="2667000"/>
            <a:ext cx="4953000" cy="4953000"/>
          </a:xfrm>
          <a:prstGeom prst="roundRect">
            <a:avLst>
              <a:gd name="adj" fmla="val 7692"/>
            </a:avLst>
          </a:prstGeom>
          <a:solidFill>
            <a:srgbClr val="7E2C8C"/>
          </a:solidFill>
          <a:ln/>
        </p:spPr>
        <p:txBody>
          <a:bodyPr/>
          <a:lstStyle/>
          <a:p>
            <a:endParaRPr lang="es-CO" noProof="0" dirty="0"/>
          </a:p>
        </p:txBody>
      </p:sp>
      <p:sp>
        <p:nvSpPr>
          <p:cNvPr id="24" name="Shape 22"/>
          <p:cNvSpPr/>
          <p:nvPr/>
        </p:nvSpPr>
        <p:spPr>
          <a:xfrm>
            <a:off x="15430500" y="5905500"/>
            <a:ext cx="2476500" cy="2476500"/>
          </a:xfrm>
          <a:prstGeom prst="ellipse">
            <a:avLst/>
          </a:prstGeom>
          <a:solidFill>
            <a:srgbClr val="A867B5"/>
          </a:solidFill>
          <a:ln/>
        </p:spPr>
        <p:txBody>
          <a:bodyPr/>
          <a:lstStyle/>
          <a:p>
            <a:endParaRPr lang="es-CO" noProof="0" dirty="0"/>
          </a:p>
        </p:txBody>
      </p:sp>
      <p:sp>
        <p:nvSpPr>
          <p:cNvPr id="25" name="Shape 23"/>
          <p:cNvSpPr/>
          <p:nvPr/>
        </p:nvSpPr>
        <p:spPr>
          <a:xfrm>
            <a:off x="12573000" y="3048000"/>
            <a:ext cx="1714500" cy="1714500"/>
          </a:xfrm>
          <a:prstGeom prst="roundRect">
            <a:avLst>
              <a:gd name="adj" fmla="val 17778"/>
            </a:avLst>
          </a:prstGeom>
          <a:solidFill>
            <a:srgbClr val="B7D81A"/>
          </a:solidFill>
          <a:ln/>
        </p:spPr>
        <p:txBody>
          <a:bodyPr/>
          <a:lstStyle/>
          <a:p>
            <a:endParaRPr lang="es-CO" noProof="0" dirty="0"/>
          </a:p>
        </p:txBody>
      </p:sp>
      <p:sp>
        <p:nvSpPr>
          <p:cNvPr id="26" name="Text 24"/>
          <p:cNvSpPr/>
          <p:nvPr/>
        </p:nvSpPr>
        <p:spPr>
          <a:xfrm>
            <a:off x="12618720" y="4961586"/>
            <a:ext cx="4316730" cy="1363014"/>
          </a:xfrm>
          <a:prstGeom prst="rect">
            <a:avLst/>
          </a:prstGeom>
          <a:noFill/>
          <a:ln/>
        </p:spPr>
        <p:txBody>
          <a:bodyPr wrap="square" lIns="25400" tIns="25400" rIns="25400" bIns="25400" rtlCol="0" anchor="t">
            <a:normAutofit/>
          </a:bodyPr>
          <a:lstStyle/>
          <a:p>
            <a:pPr marL="0" indent="0" algn="l">
              <a:buNone/>
            </a:pPr>
            <a:r>
              <a:rPr lang="es-CO" sz="1600" noProof="0" dirty="0">
                <a:solidFill>
                  <a:srgbClr val="F4FADF"/>
                </a:solidFill>
                <a:latin typeface="Segoe UI" pitchFamily="34" charset="0"/>
                <a:ea typeface="Segoe UI" pitchFamily="34" charset="-122"/>
                <a:cs typeface="Segoe UI" pitchFamily="34" charset="-120"/>
              </a:rPr>
              <a:t>Cada fase reproduce, paso a paso, el proceso metodológico desarrollado en la investigación, scripts, datos y decisiones.</a:t>
            </a:r>
            <a:endParaRPr lang="es-CO" sz="1600" noProof="0" dirty="0"/>
          </a:p>
        </p:txBody>
      </p:sp>
      <p:sp>
        <p:nvSpPr>
          <p:cNvPr id="27" name="Text 25"/>
          <p:cNvSpPr/>
          <p:nvPr/>
        </p:nvSpPr>
        <p:spPr>
          <a:xfrm>
            <a:off x="1143000" y="9525000"/>
            <a:ext cx="5412720" cy="266700"/>
          </a:xfrm>
          <a:prstGeom prst="rect">
            <a:avLst/>
          </a:prstGeom>
          <a:noFill/>
          <a:ln/>
        </p:spPr>
        <p:txBody>
          <a:bodyPr wrap="square" lIns="25400" tIns="25400" rIns="25400" bIns="25400" rtlCol="0" anchor="t">
            <a:normAutofit/>
          </a:bodyPr>
          <a:lstStyle/>
          <a:p>
            <a:pPr marL="0" indent="0" algn="l">
              <a:buNone/>
            </a:pPr>
            <a:r>
              <a:rPr lang="es-CO" sz="1350" noProof="0" dirty="0">
                <a:solidFill>
                  <a:srgbClr val="6F6F6F"/>
                </a:solidFill>
                <a:latin typeface="Segoe UI" pitchFamily="34" charset="0"/>
                <a:ea typeface="Segoe UI" pitchFamily="34" charset="-122"/>
                <a:cs typeface="Segoe UI" pitchFamily="34" charset="-120"/>
              </a:rPr>
              <a:t>UTS · Cartilla de aprendizaje — Gestión Inteligente de Inventarios</a:t>
            </a:r>
            <a:endParaRPr lang="es-CO" sz="1350" noProof="0" dirty="0"/>
          </a:p>
        </p:txBody>
      </p:sp>
      <p:sp>
        <p:nvSpPr>
          <p:cNvPr id="28" name="Shape 26"/>
          <p:cNvSpPr/>
          <p:nvPr/>
        </p:nvSpPr>
        <p:spPr>
          <a:xfrm>
            <a:off x="16725900" y="9410700"/>
            <a:ext cx="419100" cy="419100"/>
          </a:xfrm>
          <a:prstGeom prst="ellipse">
            <a:avLst/>
          </a:prstGeom>
          <a:solidFill>
            <a:srgbClr val="7E2C8C"/>
          </a:solidFill>
          <a:ln/>
        </p:spPr>
        <p:txBody>
          <a:bodyPr/>
          <a:lstStyle/>
          <a:p>
            <a:endParaRPr lang="es-CO" noProof="0" dirty="0"/>
          </a:p>
        </p:txBody>
      </p:sp>
      <p:sp>
        <p:nvSpPr>
          <p:cNvPr id="29" name="Text 27"/>
          <p:cNvSpPr/>
          <p:nvPr/>
        </p:nvSpPr>
        <p:spPr>
          <a:xfrm>
            <a:off x="16687800" y="9410700"/>
            <a:ext cx="495300" cy="457200"/>
          </a:xfrm>
          <a:prstGeom prst="rect">
            <a:avLst/>
          </a:prstGeom>
          <a:noFill/>
          <a:ln/>
        </p:spPr>
        <p:txBody>
          <a:bodyPr wrap="square" lIns="25400" tIns="25400" rIns="25400" bIns="25400" rtlCol="0" anchor="ctr">
            <a:normAutofit/>
          </a:bodyPr>
          <a:lstStyle/>
          <a:p>
            <a:pPr marL="0" indent="0" algn="ctr">
              <a:buNone/>
            </a:pPr>
            <a:r>
              <a:rPr lang="es-CO" sz="1500" b="1" noProof="0" dirty="0">
                <a:solidFill>
                  <a:srgbClr val="FFFFFF"/>
                </a:solidFill>
                <a:latin typeface="Segoe UI" pitchFamily="34" charset="0"/>
                <a:ea typeface="Segoe UI" pitchFamily="34" charset="-122"/>
                <a:cs typeface="Segoe UI" pitchFamily="34" charset="-120"/>
              </a:rPr>
              <a:t>02</a:t>
            </a:r>
            <a:endParaRPr lang="es-CO" sz="1500" noProof="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43000" y="838200"/>
            <a:ext cx="3081238" cy="419100"/>
          </a:xfrm>
          <a:prstGeom prst="roundRect">
            <a:avLst>
              <a:gd name="adj" fmla="val 50000"/>
            </a:avLst>
          </a:prstGeom>
          <a:solidFill>
            <a:srgbClr val="F4FADF"/>
          </a:solidFill>
          <a:ln/>
        </p:spPr>
        <p:txBody>
          <a:bodyPr/>
          <a:lstStyle/>
          <a:p>
            <a:endParaRPr lang="es-CO" noProof="0" dirty="0"/>
          </a:p>
        </p:txBody>
      </p:sp>
      <p:sp>
        <p:nvSpPr>
          <p:cNvPr id="3" name="Text 1"/>
          <p:cNvSpPr/>
          <p:nvPr/>
        </p:nvSpPr>
        <p:spPr>
          <a:xfrm>
            <a:off x="1352550" y="933450"/>
            <a:ext cx="2754576" cy="266700"/>
          </a:xfrm>
          <a:prstGeom prst="rect">
            <a:avLst/>
          </a:prstGeom>
          <a:noFill/>
          <a:ln/>
        </p:spPr>
        <p:txBody>
          <a:bodyPr wrap="square" lIns="25400" tIns="25400" rIns="25400" bIns="25400" rtlCol="0" anchor="ctr">
            <a:normAutofit/>
          </a:bodyPr>
          <a:lstStyle/>
          <a:p>
            <a:pPr marL="0" indent="0" algn="l">
              <a:buNone/>
            </a:pPr>
            <a:r>
              <a:rPr lang="es-CO" sz="1350" b="1" kern="0" spc="81" noProof="0" dirty="0">
                <a:solidFill>
                  <a:srgbClr val="7E2C8C"/>
                </a:solidFill>
                <a:latin typeface="Segoe UI" pitchFamily="34" charset="0"/>
                <a:ea typeface="Segoe UI" pitchFamily="34" charset="-122"/>
                <a:cs typeface="Segoe UI" pitchFamily="34" charset="-120"/>
              </a:rPr>
              <a:t>INTRODUCCIÓN AL MÓDULO</a:t>
            </a:r>
            <a:endParaRPr lang="es-CO" sz="1350" noProof="0" dirty="0"/>
          </a:p>
        </p:txBody>
      </p:sp>
      <p:sp>
        <p:nvSpPr>
          <p:cNvPr id="4" name="Text 2"/>
          <p:cNvSpPr/>
          <p:nvPr/>
        </p:nvSpPr>
        <p:spPr>
          <a:xfrm>
            <a:off x="1143000" y="1619250"/>
            <a:ext cx="10791825" cy="1358900"/>
          </a:xfrm>
          <a:prstGeom prst="rect">
            <a:avLst/>
          </a:prstGeom>
          <a:noFill/>
          <a:ln/>
        </p:spPr>
        <p:txBody>
          <a:bodyPr wrap="square" lIns="25400" tIns="25400" rIns="25400" bIns="25400" rtlCol="0" anchor="t">
            <a:normAutofit/>
          </a:bodyPr>
          <a:lstStyle/>
          <a:p>
            <a:pPr marL="0" indent="0" algn="l">
              <a:buNone/>
            </a:pPr>
            <a:r>
              <a:rPr lang="es-CO" sz="3900" b="1" noProof="0" dirty="0">
                <a:solidFill>
                  <a:srgbClr val="3D3D3D"/>
                </a:solidFill>
                <a:latin typeface="Segoe UI" pitchFamily="34" charset="0"/>
                <a:ea typeface="Segoe UI" pitchFamily="34" charset="-122"/>
                <a:cs typeface="Segoe UI" pitchFamily="34" charset="-120"/>
              </a:rPr>
              <a:t>Objetivos de aprendizaje y prerrequisitos</a:t>
            </a:r>
            <a:endParaRPr lang="es-CO" sz="3900" noProof="0" dirty="0"/>
          </a:p>
        </p:txBody>
      </p:sp>
      <p:sp>
        <p:nvSpPr>
          <p:cNvPr id="5" name="Text 3"/>
          <p:cNvSpPr/>
          <p:nvPr/>
        </p:nvSpPr>
        <p:spPr>
          <a:xfrm>
            <a:off x="1143000" y="3048000"/>
            <a:ext cx="9614535" cy="2781300"/>
          </a:xfrm>
          <a:prstGeom prst="rect">
            <a:avLst/>
          </a:prstGeom>
          <a:noFill/>
          <a:ln/>
        </p:spPr>
        <p:txBody>
          <a:bodyPr wrap="square" lIns="25400" tIns="25400" rIns="25400" bIns="25400" rtlCol="0" anchor="t">
            <a:normAutofit/>
          </a:bodyPr>
          <a:lstStyle/>
          <a:p>
            <a:pPr marL="0" indent="0" algn="l">
              <a:lnSpc>
                <a:spcPct val="120000"/>
              </a:lnSpc>
              <a:buNone/>
            </a:pPr>
            <a:r>
              <a:rPr lang="es-CO" sz="2250" noProof="0" dirty="0">
                <a:solidFill>
                  <a:srgbClr val="3D3D3D"/>
                </a:solidFill>
                <a:latin typeface="Segoe UI" pitchFamily="34" charset="0"/>
                <a:ea typeface="Segoe UI" pitchFamily="34" charset="-122"/>
                <a:cs typeface="Segoe UI" pitchFamily="34" charset="-120"/>
              </a:rPr>
              <a:t>Al finalizar este módulo, el estudiante reproducirá el proceso metodológico completo del proyecto: simulación, validación, preparación de variables y modelado predictivo de la demanda.</a:t>
            </a:r>
            <a:endParaRPr lang="es-CO" sz="2250" noProof="0" dirty="0"/>
          </a:p>
        </p:txBody>
      </p:sp>
      <p:sp>
        <p:nvSpPr>
          <p:cNvPr id="6" name="Shape 4"/>
          <p:cNvSpPr/>
          <p:nvPr/>
        </p:nvSpPr>
        <p:spPr>
          <a:xfrm>
            <a:off x="12382500" y="3048000"/>
            <a:ext cx="4762500" cy="2994025"/>
          </a:xfrm>
          <a:prstGeom prst="roundRect">
            <a:avLst>
              <a:gd name="adj" fmla="val 10180"/>
            </a:avLst>
          </a:prstGeom>
          <a:solidFill>
            <a:srgbClr val="F4FADF"/>
          </a:solidFill>
          <a:ln/>
        </p:spPr>
        <p:txBody>
          <a:bodyPr/>
          <a:lstStyle/>
          <a:p>
            <a:endParaRPr lang="es-CO" noProof="0" dirty="0"/>
          </a:p>
        </p:txBody>
      </p:sp>
      <p:sp>
        <p:nvSpPr>
          <p:cNvPr id="7" name="Shape 5"/>
          <p:cNvSpPr/>
          <p:nvPr/>
        </p:nvSpPr>
        <p:spPr>
          <a:xfrm>
            <a:off x="12763500" y="3429000"/>
            <a:ext cx="495300" cy="495300"/>
          </a:xfrm>
          <a:prstGeom prst="roundRect">
            <a:avLst>
              <a:gd name="adj" fmla="val 30769"/>
            </a:avLst>
          </a:prstGeom>
          <a:solidFill>
            <a:srgbClr val="B7D81A"/>
          </a:solidFill>
          <a:ln/>
        </p:spPr>
        <p:txBody>
          <a:bodyPr/>
          <a:lstStyle/>
          <a:p>
            <a:endParaRPr lang="es-CO" noProof="0" dirty="0"/>
          </a:p>
        </p:txBody>
      </p:sp>
      <p:sp>
        <p:nvSpPr>
          <p:cNvPr id="8" name="Text 6"/>
          <p:cNvSpPr/>
          <p:nvPr/>
        </p:nvSpPr>
        <p:spPr>
          <a:xfrm>
            <a:off x="12763500" y="4152900"/>
            <a:ext cx="4400550" cy="317500"/>
          </a:xfrm>
          <a:prstGeom prst="rect">
            <a:avLst/>
          </a:prstGeom>
          <a:noFill/>
          <a:ln/>
        </p:spPr>
        <p:txBody>
          <a:bodyPr wrap="square" lIns="25400" tIns="25400" rIns="25400" bIns="25400" rtlCol="0" anchor="t">
            <a:normAutofit/>
          </a:bodyPr>
          <a:lstStyle/>
          <a:p>
            <a:pPr marL="0" indent="0" algn="l">
              <a:buNone/>
            </a:pPr>
            <a:r>
              <a:rPr lang="es-CO" sz="1650" b="1" noProof="0" dirty="0">
                <a:solidFill>
                  <a:srgbClr val="7E2C8C"/>
                </a:solidFill>
                <a:latin typeface="Segoe UI" pitchFamily="34" charset="0"/>
                <a:ea typeface="Segoe UI" pitchFamily="34" charset="-122"/>
                <a:cs typeface="Segoe UI" pitchFamily="34" charset="-120"/>
              </a:rPr>
              <a:t>Prerrequisitos</a:t>
            </a:r>
            <a:endParaRPr lang="es-CO" sz="1650" noProof="0" dirty="0"/>
          </a:p>
        </p:txBody>
      </p:sp>
      <p:sp>
        <p:nvSpPr>
          <p:cNvPr id="9" name="Text 7"/>
          <p:cNvSpPr/>
          <p:nvPr/>
        </p:nvSpPr>
        <p:spPr>
          <a:xfrm>
            <a:off x="12763500" y="4546600"/>
            <a:ext cx="4120515" cy="1152525"/>
          </a:xfrm>
          <a:prstGeom prst="rect">
            <a:avLst/>
          </a:prstGeom>
          <a:noFill/>
          <a:ln/>
        </p:spPr>
        <p:txBody>
          <a:bodyPr wrap="square" lIns="25400" tIns="25400" rIns="25400" bIns="25400" rtlCol="0" anchor="t">
            <a:normAutofit fontScale="92500" lnSpcReduction="20000"/>
          </a:bodyPr>
          <a:lstStyle/>
          <a:p>
            <a:pPr marL="0" indent="0" algn="l">
              <a:lnSpc>
                <a:spcPct val="112500"/>
              </a:lnSpc>
              <a:buNone/>
            </a:pPr>
            <a:r>
              <a:rPr lang="es-CO" sz="1950" noProof="0" dirty="0">
                <a:solidFill>
                  <a:srgbClr val="3D3D3D"/>
                </a:solidFill>
                <a:latin typeface="Segoe UI" pitchFamily="34" charset="0"/>
                <a:ea typeface="Segoe UI" pitchFamily="34" charset="-122"/>
                <a:cs typeface="Segoe UI" pitchFamily="34" charset="-120"/>
              </a:rPr>
              <a:t>R y </a:t>
            </a:r>
            <a:r>
              <a:rPr lang="es-CO" sz="1950" noProof="0" dirty="0" err="1">
                <a:solidFill>
                  <a:srgbClr val="3D3D3D"/>
                </a:solidFill>
                <a:latin typeface="Segoe UI" pitchFamily="34" charset="0"/>
                <a:ea typeface="Segoe UI" pitchFamily="34" charset="-122"/>
                <a:cs typeface="Segoe UI" pitchFamily="34" charset="-120"/>
              </a:rPr>
              <a:t>RStudio</a:t>
            </a:r>
            <a:r>
              <a:rPr lang="es-CO" sz="1950" noProof="0" dirty="0">
                <a:solidFill>
                  <a:srgbClr val="3D3D3D"/>
                </a:solidFill>
                <a:latin typeface="Segoe UI" pitchFamily="34" charset="0"/>
                <a:ea typeface="Segoe UI" pitchFamily="34" charset="-122"/>
                <a:cs typeface="Segoe UI" pitchFamily="34" charset="-120"/>
              </a:rPr>
              <a:t> a nivel básico, estadística descriptiva, y fundamentos de gestión de inventarios (demanda, lead time, punto de reorden).</a:t>
            </a:r>
            <a:endParaRPr lang="es-CO" sz="1950" noProof="0" dirty="0"/>
          </a:p>
        </p:txBody>
      </p:sp>
      <p:sp>
        <p:nvSpPr>
          <p:cNvPr id="10" name="Text 8"/>
          <p:cNvSpPr/>
          <p:nvPr/>
        </p:nvSpPr>
        <p:spPr>
          <a:xfrm>
            <a:off x="1143000" y="9525000"/>
            <a:ext cx="5412720" cy="266700"/>
          </a:xfrm>
          <a:prstGeom prst="rect">
            <a:avLst/>
          </a:prstGeom>
          <a:noFill/>
          <a:ln/>
        </p:spPr>
        <p:txBody>
          <a:bodyPr wrap="square" lIns="25400" tIns="25400" rIns="25400" bIns="25400" rtlCol="0" anchor="t">
            <a:normAutofit/>
          </a:bodyPr>
          <a:lstStyle/>
          <a:p>
            <a:pPr marL="0" indent="0" algn="l">
              <a:buNone/>
            </a:pPr>
            <a:r>
              <a:rPr lang="es-CO" sz="1350" noProof="0" dirty="0">
                <a:solidFill>
                  <a:srgbClr val="6F6F6F"/>
                </a:solidFill>
                <a:latin typeface="Segoe UI" pitchFamily="34" charset="0"/>
                <a:ea typeface="Segoe UI" pitchFamily="34" charset="-122"/>
                <a:cs typeface="Segoe UI" pitchFamily="34" charset="-120"/>
              </a:rPr>
              <a:t>UTS · Cartilla de aprendizaje — Gestión Inteligente de Inventarios</a:t>
            </a:r>
            <a:endParaRPr lang="es-CO" sz="1350" noProof="0" dirty="0"/>
          </a:p>
        </p:txBody>
      </p:sp>
      <p:sp>
        <p:nvSpPr>
          <p:cNvPr id="11" name="Shape 9"/>
          <p:cNvSpPr/>
          <p:nvPr/>
        </p:nvSpPr>
        <p:spPr>
          <a:xfrm>
            <a:off x="16725900" y="9410700"/>
            <a:ext cx="419100" cy="419100"/>
          </a:xfrm>
          <a:prstGeom prst="ellipse">
            <a:avLst/>
          </a:prstGeom>
          <a:solidFill>
            <a:srgbClr val="7E2C8C"/>
          </a:solidFill>
          <a:ln/>
        </p:spPr>
        <p:txBody>
          <a:bodyPr/>
          <a:lstStyle/>
          <a:p>
            <a:endParaRPr lang="es-CO" noProof="0" dirty="0"/>
          </a:p>
        </p:txBody>
      </p:sp>
      <p:sp>
        <p:nvSpPr>
          <p:cNvPr id="12" name="Text 10"/>
          <p:cNvSpPr/>
          <p:nvPr/>
        </p:nvSpPr>
        <p:spPr>
          <a:xfrm>
            <a:off x="16687800" y="9410700"/>
            <a:ext cx="495300" cy="457200"/>
          </a:xfrm>
          <a:prstGeom prst="rect">
            <a:avLst/>
          </a:prstGeom>
          <a:noFill/>
          <a:ln/>
        </p:spPr>
        <p:txBody>
          <a:bodyPr wrap="square" lIns="25400" tIns="25400" rIns="25400" bIns="25400" rtlCol="0" anchor="ctr">
            <a:normAutofit/>
          </a:bodyPr>
          <a:lstStyle/>
          <a:p>
            <a:pPr marL="0" indent="0" algn="ctr">
              <a:buNone/>
            </a:pPr>
            <a:r>
              <a:rPr lang="es-CO" sz="1500" b="1" noProof="0" dirty="0">
                <a:solidFill>
                  <a:srgbClr val="FFFFFF"/>
                </a:solidFill>
                <a:latin typeface="Segoe UI" pitchFamily="34" charset="0"/>
                <a:ea typeface="Segoe UI" pitchFamily="34" charset="-122"/>
                <a:cs typeface="Segoe UI" pitchFamily="34" charset="-120"/>
              </a:rPr>
              <a:t>03</a:t>
            </a:r>
            <a:endParaRPr lang="es-CO" sz="1500" noProof="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1143000" y="1619250"/>
            <a:ext cx="10791825" cy="1358900"/>
          </a:xfrm>
          <a:prstGeom prst="rect">
            <a:avLst/>
          </a:prstGeom>
          <a:noFill/>
          <a:ln/>
        </p:spPr>
        <p:txBody>
          <a:bodyPr wrap="square" lIns="25400" tIns="25400" rIns="25400" bIns="25400" rtlCol="0" anchor="t">
            <a:normAutofit/>
          </a:bodyPr>
          <a:lstStyle/>
          <a:p>
            <a:pPr marL="0" indent="0" algn="l">
              <a:buNone/>
            </a:pPr>
            <a:r>
              <a:rPr lang="es-CO" sz="3900" b="1" noProof="0" dirty="0">
                <a:solidFill>
                  <a:srgbClr val="3D3D3D"/>
                </a:solidFill>
                <a:latin typeface="Segoe UI" pitchFamily="34" charset="0"/>
                <a:ea typeface="Segoe UI" pitchFamily="34" charset="-122"/>
                <a:cs typeface="Segoe UI" pitchFamily="34" charset="-120"/>
              </a:rPr>
              <a:t>¿Qué es la gestión inteligente de inventarios?</a:t>
            </a:r>
            <a:endParaRPr lang="es-CO" sz="3900" noProof="0" dirty="0"/>
          </a:p>
        </p:txBody>
      </p:sp>
      <p:sp>
        <p:nvSpPr>
          <p:cNvPr id="5" name="Text 3"/>
          <p:cNvSpPr/>
          <p:nvPr/>
        </p:nvSpPr>
        <p:spPr>
          <a:xfrm>
            <a:off x="1143000" y="3047999"/>
            <a:ext cx="9614535" cy="4260851"/>
          </a:xfrm>
          <a:prstGeom prst="rect">
            <a:avLst/>
          </a:prstGeom>
          <a:noFill/>
          <a:ln/>
        </p:spPr>
        <p:txBody>
          <a:bodyPr wrap="square" lIns="25400" tIns="25400" rIns="25400" bIns="25400" rtlCol="0" anchor="t">
            <a:normAutofit/>
          </a:bodyPr>
          <a:lstStyle/>
          <a:p>
            <a:pPr marL="0" indent="0" algn="l">
              <a:lnSpc>
                <a:spcPct val="120000"/>
              </a:lnSpc>
              <a:buNone/>
            </a:pPr>
            <a:r>
              <a:rPr lang="es-CO" sz="2250" noProof="0" dirty="0">
                <a:solidFill>
                  <a:srgbClr val="3D3D3D"/>
                </a:solidFill>
                <a:latin typeface="Segoe UI" pitchFamily="34" charset="0"/>
                <a:ea typeface="Segoe UI" pitchFamily="34" charset="-122"/>
                <a:cs typeface="Segoe UI" pitchFamily="34" charset="-120"/>
              </a:rPr>
              <a:t>Es el uso de datos históricos y simulados de demanda, lead time, costos y niveles de stock junto con modelos estadísticos para anticipar necesidades de reabastecimiento y reducir tanto el sobre stock como el desabastecimiento. </a:t>
            </a:r>
          </a:p>
          <a:p>
            <a:pPr marL="0" indent="0" algn="l">
              <a:lnSpc>
                <a:spcPct val="120000"/>
              </a:lnSpc>
              <a:buNone/>
            </a:pPr>
            <a:endParaRPr lang="es-CO" sz="2250" noProof="0" dirty="0">
              <a:solidFill>
                <a:srgbClr val="3D3D3D"/>
              </a:solidFill>
              <a:latin typeface="Segoe UI" pitchFamily="34" charset="0"/>
              <a:ea typeface="Segoe UI" pitchFamily="34" charset="-122"/>
              <a:cs typeface="Segoe UI" pitchFamily="34" charset="-120"/>
            </a:endParaRPr>
          </a:p>
          <a:p>
            <a:pPr marL="0" indent="0" algn="l">
              <a:lnSpc>
                <a:spcPct val="120000"/>
              </a:lnSpc>
              <a:buNone/>
            </a:pPr>
            <a:r>
              <a:rPr lang="es-CO" sz="2250" noProof="0" dirty="0">
                <a:solidFill>
                  <a:srgbClr val="3D3D3D"/>
                </a:solidFill>
                <a:latin typeface="Segoe UI" pitchFamily="34" charset="0"/>
                <a:ea typeface="Segoe UI" pitchFamily="34" charset="-122"/>
                <a:cs typeface="Segoe UI" pitchFamily="34" charset="-120"/>
              </a:rPr>
              <a:t>En esta cartilla, el catálogo maestro de productos y sus variables asociadas se usan como caso guía para practicar limpieza de datos, modelado predictivo y visualización en </a:t>
            </a:r>
            <a:r>
              <a:rPr lang="es-CO" sz="2250" noProof="0" dirty="0" err="1">
                <a:solidFill>
                  <a:srgbClr val="3D3D3D"/>
                </a:solidFill>
                <a:latin typeface="Segoe UI" pitchFamily="34" charset="0"/>
                <a:ea typeface="Segoe UI" pitchFamily="34" charset="-122"/>
                <a:cs typeface="Segoe UI" pitchFamily="34" charset="-120"/>
              </a:rPr>
              <a:t>RStudio</a:t>
            </a:r>
            <a:r>
              <a:rPr lang="es-CO" sz="2250" noProof="0" dirty="0">
                <a:solidFill>
                  <a:srgbClr val="3D3D3D"/>
                </a:solidFill>
                <a:latin typeface="Segoe UI" pitchFamily="34" charset="0"/>
                <a:ea typeface="Segoe UI" pitchFamily="34" charset="-122"/>
                <a:cs typeface="Segoe UI" pitchFamily="34" charset="-120"/>
              </a:rPr>
              <a:t>.</a:t>
            </a:r>
            <a:endParaRPr lang="es-CO" sz="2250" noProof="0" dirty="0"/>
          </a:p>
        </p:txBody>
      </p:sp>
      <p:sp>
        <p:nvSpPr>
          <p:cNvPr id="6" name="Shape 4"/>
          <p:cNvSpPr/>
          <p:nvPr/>
        </p:nvSpPr>
        <p:spPr>
          <a:xfrm>
            <a:off x="12382500" y="3048000"/>
            <a:ext cx="4762500" cy="2994025"/>
          </a:xfrm>
          <a:prstGeom prst="roundRect">
            <a:avLst>
              <a:gd name="adj" fmla="val 10180"/>
            </a:avLst>
          </a:prstGeom>
          <a:solidFill>
            <a:srgbClr val="F4FADF"/>
          </a:solidFill>
          <a:ln/>
        </p:spPr>
        <p:txBody>
          <a:bodyPr/>
          <a:lstStyle/>
          <a:p>
            <a:endParaRPr lang="es-CO" noProof="0" dirty="0"/>
          </a:p>
        </p:txBody>
      </p:sp>
      <p:sp>
        <p:nvSpPr>
          <p:cNvPr id="7" name="Shape 5"/>
          <p:cNvSpPr/>
          <p:nvPr/>
        </p:nvSpPr>
        <p:spPr>
          <a:xfrm>
            <a:off x="12763500" y="3429000"/>
            <a:ext cx="495300" cy="495300"/>
          </a:xfrm>
          <a:prstGeom prst="roundRect">
            <a:avLst>
              <a:gd name="adj" fmla="val 30769"/>
            </a:avLst>
          </a:prstGeom>
          <a:solidFill>
            <a:srgbClr val="B7D81A"/>
          </a:solidFill>
          <a:ln/>
        </p:spPr>
        <p:txBody>
          <a:bodyPr/>
          <a:lstStyle/>
          <a:p>
            <a:endParaRPr lang="es-CO" noProof="0" dirty="0"/>
          </a:p>
        </p:txBody>
      </p:sp>
      <p:sp>
        <p:nvSpPr>
          <p:cNvPr id="8" name="Text 6"/>
          <p:cNvSpPr/>
          <p:nvPr/>
        </p:nvSpPr>
        <p:spPr>
          <a:xfrm>
            <a:off x="12763500" y="4152900"/>
            <a:ext cx="4400550" cy="317500"/>
          </a:xfrm>
          <a:prstGeom prst="rect">
            <a:avLst/>
          </a:prstGeom>
          <a:noFill/>
          <a:ln/>
        </p:spPr>
        <p:txBody>
          <a:bodyPr wrap="square" lIns="25400" tIns="25400" rIns="25400" bIns="25400" rtlCol="0" anchor="t">
            <a:normAutofit/>
          </a:bodyPr>
          <a:lstStyle/>
          <a:p>
            <a:pPr marL="0" indent="0" algn="l">
              <a:buNone/>
            </a:pPr>
            <a:r>
              <a:rPr lang="es-CO" sz="1650" b="1" noProof="0" dirty="0">
                <a:solidFill>
                  <a:srgbClr val="7E2C8C"/>
                </a:solidFill>
                <a:latin typeface="Segoe UI" pitchFamily="34" charset="0"/>
                <a:ea typeface="Segoe UI" pitchFamily="34" charset="-122"/>
                <a:cs typeface="Segoe UI" pitchFamily="34" charset="-120"/>
              </a:rPr>
              <a:t>Término clave</a:t>
            </a:r>
            <a:endParaRPr lang="es-CO" sz="1650" noProof="0" dirty="0"/>
          </a:p>
        </p:txBody>
      </p:sp>
      <p:sp>
        <p:nvSpPr>
          <p:cNvPr id="9" name="Text 7"/>
          <p:cNvSpPr/>
          <p:nvPr/>
        </p:nvSpPr>
        <p:spPr>
          <a:xfrm>
            <a:off x="12763500" y="4546600"/>
            <a:ext cx="4120515" cy="1152525"/>
          </a:xfrm>
          <a:prstGeom prst="rect">
            <a:avLst/>
          </a:prstGeom>
          <a:noFill/>
          <a:ln/>
        </p:spPr>
        <p:txBody>
          <a:bodyPr wrap="square" lIns="25400" tIns="25400" rIns="25400" bIns="25400" rtlCol="0" anchor="t">
            <a:normAutofit/>
          </a:bodyPr>
          <a:lstStyle/>
          <a:p>
            <a:pPr marL="0" indent="0" algn="l">
              <a:lnSpc>
                <a:spcPct val="112500"/>
              </a:lnSpc>
              <a:buNone/>
            </a:pPr>
            <a:r>
              <a:rPr lang="es-CO" sz="1950" noProof="0" dirty="0">
                <a:solidFill>
                  <a:srgbClr val="3D3D3D"/>
                </a:solidFill>
                <a:latin typeface="Segoe UI" pitchFamily="34" charset="0"/>
                <a:ea typeface="Segoe UI" pitchFamily="34" charset="-122"/>
                <a:cs typeface="Segoe UI" pitchFamily="34" charset="-120"/>
              </a:rPr>
              <a:t>Punto de reorden: nivel de stock que dispara una nueva orden de compra antes de agotar existencias.</a:t>
            </a:r>
            <a:endParaRPr lang="es-CO" sz="1950" noProof="0" dirty="0"/>
          </a:p>
        </p:txBody>
      </p:sp>
      <p:sp>
        <p:nvSpPr>
          <p:cNvPr id="10" name="Text 8"/>
          <p:cNvSpPr/>
          <p:nvPr/>
        </p:nvSpPr>
        <p:spPr>
          <a:xfrm>
            <a:off x="1143000" y="9525000"/>
            <a:ext cx="5412720" cy="266700"/>
          </a:xfrm>
          <a:prstGeom prst="rect">
            <a:avLst/>
          </a:prstGeom>
          <a:noFill/>
          <a:ln/>
        </p:spPr>
        <p:txBody>
          <a:bodyPr wrap="square" lIns="25400" tIns="25400" rIns="25400" bIns="25400" rtlCol="0" anchor="t">
            <a:normAutofit/>
          </a:bodyPr>
          <a:lstStyle/>
          <a:p>
            <a:pPr marL="0" indent="0" algn="l">
              <a:buNone/>
            </a:pPr>
            <a:r>
              <a:rPr lang="es-CO" sz="1350" noProof="0" dirty="0">
                <a:solidFill>
                  <a:srgbClr val="6F6F6F"/>
                </a:solidFill>
                <a:latin typeface="Segoe UI" pitchFamily="34" charset="0"/>
                <a:ea typeface="Segoe UI" pitchFamily="34" charset="-122"/>
                <a:cs typeface="Segoe UI" pitchFamily="34" charset="-120"/>
              </a:rPr>
              <a:t>UTS · Cartilla de aprendizaje — Gestión Inteligente de Inventarios</a:t>
            </a:r>
            <a:endParaRPr lang="es-CO" sz="1350" noProof="0" dirty="0"/>
          </a:p>
        </p:txBody>
      </p:sp>
      <p:sp>
        <p:nvSpPr>
          <p:cNvPr id="11" name="Shape 9"/>
          <p:cNvSpPr/>
          <p:nvPr/>
        </p:nvSpPr>
        <p:spPr>
          <a:xfrm>
            <a:off x="16725900" y="9410700"/>
            <a:ext cx="419100" cy="419100"/>
          </a:xfrm>
          <a:prstGeom prst="ellipse">
            <a:avLst/>
          </a:prstGeom>
          <a:solidFill>
            <a:srgbClr val="7E2C8C"/>
          </a:solidFill>
          <a:ln/>
        </p:spPr>
        <p:txBody>
          <a:bodyPr/>
          <a:lstStyle/>
          <a:p>
            <a:endParaRPr lang="es-CO" noProof="0" dirty="0"/>
          </a:p>
        </p:txBody>
      </p:sp>
      <p:sp>
        <p:nvSpPr>
          <p:cNvPr id="12" name="Text 10"/>
          <p:cNvSpPr/>
          <p:nvPr/>
        </p:nvSpPr>
        <p:spPr>
          <a:xfrm>
            <a:off x="16687800" y="9410700"/>
            <a:ext cx="495300" cy="457200"/>
          </a:xfrm>
          <a:prstGeom prst="rect">
            <a:avLst/>
          </a:prstGeom>
          <a:noFill/>
          <a:ln/>
        </p:spPr>
        <p:txBody>
          <a:bodyPr wrap="square" lIns="25400" tIns="25400" rIns="25400" bIns="25400" rtlCol="0" anchor="ctr">
            <a:normAutofit/>
          </a:bodyPr>
          <a:lstStyle/>
          <a:p>
            <a:pPr marL="0" indent="0" algn="ctr">
              <a:buNone/>
            </a:pPr>
            <a:r>
              <a:rPr lang="es-CO" sz="1500" b="1" noProof="0" dirty="0">
                <a:solidFill>
                  <a:srgbClr val="FFFFFF"/>
                </a:solidFill>
                <a:latin typeface="Segoe UI" pitchFamily="34" charset="0"/>
                <a:ea typeface="Segoe UI" pitchFamily="34" charset="-122"/>
                <a:cs typeface="Segoe UI" pitchFamily="34" charset="-120"/>
              </a:rPr>
              <a:t>04</a:t>
            </a:r>
            <a:endParaRPr lang="es-CO" sz="1500" noProof="0" dirty="0"/>
          </a:p>
        </p:txBody>
      </p:sp>
      <p:sp>
        <p:nvSpPr>
          <p:cNvPr id="14" name="Shape 0">
            <a:extLst>
              <a:ext uri="{FF2B5EF4-FFF2-40B4-BE49-F238E27FC236}">
                <a16:creationId xmlns:a16="http://schemas.microsoft.com/office/drawing/2014/main" id="{31AC429F-5BF4-257B-8407-59F2D0AEC872}"/>
              </a:ext>
            </a:extLst>
          </p:cNvPr>
          <p:cNvSpPr/>
          <p:nvPr/>
        </p:nvSpPr>
        <p:spPr>
          <a:xfrm>
            <a:off x="1143000" y="641261"/>
            <a:ext cx="3081238" cy="419100"/>
          </a:xfrm>
          <a:prstGeom prst="roundRect">
            <a:avLst>
              <a:gd name="adj" fmla="val 50000"/>
            </a:avLst>
          </a:prstGeom>
          <a:solidFill>
            <a:srgbClr val="F4FADF"/>
          </a:solidFill>
          <a:ln/>
        </p:spPr>
        <p:txBody>
          <a:bodyPr/>
          <a:lstStyle/>
          <a:p>
            <a:endParaRPr lang="es-CO" noProof="0" dirty="0"/>
          </a:p>
        </p:txBody>
      </p:sp>
      <p:sp>
        <p:nvSpPr>
          <p:cNvPr id="16" name="Text 1">
            <a:extLst>
              <a:ext uri="{FF2B5EF4-FFF2-40B4-BE49-F238E27FC236}">
                <a16:creationId xmlns:a16="http://schemas.microsoft.com/office/drawing/2014/main" id="{4A496014-C5EC-4798-8059-7F94175CB8FF}"/>
              </a:ext>
            </a:extLst>
          </p:cNvPr>
          <p:cNvSpPr/>
          <p:nvPr/>
        </p:nvSpPr>
        <p:spPr>
          <a:xfrm>
            <a:off x="1295400" y="717461"/>
            <a:ext cx="2754576" cy="266700"/>
          </a:xfrm>
          <a:prstGeom prst="rect">
            <a:avLst/>
          </a:prstGeom>
          <a:noFill/>
          <a:ln/>
        </p:spPr>
        <p:txBody>
          <a:bodyPr wrap="square" lIns="25400" tIns="25400" rIns="25400" bIns="25400" rtlCol="0" anchor="ctr">
            <a:normAutofit/>
          </a:bodyPr>
          <a:lstStyle/>
          <a:p>
            <a:pPr marL="0" indent="0" algn="l">
              <a:buNone/>
            </a:pPr>
            <a:r>
              <a:rPr lang="es-CO" sz="1350" b="1" kern="0" spc="81" noProof="0" dirty="0">
                <a:solidFill>
                  <a:srgbClr val="7E2C8C"/>
                </a:solidFill>
                <a:latin typeface="Segoe UI" pitchFamily="34" charset="0"/>
                <a:ea typeface="Segoe UI" pitchFamily="34" charset="-122"/>
                <a:cs typeface="Segoe UI" pitchFamily="34" charset="-120"/>
              </a:rPr>
              <a:t>INTRODUCCIÓN AL MÓDULO</a:t>
            </a:r>
            <a:endParaRPr lang="es-CO" sz="1350" noProof="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Shape 1">
            <a:extLst>
              <a:ext uri="{FF2B5EF4-FFF2-40B4-BE49-F238E27FC236}">
                <a16:creationId xmlns:a16="http://schemas.microsoft.com/office/drawing/2014/main" id="{52FC5037-A3E3-CEA8-97EE-963BE3F2B6D8}"/>
              </a:ext>
            </a:extLst>
          </p:cNvPr>
          <p:cNvSpPr/>
          <p:nvPr/>
        </p:nvSpPr>
        <p:spPr>
          <a:xfrm rot="1080000">
            <a:off x="-2612147" y="8000998"/>
            <a:ext cx="4572002" cy="4572002"/>
          </a:xfrm>
          <a:prstGeom prst="roundRect">
            <a:avLst>
              <a:gd name="adj" fmla="val 13333"/>
            </a:avLst>
          </a:prstGeom>
          <a:solidFill>
            <a:srgbClr val="7030A0"/>
          </a:solidFill>
          <a:ln/>
        </p:spPr>
        <p:style>
          <a:lnRef idx="2">
            <a:schemeClr val="accent5"/>
          </a:lnRef>
          <a:fillRef idx="1">
            <a:schemeClr val="lt1"/>
          </a:fillRef>
          <a:effectRef idx="0">
            <a:schemeClr val="accent5"/>
          </a:effectRef>
          <a:fontRef idx="minor">
            <a:schemeClr val="dk1"/>
          </a:fontRef>
        </p:style>
        <p:txBody>
          <a:bodyPr/>
          <a:lstStyle/>
          <a:p>
            <a:endParaRPr lang="es-CO" noProof="0" dirty="0">
              <a:ln>
                <a:solidFill>
                  <a:srgbClr val="FFFF00"/>
                </a:solidFill>
              </a:ln>
              <a:solidFill>
                <a:srgbClr val="7030A0"/>
              </a:solidFill>
            </a:endParaRPr>
          </a:p>
        </p:txBody>
      </p:sp>
      <p:sp>
        <p:nvSpPr>
          <p:cNvPr id="4" name="Text 2"/>
          <p:cNvSpPr/>
          <p:nvPr/>
        </p:nvSpPr>
        <p:spPr>
          <a:xfrm>
            <a:off x="1143000" y="1840314"/>
            <a:ext cx="13620750" cy="698500"/>
          </a:xfrm>
          <a:prstGeom prst="rect">
            <a:avLst/>
          </a:prstGeom>
          <a:noFill/>
          <a:ln/>
        </p:spPr>
        <p:txBody>
          <a:bodyPr wrap="square" lIns="25400" tIns="25400" rIns="25400" bIns="25400" rtlCol="0" anchor="t">
            <a:normAutofit/>
          </a:bodyPr>
          <a:lstStyle/>
          <a:p>
            <a:pPr marL="0" indent="0" algn="l">
              <a:buNone/>
            </a:pPr>
            <a:r>
              <a:rPr lang="es-CO" sz="3900" b="1" noProof="0" dirty="0">
                <a:solidFill>
                  <a:srgbClr val="3D3D3D"/>
                </a:solidFill>
                <a:latin typeface="Segoe UI" pitchFamily="34" charset="0"/>
                <a:ea typeface="Segoe UI" pitchFamily="34" charset="-122"/>
                <a:cs typeface="Segoe UI" pitchFamily="34" charset="-120"/>
              </a:rPr>
              <a:t>Flujo de trabajo</a:t>
            </a:r>
            <a:endParaRPr lang="es-CO" sz="3900" noProof="0" dirty="0"/>
          </a:p>
        </p:txBody>
      </p:sp>
      <p:sp>
        <p:nvSpPr>
          <p:cNvPr id="5" name="Shape 3"/>
          <p:cNvSpPr/>
          <p:nvPr/>
        </p:nvSpPr>
        <p:spPr>
          <a:xfrm>
            <a:off x="3851159" y="3961864"/>
            <a:ext cx="914400" cy="914400"/>
          </a:xfrm>
          <a:prstGeom prst="roundRect">
            <a:avLst>
              <a:gd name="adj" fmla="val 29167"/>
            </a:avLst>
          </a:prstGeom>
          <a:solidFill>
            <a:srgbClr val="B7D81A"/>
          </a:solidFill>
          <a:ln/>
        </p:spPr>
        <p:txBody>
          <a:bodyPr/>
          <a:lstStyle/>
          <a:p>
            <a:endParaRPr lang="es-CO" noProof="0" dirty="0"/>
          </a:p>
        </p:txBody>
      </p:sp>
      <p:sp>
        <p:nvSpPr>
          <p:cNvPr id="6" name="Text 4"/>
          <p:cNvSpPr/>
          <p:nvPr/>
        </p:nvSpPr>
        <p:spPr>
          <a:xfrm>
            <a:off x="3813059" y="3961864"/>
            <a:ext cx="990600" cy="952500"/>
          </a:xfrm>
          <a:prstGeom prst="rect">
            <a:avLst/>
          </a:prstGeom>
          <a:noFill/>
          <a:ln/>
        </p:spPr>
        <p:txBody>
          <a:bodyPr wrap="square" lIns="25400" tIns="25400" rIns="25400" bIns="25400" rtlCol="0" anchor="ctr">
            <a:normAutofit/>
          </a:bodyPr>
          <a:lstStyle/>
          <a:p>
            <a:pPr marL="0" indent="0" algn="ctr">
              <a:buNone/>
            </a:pPr>
            <a:r>
              <a:rPr lang="es-CO" sz="2700" b="1" noProof="0" dirty="0">
                <a:solidFill>
                  <a:srgbClr val="3D3D3D"/>
                </a:solidFill>
                <a:latin typeface="Segoe UI" pitchFamily="34" charset="0"/>
                <a:cs typeface="Segoe UI" pitchFamily="34" charset="-120"/>
              </a:rPr>
              <a:t>2</a:t>
            </a:r>
            <a:endParaRPr lang="es-CO" sz="2700" noProof="0" dirty="0"/>
          </a:p>
        </p:txBody>
      </p:sp>
      <p:sp>
        <p:nvSpPr>
          <p:cNvPr id="7" name="Text 5"/>
          <p:cNvSpPr/>
          <p:nvPr/>
        </p:nvSpPr>
        <p:spPr>
          <a:xfrm>
            <a:off x="3069776" y="5047873"/>
            <a:ext cx="2477165" cy="342900"/>
          </a:xfrm>
          <a:prstGeom prst="rect">
            <a:avLst/>
          </a:prstGeom>
          <a:noFill/>
          <a:ln/>
        </p:spPr>
        <p:txBody>
          <a:bodyPr wrap="square" lIns="25400" tIns="25400" rIns="25400" bIns="25400" rtlCol="0" anchor="t">
            <a:normAutofit/>
          </a:bodyPr>
          <a:lstStyle/>
          <a:p>
            <a:pPr marL="0" indent="0" algn="ctr">
              <a:buNone/>
            </a:pPr>
            <a:r>
              <a:rPr lang="es-CO" sz="1800" b="1" noProof="0" dirty="0">
                <a:solidFill>
                  <a:srgbClr val="3D3D3D"/>
                </a:solidFill>
                <a:latin typeface="Segoe UI" pitchFamily="34" charset="0"/>
                <a:ea typeface="Segoe UI" pitchFamily="34" charset="-122"/>
                <a:cs typeface="Segoe UI" pitchFamily="34" charset="-120"/>
              </a:rPr>
              <a:t>Simulación de datos</a:t>
            </a:r>
            <a:endParaRPr lang="es-CO" sz="1800" noProof="0" dirty="0"/>
          </a:p>
        </p:txBody>
      </p:sp>
      <p:sp>
        <p:nvSpPr>
          <p:cNvPr id="8" name="Text 6"/>
          <p:cNvSpPr/>
          <p:nvPr/>
        </p:nvSpPr>
        <p:spPr>
          <a:xfrm>
            <a:off x="3069727" y="5800666"/>
            <a:ext cx="2477164" cy="342900"/>
          </a:xfrm>
          <a:prstGeom prst="rect">
            <a:avLst/>
          </a:prstGeom>
          <a:noFill/>
          <a:ln/>
        </p:spPr>
        <p:txBody>
          <a:bodyPr wrap="square" lIns="25400" tIns="25400" rIns="25400" bIns="25400" rtlCol="0" anchor="t">
            <a:normAutofit/>
          </a:bodyPr>
          <a:lstStyle/>
          <a:p>
            <a:pPr marL="0" indent="0" algn="ctr">
              <a:buNone/>
            </a:pPr>
            <a:r>
              <a:rPr lang="es-CO" sz="1425" noProof="0" dirty="0">
                <a:solidFill>
                  <a:srgbClr val="6F6F6F"/>
                </a:solidFill>
                <a:latin typeface="Segoe UI" pitchFamily="34" charset="0"/>
                <a:ea typeface="Segoe UI" pitchFamily="34" charset="-122"/>
                <a:cs typeface="Segoe UI" pitchFamily="34" charset="-120"/>
              </a:rPr>
              <a:t>Carga del </a:t>
            </a:r>
            <a:r>
              <a:rPr lang="es-CO" sz="1425" noProof="0" dirty="0" err="1">
                <a:solidFill>
                  <a:srgbClr val="6F6F6F"/>
                </a:solidFill>
                <a:latin typeface="Segoe UI" pitchFamily="34" charset="0"/>
                <a:ea typeface="Segoe UI" pitchFamily="34" charset="-122"/>
                <a:cs typeface="Segoe UI" pitchFamily="34" charset="-120"/>
              </a:rPr>
              <a:t>dataset</a:t>
            </a:r>
            <a:r>
              <a:rPr lang="es-CO" sz="1425" noProof="0" dirty="0">
                <a:solidFill>
                  <a:srgbClr val="6F6F6F"/>
                </a:solidFill>
                <a:latin typeface="Segoe UI" pitchFamily="34" charset="0"/>
                <a:ea typeface="Segoe UI" pitchFamily="34" charset="-122"/>
                <a:cs typeface="Segoe UI" pitchFamily="34" charset="-120"/>
              </a:rPr>
              <a:t> simulado</a:t>
            </a:r>
            <a:endParaRPr lang="es-CO" sz="1425" noProof="0" dirty="0"/>
          </a:p>
        </p:txBody>
      </p:sp>
      <p:sp>
        <p:nvSpPr>
          <p:cNvPr id="9" name="Shape 7"/>
          <p:cNvSpPr/>
          <p:nvPr/>
        </p:nvSpPr>
        <p:spPr>
          <a:xfrm>
            <a:off x="5681348" y="4380964"/>
            <a:ext cx="568127" cy="57150"/>
          </a:xfrm>
          <a:prstGeom prst="rect">
            <a:avLst/>
          </a:prstGeom>
          <a:solidFill>
            <a:srgbClr val="E9E9E9"/>
          </a:solidFill>
          <a:ln/>
        </p:spPr>
        <p:txBody>
          <a:bodyPr/>
          <a:lstStyle/>
          <a:p>
            <a:endParaRPr lang="es-CO" noProof="0" dirty="0"/>
          </a:p>
        </p:txBody>
      </p:sp>
      <p:sp>
        <p:nvSpPr>
          <p:cNvPr id="10" name="Shape 8"/>
          <p:cNvSpPr/>
          <p:nvPr/>
        </p:nvSpPr>
        <p:spPr>
          <a:xfrm>
            <a:off x="7001325" y="3942973"/>
            <a:ext cx="914400" cy="914400"/>
          </a:xfrm>
          <a:prstGeom prst="roundRect">
            <a:avLst>
              <a:gd name="adj" fmla="val 29167"/>
            </a:avLst>
          </a:prstGeom>
          <a:solidFill>
            <a:srgbClr val="7E2C8C"/>
          </a:solidFill>
          <a:ln/>
        </p:spPr>
        <p:txBody>
          <a:bodyPr/>
          <a:lstStyle/>
          <a:p>
            <a:endParaRPr lang="es-CO" noProof="0" dirty="0"/>
          </a:p>
        </p:txBody>
      </p:sp>
      <p:sp>
        <p:nvSpPr>
          <p:cNvPr id="11" name="Text 9"/>
          <p:cNvSpPr/>
          <p:nvPr/>
        </p:nvSpPr>
        <p:spPr>
          <a:xfrm>
            <a:off x="6963225" y="3942973"/>
            <a:ext cx="990600" cy="952500"/>
          </a:xfrm>
          <a:prstGeom prst="rect">
            <a:avLst/>
          </a:prstGeom>
          <a:noFill/>
          <a:ln/>
        </p:spPr>
        <p:txBody>
          <a:bodyPr wrap="square" lIns="25400" tIns="25400" rIns="25400" bIns="25400" rtlCol="0" anchor="ctr">
            <a:normAutofit/>
          </a:bodyPr>
          <a:lstStyle/>
          <a:p>
            <a:pPr marL="0" indent="0" algn="ctr">
              <a:buNone/>
            </a:pPr>
            <a:r>
              <a:rPr lang="es-CO" sz="2700" b="1" noProof="0" dirty="0">
                <a:solidFill>
                  <a:srgbClr val="FFFFFF"/>
                </a:solidFill>
                <a:latin typeface="Segoe UI" pitchFamily="34" charset="0"/>
                <a:cs typeface="Segoe UI" pitchFamily="34" charset="-120"/>
              </a:rPr>
              <a:t>3</a:t>
            </a:r>
            <a:endParaRPr lang="es-CO" sz="2700" noProof="0" dirty="0"/>
          </a:p>
        </p:txBody>
      </p:sp>
      <p:sp>
        <p:nvSpPr>
          <p:cNvPr id="12" name="Text 10"/>
          <p:cNvSpPr/>
          <p:nvPr/>
        </p:nvSpPr>
        <p:spPr>
          <a:xfrm>
            <a:off x="6090119" y="5047873"/>
            <a:ext cx="2736810" cy="342900"/>
          </a:xfrm>
          <a:prstGeom prst="rect">
            <a:avLst/>
          </a:prstGeom>
          <a:noFill/>
          <a:ln/>
        </p:spPr>
        <p:txBody>
          <a:bodyPr wrap="square" lIns="25400" tIns="25400" rIns="25400" bIns="25400" rtlCol="0" anchor="t">
            <a:normAutofit/>
          </a:bodyPr>
          <a:lstStyle/>
          <a:p>
            <a:pPr marL="0" indent="0" algn="ctr">
              <a:buNone/>
            </a:pPr>
            <a:r>
              <a:rPr lang="es-CO" sz="1800" b="1" noProof="0" dirty="0">
                <a:solidFill>
                  <a:srgbClr val="3D3D3D"/>
                </a:solidFill>
                <a:latin typeface="Segoe UI" pitchFamily="34" charset="0"/>
                <a:ea typeface="Segoe UI" pitchFamily="34" charset="-122"/>
                <a:cs typeface="Segoe UI" pitchFamily="34" charset="-120"/>
              </a:rPr>
              <a:t>Limpieza y preparación</a:t>
            </a:r>
            <a:endParaRPr lang="es-CO" sz="1800" noProof="0" dirty="0"/>
          </a:p>
        </p:txBody>
      </p:sp>
      <p:sp>
        <p:nvSpPr>
          <p:cNvPr id="13" name="Text 11"/>
          <p:cNvSpPr/>
          <p:nvPr/>
        </p:nvSpPr>
        <p:spPr>
          <a:xfrm>
            <a:off x="6355336" y="5774943"/>
            <a:ext cx="2388870" cy="605999"/>
          </a:xfrm>
          <a:prstGeom prst="rect">
            <a:avLst/>
          </a:prstGeom>
          <a:noFill/>
          <a:ln/>
        </p:spPr>
        <p:txBody>
          <a:bodyPr wrap="square" lIns="25400" tIns="25400" rIns="25400" bIns="25400" rtlCol="0" anchor="t">
            <a:normAutofit/>
          </a:bodyPr>
          <a:lstStyle/>
          <a:p>
            <a:pPr marL="0" indent="0" algn="ctr">
              <a:buNone/>
            </a:pPr>
            <a:r>
              <a:rPr lang="es-CO" sz="1425" noProof="0" dirty="0">
                <a:solidFill>
                  <a:srgbClr val="6F6F6F"/>
                </a:solidFill>
                <a:latin typeface="Segoe UI" pitchFamily="34" charset="0"/>
                <a:ea typeface="Segoe UI" pitchFamily="34" charset="-122"/>
                <a:cs typeface="Segoe UI" pitchFamily="34" charset="-120"/>
              </a:rPr>
              <a:t>Rezagos, media histórica y estacionalidad</a:t>
            </a:r>
            <a:endParaRPr lang="es-CO" sz="1425" noProof="0" dirty="0"/>
          </a:p>
        </p:txBody>
      </p:sp>
      <p:sp>
        <p:nvSpPr>
          <p:cNvPr id="14" name="Shape 12"/>
          <p:cNvSpPr/>
          <p:nvPr/>
        </p:nvSpPr>
        <p:spPr>
          <a:xfrm>
            <a:off x="8831514" y="4362073"/>
            <a:ext cx="568127" cy="57150"/>
          </a:xfrm>
          <a:prstGeom prst="rect">
            <a:avLst/>
          </a:prstGeom>
          <a:solidFill>
            <a:srgbClr val="E9E9E9"/>
          </a:solidFill>
          <a:ln/>
        </p:spPr>
        <p:txBody>
          <a:bodyPr/>
          <a:lstStyle/>
          <a:p>
            <a:endParaRPr lang="es-CO" noProof="0" dirty="0"/>
          </a:p>
        </p:txBody>
      </p:sp>
      <p:sp>
        <p:nvSpPr>
          <p:cNvPr id="15" name="Shape 13"/>
          <p:cNvSpPr/>
          <p:nvPr/>
        </p:nvSpPr>
        <p:spPr>
          <a:xfrm>
            <a:off x="10472190" y="3942973"/>
            <a:ext cx="914400" cy="914400"/>
          </a:xfrm>
          <a:prstGeom prst="roundRect">
            <a:avLst>
              <a:gd name="adj" fmla="val 29167"/>
            </a:avLst>
          </a:prstGeom>
          <a:solidFill>
            <a:srgbClr val="A867B5"/>
          </a:solidFill>
          <a:ln/>
        </p:spPr>
        <p:txBody>
          <a:bodyPr/>
          <a:lstStyle/>
          <a:p>
            <a:endParaRPr lang="es-CO" noProof="0" dirty="0"/>
          </a:p>
        </p:txBody>
      </p:sp>
      <p:sp>
        <p:nvSpPr>
          <p:cNvPr id="16" name="Text 14"/>
          <p:cNvSpPr/>
          <p:nvPr/>
        </p:nvSpPr>
        <p:spPr>
          <a:xfrm>
            <a:off x="10434090" y="3942973"/>
            <a:ext cx="990600" cy="952500"/>
          </a:xfrm>
          <a:prstGeom prst="rect">
            <a:avLst/>
          </a:prstGeom>
          <a:noFill/>
          <a:ln/>
        </p:spPr>
        <p:txBody>
          <a:bodyPr wrap="square" lIns="25400" tIns="25400" rIns="25400" bIns="25400" rtlCol="0" anchor="ctr">
            <a:normAutofit/>
          </a:bodyPr>
          <a:lstStyle/>
          <a:p>
            <a:pPr marL="0" indent="0" algn="ctr">
              <a:buNone/>
            </a:pPr>
            <a:r>
              <a:rPr lang="es-CO" sz="2700" b="1" noProof="0" dirty="0">
                <a:solidFill>
                  <a:srgbClr val="FFFFFF"/>
                </a:solidFill>
                <a:latin typeface="Segoe UI" pitchFamily="34" charset="0"/>
                <a:cs typeface="Segoe UI" pitchFamily="34" charset="-120"/>
              </a:rPr>
              <a:t>4</a:t>
            </a:r>
            <a:endParaRPr lang="es-CO" sz="2700" noProof="0" dirty="0"/>
          </a:p>
        </p:txBody>
      </p:sp>
      <p:sp>
        <p:nvSpPr>
          <p:cNvPr id="17" name="Text 15"/>
          <p:cNvSpPr/>
          <p:nvPr/>
        </p:nvSpPr>
        <p:spPr>
          <a:xfrm>
            <a:off x="9662867" y="5053221"/>
            <a:ext cx="2533045" cy="342900"/>
          </a:xfrm>
          <a:prstGeom prst="rect">
            <a:avLst/>
          </a:prstGeom>
          <a:noFill/>
          <a:ln/>
        </p:spPr>
        <p:txBody>
          <a:bodyPr wrap="square" lIns="25400" tIns="25400" rIns="25400" bIns="25400" rtlCol="0" anchor="t">
            <a:normAutofit/>
          </a:bodyPr>
          <a:lstStyle/>
          <a:p>
            <a:pPr marL="0" indent="0" algn="ctr">
              <a:buNone/>
            </a:pPr>
            <a:r>
              <a:rPr lang="es-CO" sz="1800" b="1" noProof="0" dirty="0">
                <a:solidFill>
                  <a:srgbClr val="3D3D3D"/>
                </a:solidFill>
                <a:latin typeface="Segoe UI" pitchFamily="34" charset="0"/>
                <a:ea typeface="Segoe UI" pitchFamily="34" charset="-122"/>
                <a:cs typeface="Segoe UI" pitchFamily="34" charset="-120"/>
              </a:rPr>
              <a:t>Modelado estadístico</a:t>
            </a:r>
            <a:endParaRPr lang="es-CO" sz="1800" noProof="0" dirty="0"/>
          </a:p>
        </p:txBody>
      </p:sp>
      <p:sp>
        <p:nvSpPr>
          <p:cNvPr id="18" name="Text 16"/>
          <p:cNvSpPr/>
          <p:nvPr/>
        </p:nvSpPr>
        <p:spPr>
          <a:xfrm>
            <a:off x="9820144" y="5793195"/>
            <a:ext cx="2067234" cy="718360"/>
          </a:xfrm>
          <a:prstGeom prst="rect">
            <a:avLst/>
          </a:prstGeom>
          <a:noFill/>
          <a:ln/>
        </p:spPr>
        <p:txBody>
          <a:bodyPr wrap="square" lIns="25400" tIns="25400" rIns="25400" bIns="25400" rtlCol="0" anchor="t">
            <a:normAutofit/>
          </a:bodyPr>
          <a:lstStyle/>
          <a:p>
            <a:pPr marL="0" indent="0" algn="ctr">
              <a:buNone/>
            </a:pPr>
            <a:r>
              <a:rPr lang="es-CO" sz="1425" noProof="0" dirty="0">
                <a:solidFill>
                  <a:srgbClr val="6F6F6F"/>
                </a:solidFill>
                <a:latin typeface="Segoe UI" pitchFamily="34" charset="0"/>
                <a:ea typeface="Segoe UI" pitchFamily="34" charset="-122"/>
                <a:cs typeface="Segoe UI" pitchFamily="34" charset="-120"/>
              </a:rPr>
              <a:t>Regresión (MLR) y árbol (CART)</a:t>
            </a:r>
            <a:endParaRPr lang="es-CO" sz="1425" noProof="0" dirty="0"/>
          </a:p>
        </p:txBody>
      </p:sp>
      <p:sp>
        <p:nvSpPr>
          <p:cNvPr id="19" name="Shape 17"/>
          <p:cNvSpPr/>
          <p:nvPr/>
        </p:nvSpPr>
        <p:spPr>
          <a:xfrm>
            <a:off x="12145421" y="4367421"/>
            <a:ext cx="568127" cy="57150"/>
          </a:xfrm>
          <a:prstGeom prst="rect">
            <a:avLst/>
          </a:prstGeom>
          <a:solidFill>
            <a:srgbClr val="E9E9E9"/>
          </a:solidFill>
          <a:ln/>
        </p:spPr>
        <p:txBody>
          <a:bodyPr/>
          <a:lstStyle/>
          <a:p>
            <a:endParaRPr lang="es-CO" noProof="0" dirty="0"/>
          </a:p>
        </p:txBody>
      </p:sp>
      <p:sp>
        <p:nvSpPr>
          <p:cNvPr id="20" name="Shape 18"/>
          <p:cNvSpPr/>
          <p:nvPr/>
        </p:nvSpPr>
        <p:spPr>
          <a:xfrm>
            <a:off x="13230566" y="3948321"/>
            <a:ext cx="914400" cy="914400"/>
          </a:xfrm>
          <a:prstGeom prst="roundRect">
            <a:avLst>
              <a:gd name="adj" fmla="val 29167"/>
            </a:avLst>
          </a:prstGeom>
          <a:solidFill>
            <a:srgbClr val="DDF28A"/>
          </a:solidFill>
          <a:ln/>
        </p:spPr>
        <p:txBody>
          <a:bodyPr/>
          <a:lstStyle/>
          <a:p>
            <a:endParaRPr lang="es-CO" noProof="0" dirty="0"/>
          </a:p>
        </p:txBody>
      </p:sp>
      <p:sp>
        <p:nvSpPr>
          <p:cNvPr id="21" name="Text 19"/>
          <p:cNvSpPr/>
          <p:nvPr/>
        </p:nvSpPr>
        <p:spPr>
          <a:xfrm>
            <a:off x="13192466" y="3948321"/>
            <a:ext cx="990600" cy="952500"/>
          </a:xfrm>
          <a:prstGeom prst="rect">
            <a:avLst/>
          </a:prstGeom>
          <a:noFill/>
          <a:ln/>
        </p:spPr>
        <p:txBody>
          <a:bodyPr wrap="square" lIns="25400" tIns="25400" rIns="25400" bIns="25400" rtlCol="0" anchor="ctr">
            <a:normAutofit/>
          </a:bodyPr>
          <a:lstStyle/>
          <a:p>
            <a:pPr marL="0" indent="0" algn="ctr">
              <a:buNone/>
            </a:pPr>
            <a:r>
              <a:rPr lang="es-CO" sz="2700" b="1" noProof="0" dirty="0">
                <a:solidFill>
                  <a:srgbClr val="3D3D3D"/>
                </a:solidFill>
                <a:latin typeface="Segoe UI" pitchFamily="34" charset="0"/>
                <a:cs typeface="Segoe UI" pitchFamily="34" charset="-120"/>
              </a:rPr>
              <a:t>5</a:t>
            </a:r>
            <a:endParaRPr lang="es-CO" sz="2700" noProof="0" dirty="0"/>
          </a:p>
        </p:txBody>
      </p:sp>
      <p:sp>
        <p:nvSpPr>
          <p:cNvPr id="22" name="Text 20"/>
          <p:cNvSpPr/>
          <p:nvPr/>
        </p:nvSpPr>
        <p:spPr>
          <a:xfrm>
            <a:off x="13097017" y="5053221"/>
            <a:ext cx="1181596" cy="342900"/>
          </a:xfrm>
          <a:prstGeom prst="rect">
            <a:avLst/>
          </a:prstGeom>
          <a:noFill/>
          <a:ln/>
        </p:spPr>
        <p:txBody>
          <a:bodyPr wrap="square" lIns="25400" tIns="25400" rIns="25400" bIns="25400" rtlCol="0" anchor="t">
            <a:normAutofit/>
          </a:bodyPr>
          <a:lstStyle/>
          <a:p>
            <a:pPr marL="0" indent="0" algn="ctr">
              <a:buNone/>
            </a:pPr>
            <a:r>
              <a:rPr lang="es-CO" sz="1800" b="1" noProof="0" dirty="0">
                <a:solidFill>
                  <a:srgbClr val="3D3D3D"/>
                </a:solidFill>
                <a:latin typeface="Segoe UI" pitchFamily="34" charset="0"/>
                <a:ea typeface="Segoe UI" pitchFamily="34" charset="-122"/>
                <a:cs typeface="Segoe UI" pitchFamily="34" charset="-120"/>
              </a:rPr>
              <a:t>Validación</a:t>
            </a:r>
            <a:endParaRPr lang="es-CO" sz="1800" noProof="0" dirty="0"/>
          </a:p>
        </p:txBody>
      </p:sp>
      <p:sp>
        <p:nvSpPr>
          <p:cNvPr id="23" name="Text 21"/>
          <p:cNvSpPr/>
          <p:nvPr/>
        </p:nvSpPr>
        <p:spPr>
          <a:xfrm>
            <a:off x="12546754" y="5798543"/>
            <a:ext cx="2282021" cy="279400"/>
          </a:xfrm>
          <a:prstGeom prst="rect">
            <a:avLst/>
          </a:prstGeom>
          <a:noFill/>
          <a:ln/>
        </p:spPr>
        <p:txBody>
          <a:bodyPr wrap="square" lIns="25400" tIns="25400" rIns="25400" bIns="25400" rtlCol="0" anchor="t">
            <a:normAutofit fontScale="85000" lnSpcReduction="10000"/>
          </a:bodyPr>
          <a:lstStyle/>
          <a:p>
            <a:pPr marL="0" indent="0" algn="ctr">
              <a:buNone/>
            </a:pPr>
            <a:r>
              <a:rPr lang="es-CO" sz="1425" noProof="0" dirty="0">
                <a:solidFill>
                  <a:srgbClr val="6F6F6F"/>
                </a:solidFill>
                <a:latin typeface="Segoe UI" pitchFamily="34" charset="0"/>
                <a:ea typeface="Segoe UI" pitchFamily="34" charset="-122"/>
                <a:cs typeface="Segoe UI" pitchFamily="34" charset="-120"/>
              </a:rPr>
              <a:t>MAE, RMSE y WAPE del modelo</a:t>
            </a:r>
            <a:endParaRPr lang="es-CO" sz="1425" noProof="0" dirty="0"/>
          </a:p>
        </p:txBody>
      </p:sp>
      <p:sp>
        <p:nvSpPr>
          <p:cNvPr id="24" name="Shape 22"/>
          <p:cNvSpPr/>
          <p:nvPr/>
        </p:nvSpPr>
        <p:spPr>
          <a:xfrm>
            <a:off x="15060755" y="4367421"/>
            <a:ext cx="568127" cy="57150"/>
          </a:xfrm>
          <a:prstGeom prst="rect">
            <a:avLst/>
          </a:prstGeom>
          <a:solidFill>
            <a:srgbClr val="E9E9E9"/>
          </a:solidFill>
          <a:ln/>
        </p:spPr>
        <p:txBody>
          <a:bodyPr/>
          <a:lstStyle/>
          <a:p>
            <a:endParaRPr lang="es-CO" noProof="0" dirty="0"/>
          </a:p>
        </p:txBody>
      </p:sp>
      <p:sp>
        <p:nvSpPr>
          <p:cNvPr id="25" name="Shape 23"/>
          <p:cNvSpPr/>
          <p:nvPr/>
        </p:nvSpPr>
        <p:spPr>
          <a:xfrm>
            <a:off x="16268650" y="3948321"/>
            <a:ext cx="914400" cy="914400"/>
          </a:xfrm>
          <a:prstGeom prst="roundRect">
            <a:avLst>
              <a:gd name="adj" fmla="val 29167"/>
            </a:avLst>
          </a:prstGeom>
          <a:solidFill>
            <a:srgbClr val="E9E9E9"/>
          </a:solidFill>
          <a:ln/>
        </p:spPr>
        <p:txBody>
          <a:bodyPr/>
          <a:lstStyle/>
          <a:p>
            <a:endParaRPr lang="es-CO" noProof="0" dirty="0"/>
          </a:p>
        </p:txBody>
      </p:sp>
      <p:sp>
        <p:nvSpPr>
          <p:cNvPr id="26" name="Text 24"/>
          <p:cNvSpPr/>
          <p:nvPr/>
        </p:nvSpPr>
        <p:spPr>
          <a:xfrm>
            <a:off x="16230550" y="3948321"/>
            <a:ext cx="990600" cy="952500"/>
          </a:xfrm>
          <a:prstGeom prst="rect">
            <a:avLst/>
          </a:prstGeom>
          <a:noFill/>
          <a:ln/>
        </p:spPr>
        <p:txBody>
          <a:bodyPr wrap="square" lIns="25400" tIns="25400" rIns="25400" bIns="25400" rtlCol="0" anchor="ctr">
            <a:normAutofit/>
          </a:bodyPr>
          <a:lstStyle/>
          <a:p>
            <a:pPr marL="0" indent="0" algn="ctr">
              <a:buNone/>
            </a:pPr>
            <a:r>
              <a:rPr lang="es-CO" sz="2700" b="1" noProof="0" dirty="0">
                <a:solidFill>
                  <a:srgbClr val="3D3D3D"/>
                </a:solidFill>
                <a:latin typeface="Segoe UI" pitchFamily="34" charset="0"/>
                <a:cs typeface="Segoe UI" pitchFamily="34" charset="-120"/>
              </a:rPr>
              <a:t>6</a:t>
            </a:r>
            <a:endParaRPr lang="es-CO" sz="2700" noProof="0" dirty="0"/>
          </a:p>
        </p:txBody>
      </p:sp>
      <p:sp>
        <p:nvSpPr>
          <p:cNvPr id="27" name="Text 25"/>
          <p:cNvSpPr/>
          <p:nvPr/>
        </p:nvSpPr>
        <p:spPr>
          <a:xfrm>
            <a:off x="15882406" y="5053221"/>
            <a:ext cx="1686987" cy="342900"/>
          </a:xfrm>
          <a:prstGeom prst="rect">
            <a:avLst/>
          </a:prstGeom>
          <a:noFill/>
          <a:ln/>
        </p:spPr>
        <p:txBody>
          <a:bodyPr wrap="square" lIns="25400" tIns="25400" rIns="25400" bIns="25400" rtlCol="0" anchor="t">
            <a:normAutofit/>
          </a:bodyPr>
          <a:lstStyle/>
          <a:p>
            <a:pPr marL="0" indent="0" algn="ctr">
              <a:buNone/>
            </a:pPr>
            <a:r>
              <a:rPr lang="es-CO" sz="1800" b="1" noProof="0" dirty="0">
                <a:solidFill>
                  <a:srgbClr val="3D3D3D"/>
                </a:solidFill>
                <a:latin typeface="Segoe UI" pitchFamily="34" charset="0"/>
                <a:ea typeface="Segoe UI" pitchFamily="34" charset="-122"/>
                <a:cs typeface="Segoe UI" pitchFamily="34" charset="-120"/>
              </a:rPr>
              <a:t>Interpretación</a:t>
            </a:r>
            <a:endParaRPr lang="es-CO" sz="1800" noProof="0" dirty="0"/>
          </a:p>
        </p:txBody>
      </p:sp>
      <p:sp>
        <p:nvSpPr>
          <p:cNvPr id="28" name="Text 26"/>
          <p:cNvSpPr/>
          <p:nvPr/>
        </p:nvSpPr>
        <p:spPr>
          <a:xfrm>
            <a:off x="15692233" y="5798543"/>
            <a:ext cx="2067233" cy="279400"/>
          </a:xfrm>
          <a:prstGeom prst="rect">
            <a:avLst/>
          </a:prstGeom>
          <a:noFill/>
          <a:ln/>
        </p:spPr>
        <p:txBody>
          <a:bodyPr wrap="square" lIns="25400" tIns="25400" rIns="25400" bIns="25400" rtlCol="0" anchor="t">
            <a:normAutofit/>
          </a:bodyPr>
          <a:lstStyle/>
          <a:p>
            <a:pPr marL="0" indent="0" algn="ctr">
              <a:buNone/>
            </a:pPr>
            <a:r>
              <a:rPr lang="es-CO" sz="1425" noProof="0" dirty="0">
                <a:solidFill>
                  <a:srgbClr val="6F6F6F"/>
                </a:solidFill>
                <a:latin typeface="Segoe UI" pitchFamily="34" charset="0"/>
                <a:ea typeface="Segoe UI" pitchFamily="34" charset="-122"/>
                <a:cs typeface="Segoe UI" pitchFamily="34" charset="-120"/>
              </a:rPr>
              <a:t>Resultados y decisiones</a:t>
            </a:r>
            <a:endParaRPr lang="es-CO" sz="1425" noProof="0" dirty="0"/>
          </a:p>
        </p:txBody>
      </p:sp>
      <p:sp>
        <p:nvSpPr>
          <p:cNvPr id="29" name="Text 27"/>
          <p:cNvSpPr/>
          <p:nvPr/>
        </p:nvSpPr>
        <p:spPr>
          <a:xfrm>
            <a:off x="1143000" y="9525000"/>
            <a:ext cx="5412720" cy="266700"/>
          </a:xfrm>
          <a:prstGeom prst="rect">
            <a:avLst/>
          </a:prstGeom>
          <a:noFill/>
          <a:ln/>
        </p:spPr>
        <p:txBody>
          <a:bodyPr wrap="square" lIns="25400" tIns="25400" rIns="25400" bIns="25400" rtlCol="0" anchor="t">
            <a:normAutofit/>
          </a:bodyPr>
          <a:lstStyle/>
          <a:p>
            <a:pPr marL="0" indent="0" algn="l">
              <a:buNone/>
            </a:pPr>
            <a:r>
              <a:rPr lang="es-CO" sz="1350" noProof="0" dirty="0">
                <a:solidFill>
                  <a:srgbClr val="6F6F6F"/>
                </a:solidFill>
                <a:latin typeface="Segoe UI" pitchFamily="34" charset="0"/>
                <a:ea typeface="Segoe UI" pitchFamily="34" charset="-122"/>
                <a:cs typeface="Segoe UI" pitchFamily="34" charset="-120"/>
              </a:rPr>
              <a:t>UTS · Cartilla de aprendizaje — Gestión Inteligente de Inventarios</a:t>
            </a:r>
            <a:endParaRPr lang="es-CO" sz="1350" noProof="0" dirty="0"/>
          </a:p>
        </p:txBody>
      </p:sp>
      <p:sp>
        <p:nvSpPr>
          <p:cNvPr id="30" name="Shape 28"/>
          <p:cNvSpPr/>
          <p:nvPr/>
        </p:nvSpPr>
        <p:spPr>
          <a:xfrm>
            <a:off x="16725900" y="9410700"/>
            <a:ext cx="419100" cy="419100"/>
          </a:xfrm>
          <a:prstGeom prst="ellipse">
            <a:avLst/>
          </a:prstGeom>
          <a:solidFill>
            <a:srgbClr val="7E2C8C"/>
          </a:solidFill>
          <a:ln/>
        </p:spPr>
        <p:txBody>
          <a:bodyPr/>
          <a:lstStyle/>
          <a:p>
            <a:endParaRPr lang="es-CO" noProof="0" dirty="0"/>
          </a:p>
        </p:txBody>
      </p:sp>
      <p:sp>
        <p:nvSpPr>
          <p:cNvPr id="31" name="Text 29"/>
          <p:cNvSpPr/>
          <p:nvPr/>
        </p:nvSpPr>
        <p:spPr>
          <a:xfrm>
            <a:off x="16687800" y="9410700"/>
            <a:ext cx="495300" cy="457200"/>
          </a:xfrm>
          <a:prstGeom prst="rect">
            <a:avLst/>
          </a:prstGeom>
          <a:noFill/>
          <a:ln/>
        </p:spPr>
        <p:txBody>
          <a:bodyPr wrap="square" lIns="25400" tIns="25400" rIns="25400" bIns="25400" rtlCol="0" anchor="ctr">
            <a:normAutofit/>
          </a:bodyPr>
          <a:lstStyle/>
          <a:p>
            <a:pPr marL="0" indent="0" algn="ctr">
              <a:buNone/>
            </a:pPr>
            <a:r>
              <a:rPr lang="es-CO" sz="1500" b="1" noProof="0" dirty="0">
                <a:solidFill>
                  <a:srgbClr val="FFFFFF"/>
                </a:solidFill>
                <a:latin typeface="Segoe UI" pitchFamily="34" charset="0"/>
                <a:ea typeface="Segoe UI" pitchFamily="34" charset="-122"/>
                <a:cs typeface="Segoe UI" pitchFamily="34" charset="-120"/>
              </a:rPr>
              <a:t>05</a:t>
            </a:r>
            <a:endParaRPr lang="es-CO" sz="1500" noProof="0" dirty="0"/>
          </a:p>
        </p:txBody>
      </p:sp>
      <p:sp>
        <p:nvSpPr>
          <p:cNvPr id="35" name="Shape 1">
            <a:extLst>
              <a:ext uri="{FF2B5EF4-FFF2-40B4-BE49-F238E27FC236}">
                <a16:creationId xmlns:a16="http://schemas.microsoft.com/office/drawing/2014/main" id="{B50DC3E7-8E55-5405-B839-F40329B59C1E}"/>
              </a:ext>
            </a:extLst>
          </p:cNvPr>
          <p:cNvSpPr/>
          <p:nvPr/>
        </p:nvSpPr>
        <p:spPr>
          <a:xfrm rot="1080000">
            <a:off x="16474585" y="-1816101"/>
            <a:ext cx="4572002" cy="4572002"/>
          </a:xfrm>
          <a:prstGeom prst="roundRect">
            <a:avLst>
              <a:gd name="adj" fmla="val 13333"/>
            </a:avLst>
          </a:prstGeom>
          <a:solidFill>
            <a:srgbClr val="B7D81A"/>
          </a:solidFill>
          <a:ln/>
        </p:spPr>
        <p:txBody>
          <a:bodyPr/>
          <a:lstStyle/>
          <a:p>
            <a:endParaRPr lang="es-CO" noProof="0" dirty="0"/>
          </a:p>
        </p:txBody>
      </p:sp>
      <p:sp>
        <p:nvSpPr>
          <p:cNvPr id="34" name="Shape 0">
            <a:extLst>
              <a:ext uri="{FF2B5EF4-FFF2-40B4-BE49-F238E27FC236}">
                <a16:creationId xmlns:a16="http://schemas.microsoft.com/office/drawing/2014/main" id="{E82324BE-F232-C15C-9AA7-CFEAEC02C817}"/>
              </a:ext>
            </a:extLst>
          </p:cNvPr>
          <p:cNvSpPr/>
          <p:nvPr/>
        </p:nvSpPr>
        <p:spPr>
          <a:xfrm>
            <a:off x="1143000" y="838200"/>
            <a:ext cx="3081238" cy="419100"/>
          </a:xfrm>
          <a:prstGeom prst="roundRect">
            <a:avLst>
              <a:gd name="adj" fmla="val 50000"/>
            </a:avLst>
          </a:prstGeom>
          <a:solidFill>
            <a:srgbClr val="F4FADF"/>
          </a:solidFill>
          <a:ln/>
        </p:spPr>
        <p:txBody>
          <a:bodyPr/>
          <a:lstStyle/>
          <a:p>
            <a:endParaRPr lang="es-CO" noProof="0" dirty="0"/>
          </a:p>
        </p:txBody>
      </p:sp>
      <p:sp>
        <p:nvSpPr>
          <p:cNvPr id="37" name="Text 1">
            <a:extLst>
              <a:ext uri="{FF2B5EF4-FFF2-40B4-BE49-F238E27FC236}">
                <a16:creationId xmlns:a16="http://schemas.microsoft.com/office/drawing/2014/main" id="{33DF1B3B-88D4-D682-AA64-6E34D761273A}"/>
              </a:ext>
            </a:extLst>
          </p:cNvPr>
          <p:cNvSpPr/>
          <p:nvPr/>
        </p:nvSpPr>
        <p:spPr>
          <a:xfrm>
            <a:off x="1352550" y="933450"/>
            <a:ext cx="2754576" cy="266700"/>
          </a:xfrm>
          <a:prstGeom prst="rect">
            <a:avLst/>
          </a:prstGeom>
          <a:noFill/>
          <a:ln/>
        </p:spPr>
        <p:txBody>
          <a:bodyPr wrap="square" lIns="25400" tIns="25400" rIns="25400" bIns="25400" rtlCol="0" anchor="ctr">
            <a:normAutofit/>
          </a:bodyPr>
          <a:lstStyle/>
          <a:p>
            <a:pPr marL="0" indent="0" algn="l">
              <a:buNone/>
            </a:pPr>
            <a:r>
              <a:rPr lang="es-CO" sz="1350" b="1" kern="0" spc="81" noProof="0" dirty="0">
                <a:solidFill>
                  <a:srgbClr val="7E2C8C"/>
                </a:solidFill>
                <a:latin typeface="Segoe UI" pitchFamily="34" charset="0"/>
                <a:ea typeface="Segoe UI" pitchFamily="34" charset="-122"/>
                <a:cs typeface="Segoe UI" pitchFamily="34" charset="-120"/>
              </a:rPr>
              <a:t>INTRODUCCIÓN AL MÓDULO</a:t>
            </a:r>
            <a:endParaRPr lang="es-CO" sz="1350" noProof="0" dirty="0"/>
          </a:p>
        </p:txBody>
      </p:sp>
      <p:sp>
        <p:nvSpPr>
          <p:cNvPr id="39" name="Shape 23">
            <a:extLst>
              <a:ext uri="{FF2B5EF4-FFF2-40B4-BE49-F238E27FC236}">
                <a16:creationId xmlns:a16="http://schemas.microsoft.com/office/drawing/2014/main" id="{5FDE51D6-30E5-C2E2-B5F8-41EE7FB3F69A}"/>
              </a:ext>
            </a:extLst>
          </p:cNvPr>
          <p:cNvSpPr/>
          <p:nvPr/>
        </p:nvSpPr>
        <p:spPr>
          <a:xfrm>
            <a:off x="1065645" y="3967212"/>
            <a:ext cx="914400" cy="914400"/>
          </a:xfrm>
          <a:prstGeom prst="roundRect">
            <a:avLst>
              <a:gd name="adj" fmla="val 29167"/>
            </a:avLst>
          </a:prstGeom>
          <a:solidFill>
            <a:srgbClr val="E9E9E9"/>
          </a:solidFill>
          <a:ln/>
        </p:spPr>
        <p:txBody>
          <a:bodyPr/>
          <a:lstStyle/>
          <a:p>
            <a:endParaRPr lang="es-CO" noProof="0" dirty="0"/>
          </a:p>
        </p:txBody>
      </p:sp>
      <p:sp>
        <p:nvSpPr>
          <p:cNvPr id="41" name="Text 24">
            <a:extLst>
              <a:ext uri="{FF2B5EF4-FFF2-40B4-BE49-F238E27FC236}">
                <a16:creationId xmlns:a16="http://schemas.microsoft.com/office/drawing/2014/main" id="{35406DC3-4EC8-2E3F-5FAB-9B2819F2150D}"/>
              </a:ext>
            </a:extLst>
          </p:cNvPr>
          <p:cNvSpPr/>
          <p:nvPr/>
        </p:nvSpPr>
        <p:spPr>
          <a:xfrm>
            <a:off x="1027545" y="3967212"/>
            <a:ext cx="990600" cy="952500"/>
          </a:xfrm>
          <a:prstGeom prst="rect">
            <a:avLst/>
          </a:prstGeom>
          <a:noFill/>
          <a:ln/>
        </p:spPr>
        <p:txBody>
          <a:bodyPr wrap="square" lIns="25400" tIns="25400" rIns="25400" bIns="25400" rtlCol="0" anchor="ctr">
            <a:normAutofit/>
          </a:bodyPr>
          <a:lstStyle/>
          <a:p>
            <a:pPr marL="0" indent="0" algn="ctr">
              <a:buNone/>
            </a:pPr>
            <a:r>
              <a:rPr lang="es-CO" sz="2700" b="1" noProof="0" dirty="0">
                <a:solidFill>
                  <a:srgbClr val="3D3D3D"/>
                </a:solidFill>
                <a:latin typeface="Segoe UI" pitchFamily="34" charset="0"/>
                <a:cs typeface="Segoe UI" pitchFamily="34" charset="-120"/>
              </a:rPr>
              <a:t>1</a:t>
            </a:r>
            <a:endParaRPr lang="es-CO" sz="2700" noProof="0" dirty="0"/>
          </a:p>
        </p:txBody>
      </p:sp>
      <p:sp>
        <p:nvSpPr>
          <p:cNvPr id="43" name="Text 25">
            <a:extLst>
              <a:ext uri="{FF2B5EF4-FFF2-40B4-BE49-F238E27FC236}">
                <a16:creationId xmlns:a16="http://schemas.microsoft.com/office/drawing/2014/main" id="{7CEC2BDA-0FAF-F6CF-0734-6F5D387908B3}"/>
              </a:ext>
            </a:extLst>
          </p:cNvPr>
          <p:cNvSpPr/>
          <p:nvPr/>
        </p:nvSpPr>
        <p:spPr>
          <a:xfrm>
            <a:off x="160732" y="5014585"/>
            <a:ext cx="2556140" cy="495300"/>
          </a:xfrm>
          <a:prstGeom prst="rect">
            <a:avLst/>
          </a:prstGeom>
          <a:noFill/>
          <a:ln/>
        </p:spPr>
        <p:txBody>
          <a:bodyPr wrap="square" lIns="25400" tIns="25400" rIns="25400" bIns="25400" rtlCol="0" anchor="t">
            <a:noAutofit/>
          </a:bodyPr>
          <a:lstStyle/>
          <a:p>
            <a:pPr marL="0" indent="0" algn="ctr">
              <a:buNone/>
            </a:pPr>
            <a:r>
              <a:rPr lang="es-CO" b="1" noProof="0" dirty="0">
                <a:solidFill>
                  <a:srgbClr val="3D3D3D"/>
                </a:solidFill>
                <a:latin typeface="Segoe UI" pitchFamily="34" charset="0"/>
                <a:ea typeface="Segoe UI" pitchFamily="34" charset="-122"/>
                <a:cs typeface="Segoe UI" pitchFamily="34" charset="-120"/>
              </a:rPr>
              <a:t>Diseño del entorno de simulación</a:t>
            </a:r>
            <a:endParaRPr lang="es-CO" noProof="0" dirty="0"/>
          </a:p>
        </p:txBody>
      </p:sp>
      <p:sp>
        <p:nvSpPr>
          <p:cNvPr id="45" name="Text 26">
            <a:extLst>
              <a:ext uri="{FF2B5EF4-FFF2-40B4-BE49-F238E27FC236}">
                <a16:creationId xmlns:a16="http://schemas.microsoft.com/office/drawing/2014/main" id="{40D4CD29-71C9-90F5-4B7A-7816FB0518F1}"/>
              </a:ext>
            </a:extLst>
          </p:cNvPr>
          <p:cNvSpPr/>
          <p:nvPr/>
        </p:nvSpPr>
        <p:spPr>
          <a:xfrm>
            <a:off x="483248" y="5856414"/>
            <a:ext cx="2067233" cy="279400"/>
          </a:xfrm>
          <a:prstGeom prst="rect">
            <a:avLst/>
          </a:prstGeom>
          <a:noFill/>
          <a:ln/>
        </p:spPr>
        <p:txBody>
          <a:bodyPr wrap="square" lIns="25400" tIns="25400" rIns="25400" bIns="25400" rtlCol="0" anchor="t">
            <a:normAutofit/>
          </a:bodyPr>
          <a:lstStyle/>
          <a:p>
            <a:pPr marL="0" indent="0" algn="ctr">
              <a:buNone/>
            </a:pPr>
            <a:r>
              <a:rPr lang="es-CO" sz="1425" noProof="0" dirty="0">
                <a:solidFill>
                  <a:srgbClr val="6F6F6F"/>
                </a:solidFill>
                <a:latin typeface="Segoe UI" pitchFamily="34" charset="0"/>
                <a:ea typeface="Segoe UI" pitchFamily="34" charset="-122"/>
                <a:cs typeface="Segoe UI" pitchFamily="34" charset="-120"/>
              </a:rPr>
              <a:t>Catalogo Maestro</a:t>
            </a:r>
            <a:endParaRPr lang="es-CO" sz="1425" noProof="0" dirty="0"/>
          </a:p>
        </p:txBody>
      </p:sp>
      <p:sp>
        <p:nvSpPr>
          <p:cNvPr id="47" name="Shape 7">
            <a:extLst>
              <a:ext uri="{FF2B5EF4-FFF2-40B4-BE49-F238E27FC236}">
                <a16:creationId xmlns:a16="http://schemas.microsoft.com/office/drawing/2014/main" id="{18B3C5AB-C2DE-39F8-81E6-9DE4263F1428}"/>
              </a:ext>
            </a:extLst>
          </p:cNvPr>
          <p:cNvSpPr/>
          <p:nvPr/>
        </p:nvSpPr>
        <p:spPr>
          <a:xfrm>
            <a:off x="2475998" y="4395837"/>
            <a:ext cx="568127" cy="57150"/>
          </a:xfrm>
          <a:prstGeom prst="rect">
            <a:avLst/>
          </a:prstGeom>
          <a:solidFill>
            <a:srgbClr val="E9E9E9"/>
          </a:solidFill>
          <a:ln/>
        </p:spPr>
        <p:txBody>
          <a:bodyPr/>
          <a:lstStyle/>
          <a:p>
            <a:endParaRPr lang="es-CO" noProof="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70034B1-753D-7D66-E726-4A273E04114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7E8706B-DF22-12A6-EB3F-99EAAD935161}"/>
              </a:ext>
            </a:extLst>
          </p:cNvPr>
          <p:cNvSpPr/>
          <p:nvPr/>
        </p:nvSpPr>
        <p:spPr>
          <a:xfrm>
            <a:off x="1143000" y="838200"/>
            <a:ext cx="3081238" cy="419100"/>
          </a:xfrm>
          <a:prstGeom prst="roundRect">
            <a:avLst>
              <a:gd name="adj" fmla="val 50000"/>
            </a:avLst>
          </a:prstGeom>
          <a:solidFill>
            <a:srgbClr val="F4FADF"/>
          </a:solidFill>
          <a:ln/>
        </p:spPr>
        <p:txBody>
          <a:bodyPr/>
          <a:lstStyle/>
          <a:p>
            <a:endParaRPr lang="es-CO" noProof="0" dirty="0"/>
          </a:p>
        </p:txBody>
      </p:sp>
      <p:sp>
        <p:nvSpPr>
          <p:cNvPr id="3" name="Text 1">
            <a:extLst>
              <a:ext uri="{FF2B5EF4-FFF2-40B4-BE49-F238E27FC236}">
                <a16:creationId xmlns:a16="http://schemas.microsoft.com/office/drawing/2014/main" id="{C3885F8E-D763-579C-4E4B-FD9A8AEF448D}"/>
              </a:ext>
            </a:extLst>
          </p:cNvPr>
          <p:cNvSpPr/>
          <p:nvPr/>
        </p:nvSpPr>
        <p:spPr>
          <a:xfrm>
            <a:off x="1352550" y="933450"/>
            <a:ext cx="2754576" cy="266700"/>
          </a:xfrm>
          <a:prstGeom prst="rect">
            <a:avLst/>
          </a:prstGeom>
          <a:noFill/>
          <a:ln/>
        </p:spPr>
        <p:txBody>
          <a:bodyPr wrap="square" lIns="25400" tIns="25400" rIns="25400" bIns="25400" rtlCol="0" anchor="ctr">
            <a:normAutofit/>
          </a:bodyPr>
          <a:lstStyle/>
          <a:p>
            <a:pPr marL="0" indent="0" algn="l">
              <a:buNone/>
            </a:pPr>
            <a:r>
              <a:rPr lang="es-CO" sz="1350" b="1" kern="0" spc="81" noProof="0" dirty="0">
                <a:solidFill>
                  <a:srgbClr val="7E2C8C"/>
                </a:solidFill>
                <a:latin typeface="Segoe UI" pitchFamily="34" charset="0"/>
                <a:ea typeface="Segoe UI" pitchFamily="34" charset="-122"/>
                <a:cs typeface="Segoe UI" pitchFamily="34" charset="-120"/>
              </a:rPr>
              <a:t>INTRODUCCIÓN AL MÓDULO</a:t>
            </a:r>
            <a:endParaRPr lang="es-CO" sz="1350" noProof="0" dirty="0"/>
          </a:p>
        </p:txBody>
      </p:sp>
      <p:sp>
        <p:nvSpPr>
          <p:cNvPr id="4" name="Text 2">
            <a:extLst>
              <a:ext uri="{FF2B5EF4-FFF2-40B4-BE49-F238E27FC236}">
                <a16:creationId xmlns:a16="http://schemas.microsoft.com/office/drawing/2014/main" id="{6CC7E026-1B14-847D-3CD7-857E3EFCE179}"/>
              </a:ext>
            </a:extLst>
          </p:cNvPr>
          <p:cNvSpPr/>
          <p:nvPr/>
        </p:nvSpPr>
        <p:spPr>
          <a:xfrm>
            <a:off x="1143000" y="1619250"/>
            <a:ext cx="10791825" cy="1358900"/>
          </a:xfrm>
          <a:prstGeom prst="rect">
            <a:avLst/>
          </a:prstGeom>
          <a:noFill/>
          <a:ln/>
        </p:spPr>
        <p:txBody>
          <a:bodyPr wrap="square" lIns="25400" tIns="25400" rIns="25400" bIns="25400" rtlCol="0" anchor="t">
            <a:normAutofit/>
          </a:bodyPr>
          <a:lstStyle/>
          <a:p>
            <a:pPr marL="0" indent="0" algn="l">
              <a:buNone/>
            </a:pPr>
            <a:r>
              <a:rPr lang="es-CO" sz="3900" b="1" noProof="0" dirty="0">
                <a:solidFill>
                  <a:srgbClr val="3D3D3D"/>
                </a:solidFill>
                <a:latin typeface="Segoe UI" pitchFamily="34" charset="0"/>
                <a:ea typeface="Segoe UI" pitchFamily="34" charset="-122"/>
                <a:cs typeface="Segoe UI" pitchFamily="34" charset="-120"/>
              </a:rPr>
              <a:t>Contexto del entorno de Simulación</a:t>
            </a:r>
            <a:endParaRPr lang="es-CO" sz="3900" noProof="0" dirty="0"/>
          </a:p>
        </p:txBody>
      </p:sp>
      <p:sp>
        <p:nvSpPr>
          <p:cNvPr id="5" name="Text 3">
            <a:extLst>
              <a:ext uri="{FF2B5EF4-FFF2-40B4-BE49-F238E27FC236}">
                <a16:creationId xmlns:a16="http://schemas.microsoft.com/office/drawing/2014/main" id="{C6084331-B45A-201C-8634-54819284868A}"/>
              </a:ext>
            </a:extLst>
          </p:cNvPr>
          <p:cNvSpPr/>
          <p:nvPr/>
        </p:nvSpPr>
        <p:spPr>
          <a:xfrm>
            <a:off x="1143000" y="3048000"/>
            <a:ext cx="9614535" cy="2438400"/>
          </a:xfrm>
          <a:prstGeom prst="rect">
            <a:avLst/>
          </a:prstGeom>
          <a:noFill/>
          <a:ln/>
        </p:spPr>
        <p:txBody>
          <a:bodyPr wrap="square" lIns="25400" tIns="25400" rIns="25400" bIns="25400" rtlCol="0" anchor="t">
            <a:normAutofit fontScale="92500" lnSpcReduction="20000"/>
          </a:bodyPr>
          <a:lstStyle/>
          <a:p>
            <a:pPr marL="0" indent="0" algn="l">
              <a:lnSpc>
                <a:spcPct val="120000"/>
              </a:lnSpc>
              <a:buNone/>
            </a:pPr>
            <a:r>
              <a:rPr lang="es-CO" sz="2250" noProof="0" dirty="0">
                <a:solidFill>
                  <a:srgbClr val="3D3D3D"/>
                </a:solidFill>
                <a:latin typeface="Segoe UI" pitchFamily="34" charset="0"/>
                <a:cs typeface="Segoe UI" pitchFamily="34" charset="-120"/>
              </a:rPr>
              <a:t>Una </a:t>
            </a:r>
            <a:r>
              <a:rPr lang="es-CO" sz="2250" noProof="0" dirty="0" err="1">
                <a:solidFill>
                  <a:srgbClr val="3D3D3D"/>
                </a:solidFill>
                <a:latin typeface="Segoe UI" pitchFamily="34" charset="0"/>
                <a:cs typeface="Segoe UI" pitchFamily="34" charset="-120"/>
              </a:rPr>
              <a:t>PyME</a:t>
            </a:r>
            <a:r>
              <a:rPr lang="es-CO" sz="2250" noProof="0" dirty="0">
                <a:solidFill>
                  <a:srgbClr val="3D3D3D"/>
                </a:solidFill>
                <a:latin typeface="Segoe UI" pitchFamily="34" charset="0"/>
                <a:cs typeface="Segoe UI" pitchFamily="34" charset="-120"/>
              </a:rPr>
              <a:t> del sector ferretero administra un amplio catálogo de productos, cuyas referencias presentan comportamientos de demanda muy diferentes entre sí. Mientras algunos artículos se venden todos los días, otros registran ventas solo en determinadas épocas o unas pocas veces al año. Esta variabilidad dificulta estimar la demanda mediante métodos tradicionales y, además, la ausencia de datos históricos reales impide desarrollar y evaluar un modelo predictivo de forma confiable. </a:t>
            </a:r>
          </a:p>
          <a:p>
            <a:pPr marL="0" indent="0" algn="l">
              <a:lnSpc>
                <a:spcPct val="120000"/>
              </a:lnSpc>
              <a:buNone/>
            </a:pPr>
            <a:endParaRPr lang="es-CO" sz="2250" noProof="0" dirty="0">
              <a:solidFill>
                <a:srgbClr val="3D3D3D"/>
              </a:solidFill>
              <a:latin typeface="Segoe UI" pitchFamily="34" charset="0"/>
              <a:cs typeface="Segoe UI" pitchFamily="34" charset="-120"/>
            </a:endParaRPr>
          </a:p>
        </p:txBody>
      </p:sp>
      <p:sp>
        <p:nvSpPr>
          <p:cNvPr id="6" name="Shape 4">
            <a:extLst>
              <a:ext uri="{FF2B5EF4-FFF2-40B4-BE49-F238E27FC236}">
                <a16:creationId xmlns:a16="http://schemas.microsoft.com/office/drawing/2014/main" id="{270B3A19-22AF-8C64-57CD-FD6329163D9E}"/>
              </a:ext>
            </a:extLst>
          </p:cNvPr>
          <p:cNvSpPr/>
          <p:nvPr/>
        </p:nvSpPr>
        <p:spPr>
          <a:xfrm>
            <a:off x="12382500" y="3048000"/>
            <a:ext cx="4762500" cy="2994025"/>
          </a:xfrm>
          <a:prstGeom prst="roundRect">
            <a:avLst>
              <a:gd name="adj" fmla="val 10180"/>
            </a:avLst>
          </a:prstGeom>
          <a:solidFill>
            <a:schemeClr val="bg1">
              <a:lumMod val="95000"/>
            </a:schemeClr>
          </a:solidFill>
          <a:ln/>
        </p:spPr>
        <p:txBody>
          <a:bodyPr/>
          <a:lstStyle/>
          <a:p>
            <a:endParaRPr lang="es-CO" noProof="0" dirty="0"/>
          </a:p>
        </p:txBody>
      </p:sp>
      <p:sp>
        <p:nvSpPr>
          <p:cNvPr id="7" name="Shape 5">
            <a:extLst>
              <a:ext uri="{FF2B5EF4-FFF2-40B4-BE49-F238E27FC236}">
                <a16:creationId xmlns:a16="http://schemas.microsoft.com/office/drawing/2014/main" id="{F44B6D34-3334-22D6-977D-46F946622510}"/>
              </a:ext>
            </a:extLst>
          </p:cNvPr>
          <p:cNvSpPr/>
          <p:nvPr/>
        </p:nvSpPr>
        <p:spPr>
          <a:xfrm>
            <a:off x="12763500" y="3429000"/>
            <a:ext cx="495300" cy="495300"/>
          </a:xfrm>
          <a:prstGeom prst="roundRect">
            <a:avLst>
              <a:gd name="adj" fmla="val 30769"/>
            </a:avLst>
          </a:prstGeom>
          <a:solidFill>
            <a:srgbClr val="B7D81A"/>
          </a:solidFill>
          <a:ln/>
        </p:spPr>
        <p:txBody>
          <a:bodyPr/>
          <a:lstStyle/>
          <a:p>
            <a:endParaRPr lang="es-CO" noProof="0" dirty="0"/>
          </a:p>
        </p:txBody>
      </p:sp>
      <p:sp>
        <p:nvSpPr>
          <p:cNvPr id="8" name="Text 6">
            <a:extLst>
              <a:ext uri="{FF2B5EF4-FFF2-40B4-BE49-F238E27FC236}">
                <a16:creationId xmlns:a16="http://schemas.microsoft.com/office/drawing/2014/main" id="{B962DFA2-8195-E768-ACED-4515ADC376C3}"/>
              </a:ext>
            </a:extLst>
          </p:cNvPr>
          <p:cNvSpPr/>
          <p:nvPr/>
        </p:nvSpPr>
        <p:spPr>
          <a:xfrm>
            <a:off x="12763500" y="4152900"/>
            <a:ext cx="4400550" cy="317500"/>
          </a:xfrm>
          <a:prstGeom prst="rect">
            <a:avLst/>
          </a:prstGeom>
          <a:noFill/>
          <a:ln/>
        </p:spPr>
        <p:txBody>
          <a:bodyPr wrap="square" lIns="25400" tIns="25400" rIns="25400" bIns="25400" rtlCol="0" anchor="t">
            <a:normAutofit/>
          </a:bodyPr>
          <a:lstStyle/>
          <a:p>
            <a:pPr marL="0" indent="0" algn="l">
              <a:buNone/>
            </a:pPr>
            <a:r>
              <a:rPr lang="es-CO" sz="1650" b="1" noProof="0" dirty="0">
                <a:solidFill>
                  <a:srgbClr val="7E2C8C"/>
                </a:solidFill>
                <a:latin typeface="Segoe UI" pitchFamily="34" charset="0"/>
                <a:ea typeface="Segoe UI" pitchFamily="34" charset="-122"/>
                <a:cs typeface="Segoe UI" pitchFamily="34" charset="-120"/>
              </a:rPr>
              <a:t>Prerrequisitos</a:t>
            </a:r>
            <a:endParaRPr lang="es-CO" sz="1650" noProof="0" dirty="0"/>
          </a:p>
        </p:txBody>
      </p:sp>
      <p:sp>
        <p:nvSpPr>
          <p:cNvPr id="9" name="Text 7">
            <a:extLst>
              <a:ext uri="{FF2B5EF4-FFF2-40B4-BE49-F238E27FC236}">
                <a16:creationId xmlns:a16="http://schemas.microsoft.com/office/drawing/2014/main" id="{ADD565B7-5357-E471-A314-6047E2DF603F}"/>
              </a:ext>
            </a:extLst>
          </p:cNvPr>
          <p:cNvSpPr/>
          <p:nvPr/>
        </p:nvSpPr>
        <p:spPr>
          <a:xfrm>
            <a:off x="12763500" y="4546600"/>
            <a:ext cx="4120515" cy="1152525"/>
          </a:xfrm>
          <a:prstGeom prst="rect">
            <a:avLst/>
          </a:prstGeom>
          <a:noFill/>
          <a:ln/>
        </p:spPr>
        <p:txBody>
          <a:bodyPr wrap="square" lIns="25400" tIns="25400" rIns="25400" bIns="25400" rtlCol="0" anchor="t">
            <a:normAutofit fontScale="92500" lnSpcReduction="20000"/>
          </a:bodyPr>
          <a:lstStyle/>
          <a:p>
            <a:pPr marL="0" indent="0" algn="l">
              <a:lnSpc>
                <a:spcPct val="112500"/>
              </a:lnSpc>
              <a:buNone/>
            </a:pPr>
            <a:r>
              <a:rPr lang="es-CO" sz="1950" noProof="0" dirty="0">
                <a:solidFill>
                  <a:srgbClr val="3D3D3D"/>
                </a:solidFill>
                <a:latin typeface="Segoe UI" pitchFamily="34" charset="0"/>
                <a:ea typeface="Segoe UI" pitchFamily="34" charset="-122"/>
                <a:cs typeface="Segoe UI" pitchFamily="34" charset="-120"/>
              </a:rPr>
              <a:t>R y </a:t>
            </a:r>
            <a:r>
              <a:rPr lang="es-CO" sz="1950" noProof="0" dirty="0" err="1">
                <a:solidFill>
                  <a:srgbClr val="3D3D3D"/>
                </a:solidFill>
                <a:latin typeface="Segoe UI" pitchFamily="34" charset="0"/>
                <a:ea typeface="Segoe UI" pitchFamily="34" charset="-122"/>
                <a:cs typeface="Segoe UI" pitchFamily="34" charset="-120"/>
              </a:rPr>
              <a:t>RStudio</a:t>
            </a:r>
            <a:r>
              <a:rPr lang="es-CO" sz="1950" noProof="0" dirty="0">
                <a:solidFill>
                  <a:srgbClr val="3D3D3D"/>
                </a:solidFill>
                <a:latin typeface="Segoe UI" pitchFamily="34" charset="0"/>
                <a:ea typeface="Segoe UI" pitchFamily="34" charset="-122"/>
                <a:cs typeface="Segoe UI" pitchFamily="34" charset="-120"/>
              </a:rPr>
              <a:t> a nivel básico, estadística descriptiva, y fundamentos de gestión de inventarios (demanda, lead time, punto de reorden).</a:t>
            </a:r>
            <a:endParaRPr lang="es-CO" sz="1950" noProof="0" dirty="0"/>
          </a:p>
        </p:txBody>
      </p:sp>
      <p:sp>
        <p:nvSpPr>
          <p:cNvPr id="10" name="Text 8">
            <a:extLst>
              <a:ext uri="{FF2B5EF4-FFF2-40B4-BE49-F238E27FC236}">
                <a16:creationId xmlns:a16="http://schemas.microsoft.com/office/drawing/2014/main" id="{93AD8096-3152-18B7-A54A-B413E9FFED55}"/>
              </a:ext>
            </a:extLst>
          </p:cNvPr>
          <p:cNvSpPr/>
          <p:nvPr/>
        </p:nvSpPr>
        <p:spPr>
          <a:xfrm>
            <a:off x="1143000" y="9525000"/>
            <a:ext cx="5412720" cy="266700"/>
          </a:xfrm>
          <a:prstGeom prst="rect">
            <a:avLst/>
          </a:prstGeom>
          <a:noFill/>
          <a:ln/>
        </p:spPr>
        <p:txBody>
          <a:bodyPr wrap="square" lIns="25400" tIns="25400" rIns="25400" bIns="25400" rtlCol="0" anchor="t">
            <a:normAutofit/>
          </a:bodyPr>
          <a:lstStyle/>
          <a:p>
            <a:pPr marL="0" indent="0" algn="l">
              <a:buNone/>
            </a:pPr>
            <a:r>
              <a:rPr lang="es-CO" sz="1350" noProof="0" dirty="0">
                <a:solidFill>
                  <a:srgbClr val="6F6F6F"/>
                </a:solidFill>
                <a:latin typeface="Segoe UI" pitchFamily="34" charset="0"/>
                <a:ea typeface="Segoe UI" pitchFamily="34" charset="-122"/>
                <a:cs typeface="Segoe UI" pitchFamily="34" charset="-120"/>
              </a:rPr>
              <a:t>UTS · Cartilla de aprendizaje — Gestión Inteligente de Inventarios</a:t>
            </a:r>
            <a:endParaRPr lang="es-CO" sz="1350" noProof="0" dirty="0"/>
          </a:p>
        </p:txBody>
      </p:sp>
      <p:sp>
        <p:nvSpPr>
          <p:cNvPr id="11" name="Shape 9">
            <a:extLst>
              <a:ext uri="{FF2B5EF4-FFF2-40B4-BE49-F238E27FC236}">
                <a16:creationId xmlns:a16="http://schemas.microsoft.com/office/drawing/2014/main" id="{061D6D5E-4E7D-B87D-480B-1070E0906AFC}"/>
              </a:ext>
            </a:extLst>
          </p:cNvPr>
          <p:cNvSpPr/>
          <p:nvPr/>
        </p:nvSpPr>
        <p:spPr>
          <a:xfrm>
            <a:off x="16725900" y="9410700"/>
            <a:ext cx="419100" cy="419100"/>
          </a:xfrm>
          <a:prstGeom prst="ellipse">
            <a:avLst/>
          </a:prstGeom>
          <a:solidFill>
            <a:srgbClr val="7E2C8C"/>
          </a:solidFill>
          <a:ln/>
        </p:spPr>
        <p:txBody>
          <a:bodyPr/>
          <a:lstStyle/>
          <a:p>
            <a:endParaRPr lang="es-CO" noProof="0" dirty="0"/>
          </a:p>
        </p:txBody>
      </p:sp>
      <p:sp>
        <p:nvSpPr>
          <p:cNvPr id="12" name="Text 10">
            <a:extLst>
              <a:ext uri="{FF2B5EF4-FFF2-40B4-BE49-F238E27FC236}">
                <a16:creationId xmlns:a16="http://schemas.microsoft.com/office/drawing/2014/main" id="{3A32864A-28CD-C654-DAB1-866D3814FF83}"/>
              </a:ext>
            </a:extLst>
          </p:cNvPr>
          <p:cNvSpPr/>
          <p:nvPr/>
        </p:nvSpPr>
        <p:spPr>
          <a:xfrm>
            <a:off x="16687800" y="9410700"/>
            <a:ext cx="495300" cy="457200"/>
          </a:xfrm>
          <a:prstGeom prst="rect">
            <a:avLst/>
          </a:prstGeom>
          <a:noFill/>
          <a:ln/>
        </p:spPr>
        <p:txBody>
          <a:bodyPr wrap="square" lIns="25400" tIns="25400" rIns="25400" bIns="25400" rtlCol="0" anchor="ctr">
            <a:normAutofit/>
          </a:bodyPr>
          <a:lstStyle/>
          <a:p>
            <a:pPr marL="0" indent="0" algn="ctr">
              <a:buNone/>
            </a:pPr>
            <a:r>
              <a:rPr lang="es-CO" sz="1500" b="1" noProof="0" dirty="0">
                <a:solidFill>
                  <a:srgbClr val="FFFFFF"/>
                </a:solidFill>
                <a:latin typeface="Segoe UI" pitchFamily="34" charset="0"/>
                <a:ea typeface="Segoe UI" pitchFamily="34" charset="-122"/>
                <a:cs typeface="Segoe UI" pitchFamily="34" charset="-120"/>
              </a:rPr>
              <a:t>06</a:t>
            </a:r>
            <a:endParaRPr lang="es-CO" sz="1500" noProof="0" dirty="0"/>
          </a:p>
        </p:txBody>
      </p:sp>
      <p:sp>
        <p:nvSpPr>
          <p:cNvPr id="18" name="Text 1">
            <a:extLst>
              <a:ext uri="{FF2B5EF4-FFF2-40B4-BE49-F238E27FC236}">
                <a16:creationId xmlns:a16="http://schemas.microsoft.com/office/drawing/2014/main" id="{B2FDB265-D92A-0D0C-9D34-F789BF380D30}"/>
              </a:ext>
            </a:extLst>
          </p:cNvPr>
          <p:cNvSpPr/>
          <p:nvPr/>
        </p:nvSpPr>
        <p:spPr>
          <a:xfrm>
            <a:off x="1143000" y="5556250"/>
            <a:ext cx="5412721" cy="555624"/>
          </a:xfrm>
          <a:prstGeom prst="rect">
            <a:avLst/>
          </a:prstGeom>
          <a:noFill/>
          <a:ln>
            <a:noFill/>
          </a:ln>
        </p:spPr>
        <p:style>
          <a:lnRef idx="0">
            <a:scrgbClr r="0" g="0" b="0"/>
          </a:lnRef>
          <a:fillRef idx="0">
            <a:scrgbClr r="0" g="0" b="0"/>
          </a:fillRef>
          <a:effectRef idx="0">
            <a:scrgbClr r="0" g="0" b="0"/>
          </a:effectRef>
          <a:fontRef idx="minor">
            <a:schemeClr val="accent3"/>
          </a:fontRef>
        </p:style>
        <p:txBody>
          <a:bodyPr wrap="square" lIns="25400" tIns="25400" rIns="25400" bIns="25400" rtlCol="0" anchor="ctr">
            <a:normAutofit/>
          </a:bodyPr>
          <a:lstStyle/>
          <a:p>
            <a:pPr marL="0" indent="0" algn="l">
              <a:buNone/>
            </a:pPr>
            <a:r>
              <a:rPr lang="es-CO" b="1" kern="0" spc="81" noProof="0" dirty="0">
                <a:solidFill>
                  <a:srgbClr val="7E2C8C"/>
                </a:solidFill>
                <a:latin typeface="Segoe UI" pitchFamily="34" charset="0"/>
                <a:cs typeface="Segoe UI" pitchFamily="34" charset="-120"/>
              </a:rPr>
              <a:t>Solución: Construir un entorno simulado</a:t>
            </a:r>
            <a:endParaRPr lang="es-CO" noProof="0" dirty="0"/>
          </a:p>
        </p:txBody>
      </p:sp>
      <p:sp>
        <p:nvSpPr>
          <p:cNvPr id="30" name="Shape 4">
            <a:extLst>
              <a:ext uri="{FF2B5EF4-FFF2-40B4-BE49-F238E27FC236}">
                <a16:creationId xmlns:a16="http://schemas.microsoft.com/office/drawing/2014/main" id="{33F43E40-DE72-D11D-6B36-0A66597E4762}"/>
              </a:ext>
            </a:extLst>
          </p:cNvPr>
          <p:cNvSpPr/>
          <p:nvPr/>
        </p:nvSpPr>
        <p:spPr>
          <a:xfrm>
            <a:off x="1143000" y="6253319"/>
            <a:ext cx="9964492" cy="2508428"/>
          </a:xfrm>
          <a:prstGeom prst="roundRect">
            <a:avLst>
              <a:gd name="adj" fmla="val 10180"/>
            </a:avLst>
          </a:prstGeom>
          <a:solidFill>
            <a:srgbClr val="F4FADF"/>
          </a:solidFill>
          <a:ln/>
        </p:spPr>
        <p:txBody>
          <a:bodyPr/>
          <a:lstStyle/>
          <a:p>
            <a:endParaRPr lang="es-CO" noProof="0" dirty="0"/>
          </a:p>
        </p:txBody>
      </p:sp>
      <p:sp>
        <p:nvSpPr>
          <p:cNvPr id="20" name="Text 3">
            <a:extLst>
              <a:ext uri="{FF2B5EF4-FFF2-40B4-BE49-F238E27FC236}">
                <a16:creationId xmlns:a16="http://schemas.microsoft.com/office/drawing/2014/main" id="{160BED1E-F719-A24F-D1C5-D39BC0174D94}"/>
              </a:ext>
            </a:extLst>
          </p:cNvPr>
          <p:cNvSpPr/>
          <p:nvPr/>
        </p:nvSpPr>
        <p:spPr>
          <a:xfrm>
            <a:off x="1354964" y="6323347"/>
            <a:ext cx="9614535" cy="2438400"/>
          </a:xfrm>
          <a:prstGeom prst="rect">
            <a:avLst/>
          </a:prstGeom>
          <a:noFill/>
          <a:ln/>
        </p:spPr>
        <p:txBody>
          <a:bodyPr wrap="square" lIns="25400" tIns="25400" rIns="25400" bIns="25400" rtlCol="0" anchor="t">
            <a:normAutofit lnSpcReduction="10000"/>
          </a:bodyPr>
          <a:lstStyle/>
          <a:p>
            <a:pPr marL="0" indent="0" algn="l">
              <a:lnSpc>
                <a:spcPct val="120000"/>
              </a:lnSpc>
              <a:buNone/>
            </a:pPr>
            <a:r>
              <a:rPr lang="es-CO" sz="2250" noProof="0" dirty="0">
                <a:solidFill>
                  <a:srgbClr val="3D3D3D"/>
                </a:solidFill>
                <a:latin typeface="Segoe UI" pitchFamily="34" charset="0"/>
                <a:ea typeface="Segoe UI" pitchFamily="34" charset="-122"/>
                <a:cs typeface="Segoe UI" pitchFamily="34" charset="-120"/>
              </a:rPr>
              <a:t>Se construye un inventario simulado en el que se conocen previamente los parámetros reales del sistema, como la demanda, el lead time y la política de reabastecimiento. Esto permite, en las etapas posteriores, comparar qué tan bien los modelos predictivos logran aproximarse a esa realidad conocida, evaluando su capacidad para representar el comportamiento del sistema con precisión. </a:t>
            </a:r>
            <a:endParaRPr lang="es-CO" sz="2250" noProof="0" dirty="0">
              <a:solidFill>
                <a:srgbClr val="3D3D3D"/>
              </a:solidFill>
              <a:latin typeface="Segoe UI" pitchFamily="34" charset="0"/>
              <a:cs typeface="Segoe UI" pitchFamily="34" charset="-120"/>
            </a:endParaRPr>
          </a:p>
          <a:p>
            <a:pPr marL="0" indent="0" algn="l">
              <a:lnSpc>
                <a:spcPct val="120000"/>
              </a:lnSpc>
              <a:buNone/>
            </a:pPr>
            <a:endParaRPr lang="es-CO" sz="2250" noProof="0" dirty="0">
              <a:solidFill>
                <a:srgbClr val="3D3D3D"/>
              </a:solidFill>
              <a:latin typeface="Segoe UI" pitchFamily="34" charset="0"/>
              <a:cs typeface="Segoe UI" pitchFamily="34" charset="-120"/>
            </a:endParaRPr>
          </a:p>
        </p:txBody>
      </p:sp>
    </p:spTree>
    <p:extLst>
      <p:ext uri="{BB962C8B-B14F-4D97-AF65-F5344CB8AC3E}">
        <p14:creationId xmlns:p14="http://schemas.microsoft.com/office/powerpoint/2010/main" val="31557940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43000" y="838200"/>
            <a:ext cx="3807421" cy="419100"/>
          </a:xfrm>
          <a:prstGeom prst="roundRect">
            <a:avLst>
              <a:gd name="adj" fmla="val 50000"/>
            </a:avLst>
          </a:prstGeom>
          <a:solidFill>
            <a:srgbClr val="F4FADF"/>
          </a:solidFill>
          <a:ln/>
        </p:spPr>
        <p:txBody>
          <a:bodyPr/>
          <a:lstStyle/>
          <a:p>
            <a:endParaRPr lang="es-CO" noProof="0" dirty="0"/>
          </a:p>
        </p:txBody>
      </p:sp>
      <p:sp>
        <p:nvSpPr>
          <p:cNvPr id="3" name="Text 1"/>
          <p:cNvSpPr/>
          <p:nvPr/>
        </p:nvSpPr>
        <p:spPr>
          <a:xfrm>
            <a:off x="1352550" y="933450"/>
            <a:ext cx="3502543" cy="266700"/>
          </a:xfrm>
          <a:prstGeom prst="rect">
            <a:avLst/>
          </a:prstGeom>
          <a:noFill/>
          <a:ln/>
        </p:spPr>
        <p:txBody>
          <a:bodyPr wrap="square" lIns="25400" tIns="25400" rIns="25400" bIns="25400" rtlCol="0" anchor="ctr">
            <a:normAutofit fontScale="77500" lnSpcReduction="20000"/>
          </a:bodyPr>
          <a:lstStyle/>
          <a:p>
            <a:pPr marL="0" indent="0" algn="l">
              <a:buNone/>
            </a:pPr>
            <a:r>
              <a:rPr lang="es-CO" sz="1350" b="1" kern="0" spc="81" noProof="0" dirty="0">
                <a:solidFill>
                  <a:srgbClr val="7E2C8C"/>
                </a:solidFill>
                <a:latin typeface="Segoe UI" pitchFamily="34" charset="0"/>
                <a:ea typeface="Segoe UI" pitchFamily="34" charset="-122"/>
                <a:cs typeface="Segoe UI" pitchFamily="34" charset="-120"/>
              </a:rPr>
              <a:t>FASE 1 · DISEÑO DEL ENTORNO DE SIMULACIÓN</a:t>
            </a:r>
            <a:endParaRPr lang="es-CO" sz="1350" noProof="0" dirty="0"/>
          </a:p>
        </p:txBody>
      </p:sp>
      <p:sp>
        <p:nvSpPr>
          <p:cNvPr id="4" name="Text 2"/>
          <p:cNvSpPr/>
          <p:nvPr/>
        </p:nvSpPr>
        <p:spPr>
          <a:xfrm>
            <a:off x="1143000" y="1619250"/>
            <a:ext cx="14668500" cy="698500"/>
          </a:xfrm>
          <a:prstGeom prst="rect">
            <a:avLst/>
          </a:prstGeom>
          <a:noFill/>
          <a:ln/>
        </p:spPr>
        <p:txBody>
          <a:bodyPr wrap="square" lIns="25400" tIns="25400" rIns="25400" bIns="25400" rtlCol="0" anchor="t">
            <a:normAutofit/>
          </a:bodyPr>
          <a:lstStyle/>
          <a:p>
            <a:pPr marL="0" indent="0" algn="l">
              <a:buNone/>
            </a:pPr>
            <a:r>
              <a:rPr lang="es-CO" sz="3900" b="1" noProof="0" dirty="0">
                <a:solidFill>
                  <a:srgbClr val="3D3D3D"/>
                </a:solidFill>
                <a:latin typeface="Segoe UI" pitchFamily="34" charset="0"/>
                <a:ea typeface="Segoe UI" pitchFamily="34" charset="-122"/>
                <a:cs typeface="Segoe UI" pitchFamily="34" charset="-120"/>
              </a:rPr>
              <a:t>¿Qué es el catálogo maestro?</a:t>
            </a:r>
            <a:endParaRPr lang="es-CO" sz="3900" noProof="0" dirty="0"/>
          </a:p>
        </p:txBody>
      </p:sp>
      <p:sp>
        <p:nvSpPr>
          <p:cNvPr id="40" name="Text 38"/>
          <p:cNvSpPr/>
          <p:nvPr/>
        </p:nvSpPr>
        <p:spPr>
          <a:xfrm>
            <a:off x="1143000" y="9525000"/>
            <a:ext cx="5412720" cy="266700"/>
          </a:xfrm>
          <a:prstGeom prst="rect">
            <a:avLst/>
          </a:prstGeom>
          <a:noFill/>
          <a:ln/>
        </p:spPr>
        <p:txBody>
          <a:bodyPr wrap="square" lIns="25400" tIns="25400" rIns="25400" bIns="25400" rtlCol="0" anchor="t">
            <a:normAutofit/>
          </a:bodyPr>
          <a:lstStyle/>
          <a:p>
            <a:pPr marL="0" indent="0" algn="l">
              <a:buNone/>
            </a:pPr>
            <a:r>
              <a:rPr lang="es-CO" sz="1350" noProof="0" dirty="0">
                <a:solidFill>
                  <a:srgbClr val="6F6F6F"/>
                </a:solidFill>
                <a:latin typeface="Segoe UI" pitchFamily="34" charset="0"/>
                <a:ea typeface="Segoe UI" pitchFamily="34" charset="-122"/>
                <a:cs typeface="Segoe UI" pitchFamily="34" charset="-120"/>
              </a:rPr>
              <a:t>UTS · Cartilla de aprendizaje — Gestión Inteligente de Inventarios</a:t>
            </a:r>
            <a:endParaRPr lang="es-CO" sz="1350" noProof="0" dirty="0"/>
          </a:p>
        </p:txBody>
      </p:sp>
      <p:sp>
        <p:nvSpPr>
          <p:cNvPr id="41" name="Shape 39"/>
          <p:cNvSpPr/>
          <p:nvPr/>
        </p:nvSpPr>
        <p:spPr>
          <a:xfrm>
            <a:off x="16725900" y="9410700"/>
            <a:ext cx="419100" cy="419100"/>
          </a:xfrm>
          <a:prstGeom prst="ellipse">
            <a:avLst/>
          </a:prstGeom>
          <a:solidFill>
            <a:srgbClr val="7E2C8C"/>
          </a:solidFill>
          <a:ln/>
        </p:spPr>
        <p:txBody>
          <a:bodyPr/>
          <a:lstStyle/>
          <a:p>
            <a:endParaRPr lang="es-CO" noProof="0" dirty="0"/>
          </a:p>
        </p:txBody>
      </p:sp>
      <p:sp>
        <p:nvSpPr>
          <p:cNvPr id="42" name="Text 40"/>
          <p:cNvSpPr/>
          <p:nvPr/>
        </p:nvSpPr>
        <p:spPr>
          <a:xfrm>
            <a:off x="16687800" y="9410700"/>
            <a:ext cx="495300" cy="457200"/>
          </a:xfrm>
          <a:prstGeom prst="rect">
            <a:avLst/>
          </a:prstGeom>
          <a:noFill/>
          <a:ln/>
        </p:spPr>
        <p:txBody>
          <a:bodyPr wrap="square" lIns="25400" tIns="25400" rIns="25400" bIns="25400" rtlCol="0" anchor="ctr">
            <a:normAutofit/>
          </a:bodyPr>
          <a:lstStyle/>
          <a:p>
            <a:pPr marL="0" indent="0" algn="ctr">
              <a:buNone/>
            </a:pPr>
            <a:r>
              <a:rPr lang="es-CO" sz="1500" b="1" noProof="0" dirty="0">
                <a:solidFill>
                  <a:srgbClr val="FFFFFF"/>
                </a:solidFill>
                <a:latin typeface="Segoe UI" pitchFamily="34" charset="0"/>
                <a:ea typeface="Segoe UI" pitchFamily="34" charset="-122"/>
                <a:cs typeface="Segoe UI" pitchFamily="34" charset="-120"/>
              </a:rPr>
              <a:t>07</a:t>
            </a:r>
            <a:endParaRPr lang="es-CO" sz="1500" noProof="0" dirty="0"/>
          </a:p>
        </p:txBody>
      </p:sp>
      <p:sp>
        <p:nvSpPr>
          <p:cNvPr id="44" name="Text 3">
            <a:extLst>
              <a:ext uri="{FF2B5EF4-FFF2-40B4-BE49-F238E27FC236}">
                <a16:creationId xmlns:a16="http://schemas.microsoft.com/office/drawing/2014/main" id="{272B1AC3-5F26-B3AD-3968-65E617BB8B92}"/>
              </a:ext>
            </a:extLst>
          </p:cNvPr>
          <p:cNvSpPr/>
          <p:nvPr/>
        </p:nvSpPr>
        <p:spPr>
          <a:xfrm>
            <a:off x="1143000" y="3048000"/>
            <a:ext cx="9614535" cy="2438400"/>
          </a:xfrm>
          <a:prstGeom prst="rect">
            <a:avLst/>
          </a:prstGeom>
          <a:noFill/>
          <a:ln/>
        </p:spPr>
        <p:txBody>
          <a:bodyPr wrap="square" lIns="25400" tIns="25400" rIns="25400" bIns="25400" rtlCol="0" anchor="t">
            <a:normAutofit fontScale="85000" lnSpcReduction="10000"/>
          </a:bodyPr>
          <a:lstStyle/>
          <a:p>
            <a:pPr marL="0" indent="0" algn="l">
              <a:lnSpc>
                <a:spcPct val="120000"/>
              </a:lnSpc>
              <a:buNone/>
            </a:pPr>
            <a:r>
              <a:rPr lang="es-CO" sz="2250" noProof="0" dirty="0">
                <a:solidFill>
                  <a:srgbClr val="3D3D3D"/>
                </a:solidFill>
                <a:latin typeface="Segoe UI" pitchFamily="34" charset="0"/>
                <a:cs typeface="Segoe UI" pitchFamily="34" charset="-120"/>
              </a:rPr>
              <a:t>El catálogo maestro es la base sobre la que se construye el inventario simulado. Reúne las 120 referencias (SKU) del estudio y define los atributos estructurales de cada una, como el código, la familia (FER, EPP y HER), la subfamilia y la unidad de medida. A partir de esta información, el simulador asigna posteriormente los parámetros operativos de cada producto, como la rotación esperada, el costo, el margen y el tiempo de entrega (lead time). De esta manera, el catálogo proporciona una estructura organizada y consistente para representar el comportamiento del inventario durante la simulación.</a:t>
            </a:r>
          </a:p>
        </p:txBody>
      </p:sp>
      <p:sp>
        <p:nvSpPr>
          <p:cNvPr id="46" name="Text 1">
            <a:extLst>
              <a:ext uri="{FF2B5EF4-FFF2-40B4-BE49-F238E27FC236}">
                <a16:creationId xmlns:a16="http://schemas.microsoft.com/office/drawing/2014/main" id="{3FFF69DB-575D-176A-939F-CF439FD56AEA}"/>
              </a:ext>
            </a:extLst>
          </p:cNvPr>
          <p:cNvSpPr/>
          <p:nvPr/>
        </p:nvSpPr>
        <p:spPr>
          <a:xfrm>
            <a:off x="1143000" y="5556250"/>
            <a:ext cx="5412721" cy="555624"/>
          </a:xfrm>
          <a:prstGeom prst="rect">
            <a:avLst/>
          </a:prstGeom>
          <a:noFill/>
          <a:ln>
            <a:noFill/>
          </a:ln>
        </p:spPr>
        <p:style>
          <a:lnRef idx="0">
            <a:scrgbClr r="0" g="0" b="0"/>
          </a:lnRef>
          <a:fillRef idx="0">
            <a:scrgbClr r="0" g="0" b="0"/>
          </a:fillRef>
          <a:effectRef idx="0">
            <a:scrgbClr r="0" g="0" b="0"/>
          </a:effectRef>
          <a:fontRef idx="minor">
            <a:schemeClr val="accent3"/>
          </a:fontRef>
        </p:style>
        <p:txBody>
          <a:bodyPr wrap="square" lIns="25400" tIns="25400" rIns="25400" bIns="25400" rtlCol="0" anchor="ctr">
            <a:normAutofit/>
          </a:bodyPr>
          <a:lstStyle/>
          <a:p>
            <a:pPr marL="0" indent="0" algn="l">
              <a:buNone/>
            </a:pPr>
            <a:r>
              <a:rPr lang="es-CO" b="1" kern="0" spc="81" noProof="0" dirty="0">
                <a:solidFill>
                  <a:srgbClr val="7E2C8C"/>
                </a:solidFill>
                <a:latin typeface="Segoe UI" pitchFamily="34" charset="0"/>
                <a:cs typeface="Segoe UI" pitchFamily="34" charset="-120"/>
              </a:rPr>
              <a:t>¿De dónde provienen estos datos?</a:t>
            </a:r>
            <a:endParaRPr lang="es-CO" noProof="0" dirty="0"/>
          </a:p>
        </p:txBody>
      </p:sp>
      <p:sp>
        <p:nvSpPr>
          <p:cNvPr id="48" name="Text 3">
            <a:extLst>
              <a:ext uri="{FF2B5EF4-FFF2-40B4-BE49-F238E27FC236}">
                <a16:creationId xmlns:a16="http://schemas.microsoft.com/office/drawing/2014/main" id="{9F8A6551-D608-FF87-58AA-271AA96ED8A0}"/>
              </a:ext>
            </a:extLst>
          </p:cNvPr>
          <p:cNvSpPr/>
          <p:nvPr/>
        </p:nvSpPr>
        <p:spPr>
          <a:xfrm>
            <a:off x="1142999" y="6286500"/>
            <a:ext cx="10447987" cy="2438400"/>
          </a:xfrm>
          <a:prstGeom prst="rect">
            <a:avLst/>
          </a:prstGeom>
          <a:noFill/>
          <a:ln/>
        </p:spPr>
        <p:txBody>
          <a:bodyPr wrap="square" lIns="25400" tIns="25400" rIns="25400" bIns="25400" rtlCol="0" anchor="t">
            <a:normAutofit/>
          </a:bodyPr>
          <a:lstStyle/>
          <a:p>
            <a:pPr marL="0" indent="0" algn="l">
              <a:lnSpc>
                <a:spcPct val="120000"/>
              </a:lnSpc>
              <a:buNone/>
            </a:pPr>
            <a:r>
              <a:rPr lang="es-CO" sz="1900" noProof="0" dirty="0">
                <a:solidFill>
                  <a:srgbClr val="3D3D3D"/>
                </a:solidFill>
                <a:latin typeface="Segoe UI" pitchFamily="34" charset="0"/>
                <a:cs typeface="Segoe UI" pitchFamily="34" charset="-120"/>
              </a:rPr>
              <a:t>El catálogo maestro no se construyó a partir de una empresa real. Sus características y parámetros fueron definidos como parte del diseño metodológico de la investigación, tomando como referencia la literatura especializada en gestión de inventarios y las condiciones habituales del sector ferretero. Esto permite crear un entorno de simulación realista, controlado y reproducible, ideal para analizar el comportamiento del sistema y evaluar modelos predictivos en diferentes escenarios. </a:t>
            </a:r>
          </a:p>
        </p:txBody>
      </p:sp>
      <p:sp>
        <p:nvSpPr>
          <p:cNvPr id="50" name="Shape 4">
            <a:extLst>
              <a:ext uri="{FF2B5EF4-FFF2-40B4-BE49-F238E27FC236}">
                <a16:creationId xmlns:a16="http://schemas.microsoft.com/office/drawing/2014/main" id="{1FD0722E-EA54-6E6B-6340-BC353D6D154D}"/>
              </a:ext>
            </a:extLst>
          </p:cNvPr>
          <p:cNvSpPr/>
          <p:nvPr/>
        </p:nvSpPr>
        <p:spPr>
          <a:xfrm>
            <a:off x="12382500" y="3048000"/>
            <a:ext cx="4762500" cy="2994025"/>
          </a:xfrm>
          <a:prstGeom prst="roundRect">
            <a:avLst>
              <a:gd name="adj" fmla="val 10180"/>
            </a:avLst>
          </a:prstGeom>
          <a:solidFill>
            <a:srgbClr val="F4FADF"/>
          </a:solidFill>
          <a:ln/>
        </p:spPr>
        <p:txBody>
          <a:bodyPr/>
          <a:lstStyle/>
          <a:p>
            <a:endParaRPr lang="es-CO" noProof="0" dirty="0"/>
          </a:p>
        </p:txBody>
      </p:sp>
      <p:sp>
        <p:nvSpPr>
          <p:cNvPr id="52" name="Shape 5">
            <a:extLst>
              <a:ext uri="{FF2B5EF4-FFF2-40B4-BE49-F238E27FC236}">
                <a16:creationId xmlns:a16="http://schemas.microsoft.com/office/drawing/2014/main" id="{4653E7A6-DB86-3217-C2ED-18A2E17D08FF}"/>
              </a:ext>
            </a:extLst>
          </p:cNvPr>
          <p:cNvSpPr/>
          <p:nvPr/>
        </p:nvSpPr>
        <p:spPr>
          <a:xfrm>
            <a:off x="12763500" y="3429000"/>
            <a:ext cx="495300" cy="495300"/>
          </a:xfrm>
          <a:prstGeom prst="roundRect">
            <a:avLst>
              <a:gd name="adj" fmla="val 30769"/>
            </a:avLst>
          </a:prstGeom>
          <a:solidFill>
            <a:srgbClr val="B7D81A"/>
          </a:solidFill>
          <a:ln/>
        </p:spPr>
        <p:txBody>
          <a:bodyPr/>
          <a:lstStyle/>
          <a:p>
            <a:endParaRPr lang="es-CO" noProof="0" dirty="0"/>
          </a:p>
        </p:txBody>
      </p:sp>
      <p:sp>
        <p:nvSpPr>
          <p:cNvPr id="54" name="Text 6">
            <a:extLst>
              <a:ext uri="{FF2B5EF4-FFF2-40B4-BE49-F238E27FC236}">
                <a16:creationId xmlns:a16="http://schemas.microsoft.com/office/drawing/2014/main" id="{CD09C728-5CAE-B3C6-4189-E3EF2A209AE2}"/>
              </a:ext>
            </a:extLst>
          </p:cNvPr>
          <p:cNvSpPr/>
          <p:nvPr/>
        </p:nvSpPr>
        <p:spPr>
          <a:xfrm>
            <a:off x="12782550" y="4060200"/>
            <a:ext cx="4400550" cy="317500"/>
          </a:xfrm>
          <a:prstGeom prst="rect">
            <a:avLst/>
          </a:prstGeom>
          <a:noFill/>
          <a:ln/>
        </p:spPr>
        <p:txBody>
          <a:bodyPr wrap="square" lIns="25400" tIns="25400" rIns="25400" bIns="25400" rtlCol="0" anchor="t">
            <a:noAutofit/>
          </a:bodyPr>
          <a:lstStyle/>
          <a:p>
            <a:pPr marL="0" indent="0" algn="l">
              <a:buNone/>
            </a:pPr>
            <a:r>
              <a:rPr lang="es-CO" sz="2000" b="1" noProof="0" dirty="0">
                <a:solidFill>
                  <a:srgbClr val="7E2C8C"/>
                </a:solidFill>
                <a:latin typeface="Segoe UI" pitchFamily="34" charset="0"/>
                <a:ea typeface="Segoe UI" pitchFamily="34" charset="-122"/>
                <a:cs typeface="Segoe UI" pitchFamily="34" charset="-120"/>
              </a:rPr>
              <a:t>Términos clave</a:t>
            </a:r>
            <a:endParaRPr lang="es-CO" sz="2000" noProof="0" dirty="0"/>
          </a:p>
        </p:txBody>
      </p:sp>
      <p:sp>
        <p:nvSpPr>
          <p:cNvPr id="56" name="Text 7">
            <a:extLst>
              <a:ext uri="{FF2B5EF4-FFF2-40B4-BE49-F238E27FC236}">
                <a16:creationId xmlns:a16="http://schemas.microsoft.com/office/drawing/2014/main" id="{0E634BF7-694B-7CF9-941F-A944E7CB8A58}"/>
              </a:ext>
            </a:extLst>
          </p:cNvPr>
          <p:cNvSpPr/>
          <p:nvPr/>
        </p:nvSpPr>
        <p:spPr>
          <a:xfrm>
            <a:off x="13392148" y="4492626"/>
            <a:ext cx="2324637" cy="393699"/>
          </a:xfrm>
          <a:prstGeom prst="rect">
            <a:avLst/>
          </a:prstGeom>
          <a:noFill/>
          <a:ln/>
        </p:spPr>
        <p:txBody>
          <a:bodyPr wrap="square" lIns="25400" tIns="25400" rIns="25400" bIns="25400" rtlCol="0" anchor="t">
            <a:normAutofit/>
          </a:bodyPr>
          <a:lstStyle/>
          <a:p>
            <a:pPr marL="0" indent="0" algn="l">
              <a:lnSpc>
                <a:spcPct val="112500"/>
              </a:lnSpc>
              <a:buNone/>
            </a:pPr>
            <a:r>
              <a:rPr lang="es-CO" sz="1950" noProof="0" dirty="0"/>
              <a:t>Ferretería</a:t>
            </a:r>
          </a:p>
        </p:txBody>
      </p:sp>
      <p:sp>
        <p:nvSpPr>
          <p:cNvPr id="60" name="Text 6">
            <a:extLst>
              <a:ext uri="{FF2B5EF4-FFF2-40B4-BE49-F238E27FC236}">
                <a16:creationId xmlns:a16="http://schemas.microsoft.com/office/drawing/2014/main" id="{94FB2572-82C1-E99B-3696-FA3798D3B079}"/>
              </a:ext>
            </a:extLst>
          </p:cNvPr>
          <p:cNvSpPr/>
          <p:nvPr/>
        </p:nvSpPr>
        <p:spPr>
          <a:xfrm>
            <a:off x="12782550" y="4579065"/>
            <a:ext cx="476250" cy="317500"/>
          </a:xfrm>
          <a:prstGeom prst="rect">
            <a:avLst/>
          </a:prstGeom>
          <a:noFill/>
          <a:ln/>
        </p:spPr>
        <p:txBody>
          <a:bodyPr wrap="square" lIns="25400" tIns="25400" rIns="25400" bIns="25400" rtlCol="0" anchor="t">
            <a:normAutofit/>
          </a:bodyPr>
          <a:lstStyle/>
          <a:p>
            <a:pPr marL="0" indent="0" algn="l">
              <a:buNone/>
            </a:pPr>
            <a:r>
              <a:rPr lang="es-CO" sz="1650" b="1" noProof="0" dirty="0">
                <a:solidFill>
                  <a:srgbClr val="7E2C8C"/>
                </a:solidFill>
                <a:latin typeface="Segoe UI" pitchFamily="34" charset="0"/>
                <a:ea typeface="Segoe UI" pitchFamily="34" charset="-122"/>
                <a:cs typeface="Segoe UI" pitchFamily="34" charset="-120"/>
              </a:rPr>
              <a:t>FER: </a:t>
            </a:r>
            <a:endParaRPr lang="es-CO" sz="1650" noProof="0" dirty="0"/>
          </a:p>
        </p:txBody>
      </p:sp>
      <p:sp>
        <p:nvSpPr>
          <p:cNvPr id="64" name="Text 6">
            <a:extLst>
              <a:ext uri="{FF2B5EF4-FFF2-40B4-BE49-F238E27FC236}">
                <a16:creationId xmlns:a16="http://schemas.microsoft.com/office/drawing/2014/main" id="{34B18F10-2033-0A1E-80F5-7E6C587AC495}"/>
              </a:ext>
            </a:extLst>
          </p:cNvPr>
          <p:cNvSpPr/>
          <p:nvPr/>
        </p:nvSpPr>
        <p:spPr>
          <a:xfrm>
            <a:off x="12782550" y="4984750"/>
            <a:ext cx="476250" cy="317500"/>
          </a:xfrm>
          <a:prstGeom prst="rect">
            <a:avLst/>
          </a:prstGeom>
          <a:noFill/>
          <a:ln/>
        </p:spPr>
        <p:txBody>
          <a:bodyPr wrap="square" lIns="25400" tIns="25400" rIns="25400" bIns="25400" rtlCol="0" anchor="t">
            <a:normAutofit/>
          </a:bodyPr>
          <a:lstStyle/>
          <a:p>
            <a:pPr marL="0" indent="0" algn="l">
              <a:buNone/>
            </a:pPr>
            <a:r>
              <a:rPr lang="es-CO" sz="1650" b="1" noProof="0" dirty="0">
                <a:solidFill>
                  <a:srgbClr val="7E2C8C"/>
                </a:solidFill>
                <a:latin typeface="Segoe UI" pitchFamily="34" charset="0"/>
                <a:ea typeface="Segoe UI" pitchFamily="34" charset="-122"/>
                <a:cs typeface="Segoe UI" pitchFamily="34" charset="-120"/>
              </a:rPr>
              <a:t>EPP: </a:t>
            </a:r>
            <a:endParaRPr lang="es-CO" sz="1650" noProof="0" dirty="0"/>
          </a:p>
        </p:txBody>
      </p:sp>
      <p:sp>
        <p:nvSpPr>
          <p:cNvPr id="66" name="Text 6">
            <a:extLst>
              <a:ext uri="{FF2B5EF4-FFF2-40B4-BE49-F238E27FC236}">
                <a16:creationId xmlns:a16="http://schemas.microsoft.com/office/drawing/2014/main" id="{B948BB12-2979-E2A8-27C8-23C3BC6CD9E7}"/>
              </a:ext>
            </a:extLst>
          </p:cNvPr>
          <p:cNvSpPr/>
          <p:nvPr/>
        </p:nvSpPr>
        <p:spPr>
          <a:xfrm>
            <a:off x="12773025" y="5390435"/>
            <a:ext cx="476250" cy="317500"/>
          </a:xfrm>
          <a:prstGeom prst="rect">
            <a:avLst/>
          </a:prstGeom>
          <a:noFill/>
          <a:ln/>
        </p:spPr>
        <p:txBody>
          <a:bodyPr wrap="square" lIns="25400" tIns="25400" rIns="25400" bIns="25400" rtlCol="0" anchor="t">
            <a:normAutofit fontScale="92500"/>
          </a:bodyPr>
          <a:lstStyle/>
          <a:p>
            <a:pPr marL="0" indent="0" algn="l">
              <a:buNone/>
            </a:pPr>
            <a:r>
              <a:rPr lang="es-CO" sz="1650" b="1" noProof="0" dirty="0">
                <a:solidFill>
                  <a:srgbClr val="7E2C8C"/>
                </a:solidFill>
                <a:latin typeface="Segoe UI" pitchFamily="34" charset="0"/>
                <a:ea typeface="Segoe UI" pitchFamily="34" charset="-122"/>
                <a:cs typeface="Segoe UI" pitchFamily="34" charset="-120"/>
              </a:rPr>
              <a:t>HER: </a:t>
            </a:r>
            <a:endParaRPr lang="es-CO" sz="1650" noProof="0" dirty="0"/>
          </a:p>
        </p:txBody>
      </p:sp>
      <p:sp>
        <p:nvSpPr>
          <p:cNvPr id="68" name="Text 7">
            <a:extLst>
              <a:ext uri="{FF2B5EF4-FFF2-40B4-BE49-F238E27FC236}">
                <a16:creationId xmlns:a16="http://schemas.microsoft.com/office/drawing/2014/main" id="{8DCD35D2-0E0B-EFC4-0230-68B31CC6B741}"/>
              </a:ext>
            </a:extLst>
          </p:cNvPr>
          <p:cNvSpPr/>
          <p:nvPr/>
        </p:nvSpPr>
        <p:spPr>
          <a:xfrm>
            <a:off x="13392149" y="4908551"/>
            <a:ext cx="3790951" cy="577849"/>
          </a:xfrm>
          <a:prstGeom prst="rect">
            <a:avLst/>
          </a:prstGeom>
          <a:noFill/>
          <a:ln/>
        </p:spPr>
        <p:txBody>
          <a:bodyPr wrap="square" lIns="25400" tIns="25400" rIns="25400" bIns="25400" rtlCol="0" anchor="t">
            <a:normAutofit/>
          </a:bodyPr>
          <a:lstStyle/>
          <a:p>
            <a:pPr marL="0" indent="0" algn="l">
              <a:lnSpc>
                <a:spcPct val="112500"/>
              </a:lnSpc>
              <a:buNone/>
            </a:pPr>
            <a:r>
              <a:rPr lang="es-CO" sz="1900" noProof="0" dirty="0"/>
              <a:t>Elementos de protección Personal</a:t>
            </a:r>
          </a:p>
        </p:txBody>
      </p:sp>
      <p:sp>
        <p:nvSpPr>
          <p:cNvPr id="70" name="Text 7">
            <a:extLst>
              <a:ext uri="{FF2B5EF4-FFF2-40B4-BE49-F238E27FC236}">
                <a16:creationId xmlns:a16="http://schemas.microsoft.com/office/drawing/2014/main" id="{7EBF0096-7A12-026E-1B5C-4A85EC69E089}"/>
              </a:ext>
            </a:extLst>
          </p:cNvPr>
          <p:cNvSpPr/>
          <p:nvPr/>
        </p:nvSpPr>
        <p:spPr>
          <a:xfrm>
            <a:off x="13411199" y="5314236"/>
            <a:ext cx="2324637" cy="317501"/>
          </a:xfrm>
          <a:prstGeom prst="rect">
            <a:avLst/>
          </a:prstGeom>
          <a:noFill/>
          <a:ln/>
        </p:spPr>
        <p:txBody>
          <a:bodyPr wrap="square" lIns="25400" tIns="25400" rIns="25400" bIns="25400" rtlCol="0" anchor="t">
            <a:noAutofit/>
          </a:bodyPr>
          <a:lstStyle/>
          <a:p>
            <a:pPr marL="0" indent="0" algn="l">
              <a:lnSpc>
                <a:spcPct val="112500"/>
              </a:lnSpc>
              <a:buNone/>
            </a:pPr>
            <a:r>
              <a:rPr lang="es-CO" sz="1900" noProof="0" dirty="0"/>
              <a:t>Herramientas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43000" y="838200"/>
            <a:ext cx="3914974" cy="419100"/>
          </a:xfrm>
          <a:prstGeom prst="roundRect">
            <a:avLst>
              <a:gd name="adj" fmla="val 50000"/>
            </a:avLst>
          </a:prstGeom>
          <a:solidFill>
            <a:srgbClr val="F4FADF"/>
          </a:solidFill>
          <a:ln/>
        </p:spPr>
        <p:txBody>
          <a:bodyPr/>
          <a:lstStyle/>
          <a:p>
            <a:endParaRPr lang="es-CO" noProof="0" dirty="0"/>
          </a:p>
        </p:txBody>
      </p:sp>
      <p:sp>
        <p:nvSpPr>
          <p:cNvPr id="3" name="Text 1"/>
          <p:cNvSpPr/>
          <p:nvPr/>
        </p:nvSpPr>
        <p:spPr>
          <a:xfrm>
            <a:off x="1352550" y="933450"/>
            <a:ext cx="3613323" cy="266700"/>
          </a:xfrm>
          <a:prstGeom prst="rect">
            <a:avLst/>
          </a:prstGeom>
          <a:noFill/>
          <a:ln/>
        </p:spPr>
        <p:txBody>
          <a:bodyPr wrap="square" lIns="25400" tIns="25400" rIns="25400" bIns="25400" rtlCol="0" anchor="ctr">
            <a:normAutofit fontScale="77500" lnSpcReduction="20000"/>
          </a:bodyPr>
          <a:lstStyle/>
          <a:p>
            <a:pPr marL="0" indent="0" algn="l">
              <a:buNone/>
            </a:pPr>
            <a:r>
              <a:rPr lang="es-CO" sz="1350" b="1" kern="0" spc="81" noProof="0" dirty="0">
                <a:solidFill>
                  <a:srgbClr val="7E2C8C"/>
                </a:solidFill>
                <a:latin typeface="Segoe UI" pitchFamily="34" charset="0"/>
                <a:ea typeface="Segoe UI" pitchFamily="34" charset="-122"/>
                <a:cs typeface="Segoe UI" pitchFamily="34" charset="-120"/>
              </a:rPr>
              <a:t>FASE 1 · DISEÑO DEL ENTORNO DE SIMULACIÓN</a:t>
            </a:r>
            <a:endParaRPr lang="es-CO" sz="1350" noProof="0" dirty="0"/>
          </a:p>
        </p:txBody>
      </p:sp>
      <p:sp>
        <p:nvSpPr>
          <p:cNvPr id="4" name="Text 2"/>
          <p:cNvSpPr/>
          <p:nvPr/>
        </p:nvSpPr>
        <p:spPr>
          <a:xfrm>
            <a:off x="1143000" y="1619250"/>
            <a:ext cx="14668500" cy="698500"/>
          </a:xfrm>
          <a:prstGeom prst="rect">
            <a:avLst/>
          </a:prstGeom>
          <a:noFill/>
          <a:ln/>
        </p:spPr>
        <p:txBody>
          <a:bodyPr wrap="square" lIns="25400" tIns="25400" rIns="25400" bIns="25400" rtlCol="0" anchor="t">
            <a:normAutofit/>
          </a:bodyPr>
          <a:lstStyle/>
          <a:p>
            <a:pPr marL="0" indent="0" algn="l">
              <a:buNone/>
            </a:pPr>
            <a:r>
              <a:rPr lang="es-CO" sz="3900" b="1" noProof="0" dirty="0">
                <a:solidFill>
                  <a:srgbClr val="3D3D3D"/>
                </a:solidFill>
                <a:latin typeface="Segoe UI" pitchFamily="34" charset="0"/>
                <a:ea typeface="Segoe UI" pitchFamily="34" charset="-122"/>
                <a:cs typeface="Segoe UI" pitchFamily="34" charset="-120"/>
              </a:rPr>
              <a:t>Arquitectura del simulador</a:t>
            </a:r>
            <a:endParaRPr lang="es-CO" sz="3900" noProof="0" dirty="0"/>
          </a:p>
        </p:txBody>
      </p:sp>
      <p:sp>
        <p:nvSpPr>
          <p:cNvPr id="5" name="Shape 3"/>
          <p:cNvSpPr/>
          <p:nvPr/>
        </p:nvSpPr>
        <p:spPr>
          <a:xfrm>
            <a:off x="1143000" y="4381500"/>
            <a:ext cx="3429000" cy="1238250"/>
          </a:xfrm>
          <a:prstGeom prst="rect">
            <a:avLst/>
          </a:prstGeom>
          <a:solidFill>
            <a:srgbClr val="7E2C8C"/>
          </a:solidFill>
          <a:ln/>
        </p:spPr>
        <p:txBody>
          <a:bodyPr/>
          <a:lstStyle/>
          <a:p>
            <a:endParaRPr lang="es-CO" noProof="0" dirty="0"/>
          </a:p>
        </p:txBody>
      </p:sp>
      <p:sp>
        <p:nvSpPr>
          <p:cNvPr id="6" name="Text 4"/>
          <p:cNvSpPr/>
          <p:nvPr/>
        </p:nvSpPr>
        <p:spPr>
          <a:xfrm>
            <a:off x="1377315" y="4381500"/>
            <a:ext cx="2960370" cy="1276350"/>
          </a:xfrm>
          <a:prstGeom prst="rect">
            <a:avLst/>
          </a:prstGeom>
          <a:noFill/>
          <a:ln/>
        </p:spPr>
        <p:txBody>
          <a:bodyPr wrap="square" lIns="25400" tIns="25400" rIns="25400" bIns="25400" rtlCol="0" anchor="ctr">
            <a:normAutofit/>
          </a:bodyPr>
          <a:lstStyle/>
          <a:p>
            <a:pPr marL="0" indent="0" algn="ctr">
              <a:buNone/>
            </a:pPr>
            <a:r>
              <a:rPr lang="es-CO" sz="1650" b="1" noProof="0" dirty="0">
                <a:solidFill>
                  <a:srgbClr val="FFFFFF"/>
                </a:solidFill>
                <a:latin typeface="Segoe UI" pitchFamily="34" charset="0"/>
                <a:ea typeface="Segoe UI" pitchFamily="34" charset="-122"/>
                <a:cs typeface="Segoe UI" pitchFamily="34" charset="-120"/>
              </a:rPr>
              <a:t>Catálogo</a:t>
            </a:r>
            <a:endParaRPr lang="es-CO" sz="1650" noProof="0" dirty="0"/>
          </a:p>
        </p:txBody>
      </p:sp>
      <p:sp>
        <p:nvSpPr>
          <p:cNvPr id="7" name="Shape 5"/>
          <p:cNvSpPr/>
          <p:nvPr/>
        </p:nvSpPr>
        <p:spPr>
          <a:xfrm>
            <a:off x="3810000" y="4381500"/>
            <a:ext cx="3619500" cy="1238250"/>
          </a:xfrm>
          <a:prstGeom prst="rect">
            <a:avLst/>
          </a:prstGeom>
          <a:solidFill>
            <a:srgbClr val="A867B5"/>
          </a:solidFill>
          <a:ln/>
        </p:spPr>
        <p:txBody>
          <a:bodyPr/>
          <a:lstStyle/>
          <a:p>
            <a:endParaRPr lang="es-CO" noProof="0" dirty="0"/>
          </a:p>
        </p:txBody>
      </p:sp>
      <p:sp>
        <p:nvSpPr>
          <p:cNvPr id="8" name="Text 6"/>
          <p:cNvSpPr/>
          <p:nvPr/>
        </p:nvSpPr>
        <p:spPr>
          <a:xfrm>
            <a:off x="4136708" y="4381500"/>
            <a:ext cx="2966085" cy="1276350"/>
          </a:xfrm>
          <a:prstGeom prst="rect">
            <a:avLst/>
          </a:prstGeom>
          <a:noFill/>
          <a:ln/>
        </p:spPr>
        <p:txBody>
          <a:bodyPr wrap="square" lIns="25400" tIns="25400" rIns="25400" bIns="25400" rtlCol="0" anchor="ctr">
            <a:normAutofit/>
          </a:bodyPr>
          <a:lstStyle/>
          <a:p>
            <a:pPr marL="0" indent="0" algn="ctr">
              <a:buNone/>
            </a:pPr>
            <a:r>
              <a:rPr lang="es-CO" sz="1650" b="1" noProof="0" dirty="0">
                <a:solidFill>
                  <a:srgbClr val="FFFFFF"/>
                </a:solidFill>
                <a:latin typeface="Segoe UI" pitchFamily="34" charset="0"/>
                <a:ea typeface="Segoe UI" pitchFamily="34" charset="-122"/>
                <a:cs typeface="Segoe UI" pitchFamily="34" charset="-120"/>
              </a:rPr>
              <a:t>Atributos</a:t>
            </a:r>
            <a:endParaRPr lang="es-CO" sz="1650" noProof="0" dirty="0"/>
          </a:p>
        </p:txBody>
      </p:sp>
      <p:sp>
        <p:nvSpPr>
          <p:cNvPr id="9" name="Shape 7"/>
          <p:cNvSpPr/>
          <p:nvPr/>
        </p:nvSpPr>
        <p:spPr>
          <a:xfrm>
            <a:off x="6477000" y="4381500"/>
            <a:ext cx="3619500" cy="1238250"/>
          </a:xfrm>
          <a:prstGeom prst="rect">
            <a:avLst/>
          </a:prstGeom>
          <a:solidFill>
            <a:srgbClr val="B7D81A"/>
          </a:solidFill>
          <a:ln/>
        </p:spPr>
        <p:txBody>
          <a:bodyPr/>
          <a:lstStyle/>
          <a:p>
            <a:endParaRPr lang="es-CO" noProof="0" dirty="0"/>
          </a:p>
        </p:txBody>
      </p:sp>
      <p:sp>
        <p:nvSpPr>
          <p:cNvPr id="10" name="Text 8"/>
          <p:cNvSpPr/>
          <p:nvPr/>
        </p:nvSpPr>
        <p:spPr>
          <a:xfrm>
            <a:off x="6803708" y="4381500"/>
            <a:ext cx="2966085" cy="1276350"/>
          </a:xfrm>
          <a:prstGeom prst="rect">
            <a:avLst/>
          </a:prstGeom>
          <a:noFill/>
          <a:ln/>
        </p:spPr>
        <p:txBody>
          <a:bodyPr wrap="square" lIns="25400" tIns="25400" rIns="25400" bIns="25400" rtlCol="0" anchor="ctr">
            <a:normAutofit/>
          </a:bodyPr>
          <a:lstStyle/>
          <a:p>
            <a:pPr marL="0" indent="0" algn="ctr">
              <a:buNone/>
            </a:pPr>
            <a:r>
              <a:rPr lang="es-CO" sz="1650" b="1" noProof="0" dirty="0">
                <a:solidFill>
                  <a:srgbClr val="3D3D3D"/>
                </a:solidFill>
                <a:latin typeface="Segoe UI" pitchFamily="34" charset="0"/>
                <a:ea typeface="Segoe UI" pitchFamily="34" charset="-122"/>
                <a:cs typeface="Segoe UI" pitchFamily="34" charset="-120"/>
              </a:rPr>
              <a:t>Política (s, S)</a:t>
            </a:r>
            <a:endParaRPr lang="es-CO" sz="1650" noProof="0" dirty="0"/>
          </a:p>
        </p:txBody>
      </p:sp>
      <p:sp>
        <p:nvSpPr>
          <p:cNvPr id="11" name="Shape 9"/>
          <p:cNvSpPr/>
          <p:nvPr/>
        </p:nvSpPr>
        <p:spPr>
          <a:xfrm>
            <a:off x="9144000" y="4381500"/>
            <a:ext cx="3619500" cy="1238250"/>
          </a:xfrm>
          <a:prstGeom prst="rect">
            <a:avLst/>
          </a:prstGeom>
          <a:solidFill>
            <a:srgbClr val="DDF28A"/>
          </a:solidFill>
          <a:ln/>
        </p:spPr>
        <p:txBody>
          <a:bodyPr/>
          <a:lstStyle/>
          <a:p>
            <a:endParaRPr lang="es-CO" noProof="0" dirty="0"/>
          </a:p>
        </p:txBody>
      </p:sp>
      <p:sp>
        <p:nvSpPr>
          <p:cNvPr id="12" name="Text 10"/>
          <p:cNvSpPr/>
          <p:nvPr/>
        </p:nvSpPr>
        <p:spPr>
          <a:xfrm>
            <a:off x="9470708" y="4381500"/>
            <a:ext cx="2966085" cy="1276350"/>
          </a:xfrm>
          <a:prstGeom prst="rect">
            <a:avLst/>
          </a:prstGeom>
          <a:noFill/>
          <a:ln/>
        </p:spPr>
        <p:txBody>
          <a:bodyPr wrap="square" lIns="25400" tIns="25400" rIns="25400" bIns="25400" rtlCol="0" anchor="ctr">
            <a:normAutofit/>
          </a:bodyPr>
          <a:lstStyle/>
          <a:p>
            <a:pPr marL="0" indent="0" algn="ctr">
              <a:buNone/>
            </a:pPr>
            <a:r>
              <a:rPr lang="es-CO" sz="1650" b="1" noProof="0" dirty="0">
                <a:solidFill>
                  <a:srgbClr val="3D3D3D"/>
                </a:solidFill>
                <a:latin typeface="Segoe UI" pitchFamily="34" charset="0"/>
                <a:ea typeface="Segoe UI" pitchFamily="34" charset="-122"/>
                <a:cs typeface="Segoe UI" pitchFamily="34" charset="-120"/>
              </a:rPr>
              <a:t>Simulación</a:t>
            </a:r>
            <a:endParaRPr lang="es-CO" sz="1650" noProof="0" dirty="0"/>
          </a:p>
        </p:txBody>
      </p:sp>
      <p:sp>
        <p:nvSpPr>
          <p:cNvPr id="13" name="Shape 11"/>
          <p:cNvSpPr/>
          <p:nvPr/>
        </p:nvSpPr>
        <p:spPr>
          <a:xfrm>
            <a:off x="11811000" y="4381500"/>
            <a:ext cx="3810000" cy="1238250"/>
          </a:xfrm>
          <a:prstGeom prst="rect">
            <a:avLst/>
          </a:prstGeom>
          <a:solidFill>
            <a:srgbClr val="3D3D3D"/>
          </a:solidFill>
          <a:ln/>
        </p:spPr>
        <p:txBody>
          <a:bodyPr/>
          <a:lstStyle/>
          <a:p>
            <a:endParaRPr lang="es-CO" noProof="0" dirty="0"/>
          </a:p>
        </p:txBody>
      </p:sp>
      <p:sp>
        <p:nvSpPr>
          <p:cNvPr id="14" name="Text 12"/>
          <p:cNvSpPr/>
          <p:nvPr/>
        </p:nvSpPr>
        <p:spPr>
          <a:xfrm>
            <a:off x="12134850" y="4381500"/>
            <a:ext cx="3162300" cy="1276350"/>
          </a:xfrm>
          <a:prstGeom prst="rect">
            <a:avLst/>
          </a:prstGeom>
          <a:noFill/>
          <a:ln/>
        </p:spPr>
        <p:txBody>
          <a:bodyPr wrap="square" lIns="25400" tIns="25400" rIns="25400" bIns="25400" rtlCol="0" anchor="ctr">
            <a:normAutofit/>
          </a:bodyPr>
          <a:lstStyle/>
          <a:p>
            <a:pPr marL="0" indent="0" algn="ctr">
              <a:buNone/>
            </a:pPr>
            <a:r>
              <a:rPr lang="es-CO" sz="1650" b="1" noProof="0" dirty="0">
                <a:solidFill>
                  <a:srgbClr val="FFFFFF"/>
                </a:solidFill>
                <a:latin typeface="Segoe UI" pitchFamily="34" charset="0"/>
                <a:ea typeface="Segoe UI" pitchFamily="34" charset="-122"/>
                <a:cs typeface="Segoe UI" pitchFamily="34" charset="-120"/>
              </a:rPr>
              <a:t>Exportación CSV</a:t>
            </a:r>
            <a:endParaRPr lang="es-CO" sz="1650" noProof="0" dirty="0"/>
          </a:p>
        </p:txBody>
      </p:sp>
      <p:sp>
        <p:nvSpPr>
          <p:cNvPr id="15" name="Text 13"/>
          <p:cNvSpPr/>
          <p:nvPr/>
        </p:nvSpPr>
        <p:spPr>
          <a:xfrm>
            <a:off x="1143000" y="6286500"/>
            <a:ext cx="14127480" cy="723900"/>
          </a:xfrm>
          <a:prstGeom prst="rect">
            <a:avLst/>
          </a:prstGeom>
          <a:noFill/>
          <a:ln/>
        </p:spPr>
        <p:txBody>
          <a:bodyPr wrap="square" lIns="25400" tIns="25400" rIns="25400" bIns="25400" rtlCol="0" anchor="t">
            <a:normAutofit/>
          </a:bodyPr>
          <a:lstStyle/>
          <a:p>
            <a:pPr marL="0" indent="0" algn="l">
              <a:lnSpc>
                <a:spcPct val="112500"/>
              </a:lnSpc>
              <a:buNone/>
            </a:pPr>
            <a:r>
              <a:rPr lang="es-CO" sz="1800" noProof="0" dirty="0">
                <a:solidFill>
                  <a:srgbClr val="6F6F6F"/>
                </a:solidFill>
                <a:latin typeface="Segoe UI" pitchFamily="34" charset="0"/>
                <a:ea typeface="Segoe UI" pitchFamily="34" charset="-122"/>
                <a:cs typeface="Segoe UI" pitchFamily="34" charset="-120"/>
              </a:rPr>
              <a:t>Cada etapa construye sobre la anterior: los atributos estáticos de cada SKU determinan su clasificación ABC, la cual fija los parámetros de la política (s, S) que gobierna la simulación semana a semana.</a:t>
            </a:r>
            <a:endParaRPr lang="es-CO" sz="1800" noProof="0" dirty="0"/>
          </a:p>
        </p:txBody>
      </p:sp>
      <p:sp>
        <p:nvSpPr>
          <p:cNvPr id="16" name="Text 14"/>
          <p:cNvSpPr/>
          <p:nvPr/>
        </p:nvSpPr>
        <p:spPr>
          <a:xfrm>
            <a:off x="1143000" y="9525000"/>
            <a:ext cx="5412720" cy="266700"/>
          </a:xfrm>
          <a:prstGeom prst="rect">
            <a:avLst/>
          </a:prstGeom>
          <a:noFill/>
          <a:ln/>
        </p:spPr>
        <p:txBody>
          <a:bodyPr wrap="square" lIns="25400" tIns="25400" rIns="25400" bIns="25400" rtlCol="0" anchor="t">
            <a:normAutofit/>
          </a:bodyPr>
          <a:lstStyle/>
          <a:p>
            <a:pPr marL="0" indent="0" algn="l">
              <a:buNone/>
            </a:pPr>
            <a:r>
              <a:rPr lang="es-CO" sz="1350" noProof="0" dirty="0">
                <a:solidFill>
                  <a:srgbClr val="6F6F6F"/>
                </a:solidFill>
                <a:latin typeface="Segoe UI" pitchFamily="34" charset="0"/>
                <a:ea typeface="Segoe UI" pitchFamily="34" charset="-122"/>
                <a:cs typeface="Segoe UI" pitchFamily="34" charset="-120"/>
              </a:rPr>
              <a:t>UTS · Cartilla de aprendizaje — Gestión Inteligente de Inventarios</a:t>
            </a:r>
            <a:endParaRPr lang="es-CO" sz="1350" noProof="0" dirty="0"/>
          </a:p>
        </p:txBody>
      </p:sp>
      <p:sp>
        <p:nvSpPr>
          <p:cNvPr id="17" name="Shape 15"/>
          <p:cNvSpPr/>
          <p:nvPr/>
        </p:nvSpPr>
        <p:spPr>
          <a:xfrm>
            <a:off x="16725900" y="9410700"/>
            <a:ext cx="419100" cy="419100"/>
          </a:xfrm>
          <a:prstGeom prst="ellipse">
            <a:avLst/>
          </a:prstGeom>
          <a:solidFill>
            <a:srgbClr val="7E2C8C"/>
          </a:solidFill>
          <a:ln/>
        </p:spPr>
        <p:txBody>
          <a:bodyPr/>
          <a:lstStyle/>
          <a:p>
            <a:endParaRPr lang="es-CO" noProof="0" dirty="0"/>
          </a:p>
        </p:txBody>
      </p:sp>
      <p:sp>
        <p:nvSpPr>
          <p:cNvPr id="18" name="Text 16"/>
          <p:cNvSpPr/>
          <p:nvPr/>
        </p:nvSpPr>
        <p:spPr>
          <a:xfrm>
            <a:off x="16687800" y="9410700"/>
            <a:ext cx="495300" cy="457200"/>
          </a:xfrm>
          <a:prstGeom prst="rect">
            <a:avLst/>
          </a:prstGeom>
          <a:noFill/>
          <a:ln/>
        </p:spPr>
        <p:txBody>
          <a:bodyPr wrap="square" lIns="25400" tIns="25400" rIns="25400" bIns="25400" rtlCol="0" anchor="ctr">
            <a:normAutofit/>
          </a:bodyPr>
          <a:lstStyle/>
          <a:p>
            <a:pPr marL="0" indent="0" algn="ctr">
              <a:buNone/>
            </a:pPr>
            <a:r>
              <a:rPr lang="es-CO" sz="1500" b="1" noProof="0" dirty="0">
                <a:solidFill>
                  <a:srgbClr val="FFFFFF"/>
                </a:solidFill>
                <a:latin typeface="Segoe UI" pitchFamily="34" charset="0"/>
                <a:ea typeface="Segoe UI" pitchFamily="34" charset="-122"/>
                <a:cs typeface="Segoe UI" pitchFamily="34" charset="-120"/>
              </a:rPr>
              <a:t>08</a:t>
            </a:r>
            <a:endParaRPr lang="es-CO" sz="1500" noProof="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899D0FA-794E-6C0D-DE3D-C70BEBBA9A6D}"/>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C809888F-22BD-F367-5BFF-3580610D64ED}"/>
              </a:ext>
            </a:extLst>
          </p:cNvPr>
          <p:cNvSpPr/>
          <p:nvPr/>
        </p:nvSpPr>
        <p:spPr>
          <a:xfrm>
            <a:off x="1143000" y="1619250"/>
            <a:ext cx="14668500" cy="698500"/>
          </a:xfrm>
          <a:prstGeom prst="rect">
            <a:avLst/>
          </a:prstGeom>
          <a:noFill/>
          <a:ln/>
        </p:spPr>
        <p:txBody>
          <a:bodyPr wrap="square" lIns="25400" tIns="25400" rIns="25400" bIns="25400" rtlCol="0" anchor="t">
            <a:normAutofit/>
          </a:bodyPr>
          <a:lstStyle/>
          <a:p>
            <a:pPr marL="0" indent="0" algn="l">
              <a:buNone/>
            </a:pPr>
            <a:r>
              <a:rPr lang="es-CO" sz="3900" b="1" noProof="0" dirty="0">
                <a:solidFill>
                  <a:srgbClr val="3D3D3D"/>
                </a:solidFill>
                <a:latin typeface="Segoe UI" pitchFamily="34" charset="0"/>
                <a:ea typeface="Segoe UI" pitchFamily="34" charset="-122"/>
                <a:cs typeface="Segoe UI" pitchFamily="34" charset="-120"/>
              </a:rPr>
              <a:t>Catálogo maestro y parámetros</a:t>
            </a:r>
            <a:endParaRPr lang="es-CO" sz="3900" noProof="0" dirty="0"/>
          </a:p>
        </p:txBody>
      </p:sp>
      <p:sp>
        <p:nvSpPr>
          <p:cNvPr id="5" name="Shape 3">
            <a:extLst>
              <a:ext uri="{FF2B5EF4-FFF2-40B4-BE49-F238E27FC236}">
                <a16:creationId xmlns:a16="http://schemas.microsoft.com/office/drawing/2014/main" id="{E5DF7D6C-C19C-4A7A-A70A-D661DA4CA61A}"/>
              </a:ext>
            </a:extLst>
          </p:cNvPr>
          <p:cNvSpPr/>
          <p:nvPr/>
        </p:nvSpPr>
        <p:spPr>
          <a:xfrm>
            <a:off x="1143000" y="3238500"/>
            <a:ext cx="16002000" cy="673100"/>
          </a:xfrm>
          <a:prstGeom prst="roundRect">
            <a:avLst>
              <a:gd name="adj" fmla="val 28302"/>
            </a:avLst>
          </a:prstGeom>
          <a:solidFill>
            <a:srgbClr val="7E2C8C"/>
          </a:solidFill>
          <a:ln/>
        </p:spPr>
        <p:txBody>
          <a:bodyPr/>
          <a:lstStyle/>
          <a:p>
            <a:endParaRPr lang="es-CO" noProof="0" dirty="0"/>
          </a:p>
        </p:txBody>
      </p:sp>
      <p:sp>
        <p:nvSpPr>
          <p:cNvPr id="6" name="Text 4">
            <a:extLst>
              <a:ext uri="{FF2B5EF4-FFF2-40B4-BE49-F238E27FC236}">
                <a16:creationId xmlns:a16="http://schemas.microsoft.com/office/drawing/2014/main" id="{2FF4B71E-BD6D-9D75-F390-40CB44C6F1F6}"/>
              </a:ext>
            </a:extLst>
          </p:cNvPr>
          <p:cNvSpPr/>
          <p:nvPr/>
        </p:nvSpPr>
        <p:spPr>
          <a:xfrm>
            <a:off x="1447800" y="3448050"/>
            <a:ext cx="2447915" cy="292100"/>
          </a:xfrm>
          <a:prstGeom prst="rect">
            <a:avLst/>
          </a:prstGeom>
          <a:noFill/>
          <a:ln/>
        </p:spPr>
        <p:txBody>
          <a:bodyPr wrap="square" lIns="25400" tIns="25400" rIns="25400" bIns="25400" rtlCol="0" anchor="t">
            <a:normAutofit/>
          </a:bodyPr>
          <a:lstStyle/>
          <a:p>
            <a:pPr marL="0" indent="0" algn="l">
              <a:buNone/>
            </a:pPr>
            <a:r>
              <a:rPr lang="es-CO" sz="1500" b="1" noProof="0" dirty="0">
                <a:solidFill>
                  <a:srgbClr val="FFFFFF"/>
                </a:solidFill>
                <a:latin typeface="Segoe UI" pitchFamily="34" charset="0"/>
                <a:ea typeface="Segoe UI" pitchFamily="34" charset="-122"/>
                <a:cs typeface="Segoe UI" pitchFamily="34" charset="-120"/>
              </a:rPr>
              <a:t>Familia</a:t>
            </a:r>
            <a:endParaRPr lang="es-CO" sz="1500" noProof="0" dirty="0"/>
          </a:p>
        </p:txBody>
      </p:sp>
      <p:sp>
        <p:nvSpPr>
          <p:cNvPr id="7" name="Text 5">
            <a:extLst>
              <a:ext uri="{FF2B5EF4-FFF2-40B4-BE49-F238E27FC236}">
                <a16:creationId xmlns:a16="http://schemas.microsoft.com/office/drawing/2014/main" id="{FDDFB589-F793-F2FA-C672-6794CFE867F1}"/>
              </a:ext>
            </a:extLst>
          </p:cNvPr>
          <p:cNvSpPr/>
          <p:nvPr/>
        </p:nvSpPr>
        <p:spPr>
          <a:xfrm>
            <a:off x="3673178" y="3448050"/>
            <a:ext cx="4079895" cy="292100"/>
          </a:xfrm>
          <a:prstGeom prst="rect">
            <a:avLst/>
          </a:prstGeom>
          <a:noFill/>
          <a:ln/>
        </p:spPr>
        <p:txBody>
          <a:bodyPr wrap="square" lIns="25400" tIns="25400" rIns="25400" bIns="25400" rtlCol="0" anchor="t">
            <a:normAutofit/>
          </a:bodyPr>
          <a:lstStyle/>
          <a:p>
            <a:pPr marL="0" indent="0" algn="l">
              <a:buNone/>
            </a:pPr>
            <a:r>
              <a:rPr lang="es-CO" sz="1500" b="1" noProof="0" dirty="0">
                <a:solidFill>
                  <a:srgbClr val="FFFFFF"/>
                </a:solidFill>
                <a:latin typeface="Segoe UI" pitchFamily="34" charset="0"/>
                <a:ea typeface="Segoe UI" pitchFamily="34" charset="-122"/>
                <a:cs typeface="Segoe UI" pitchFamily="34" charset="-120"/>
              </a:rPr>
              <a:t>Distribución (λ)</a:t>
            </a:r>
            <a:endParaRPr lang="es-CO" sz="1500" noProof="0" dirty="0"/>
          </a:p>
        </p:txBody>
      </p:sp>
      <p:sp>
        <p:nvSpPr>
          <p:cNvPr id="8" name="Text 6">
            <a:extLst>
              <a:ext uri="{FF2B5EF4-FFF2-40B4-BE49-F238E27FC236}">
                <a16:creationId xmlns:a16="http://schemas.microsoft.com/office/drawing/2014/main" id="{CAD0C935-30AB-C756-CAEC-DA276E9BD26E}"/>
              </a:ext>
            </a:extLst>
          </p:cNvPr>
          <p:cNvSpPr/>
          <p:nvPr/>
        </p:nvSpPr>
        <p:spPr>
          <a:xfrm>
            <a:off x="7382173" y="3448050"/>
            <a:ext cx="2855883" cy="292100"/>
          </a:xfrm>
          <a:prstGeom prst="rect">
            <a:avLst/>
          </a:prstGeom>
          <a:noFill/>
          <a:ln/>
        </p:spPr>
        <p:txBody>
          <a:bodyPr wrap="square" lIns="25400" tIns="25400" rIns="25400" bIns="25400" rtlCol="0" anchor="t">
            <a:normAutofit/>
          </a:bodyPr>
          <a:lstStyle/>
          <a:p>
            <a:pPr marL="0" indent="0" algn="l">
              <a:buNone/>
            </a:pPr>
            <a:r>
              <a:rPr lang="es-CO" sz="1500" b="1" noProof="0" dirty="0">
                <a:solidFill>
                  <a:srgbClr val="FFFFFF"/>
                </a:solidFill>
                <a:latin typeface="Segoe UI" pitchFamily="34" charset="0"/>
                <a:ea typeface="Segoe UI" pitchFamily="34" charset="-122"/>
                <a:cs typeface="Segoe UI" pitchFamily="34" charset="-120"/>
              </a:rPr>
              <a:t>Lead time</a:t>
            </a:r>
            <a:endParaRPr lang="es-CO" sz="1500" noProof="0" dirty="0"/>
          </a:p>
        </p:txBody>
      </p:sp>
      <p:sp>
        <p:nvSpPr>
          <p:cNvPr id="9" name="Text 7">
            <a:extLst>
              <a:ext uri="{FF2B5EF4-FFF2-40B4-BE49-F238E27FC236}">
                <a16:creationId xmlns:a16="http://schemas.microsoft.com/office/drawing/2014/main" id="{540F6BFC-9A27-9123-5BFE-A962D65491AF}"/>
              </a:ext>
            </a:extLst>
          </p:cNvPr>
          <p:cNvSpPr/>
          <p:nvPr/>
        </p:nvSpPr>
        <p:spPr>
          <a:xfrm>
            <a:off x="9978430" y="3448050"/>
            <a:ext cx="2652008" cy="292100"/>
          </a:xfrm>
          <a:prstGeom prst="rect">
            <a:avLst/>
          </a:prstGeom>
          <a:noFill/>
          <a:ln/>
        </p:spPr>
        <p:txBody>
          <a:bodyPr wrap="square" lIns="25400" tIns="25400" rIns="25400" bIns="25400" rtlCol="0" anchor="t">
            <a:normAutofit/>
          </a:bodyPr>
          <a:lstStyle/>
          <a:p>
            <a:pPr marL="0" indent="0" algn="l">
              <a:buNone/>
            </a:pPr>
            <a:r>
              <a:rPr lang="es-CO" sz="1500" b="1" noProof="0" dirty="0">
                <a:solidFill>
                  <a:srgbClr val="FFFFFF"/>
                </a:solidFill>
                <a:latin typeface="Segoe UI" pitchFamily="34" charset="0"/>
                <a:ea typeface="Segoe UI" pitchFamily="34" charset="-122"/>
                <a:cs typeface="Segoe UI" pitchFamily="34" charset="-120"/>
              </a:rPr>
              <a:t>Margen </a:t>
            </a:r>
            <a:r>
              <a:rPr lang="es-CO" sz="1500" b="1" noProof="0" dirty="0" err="1">
                <a:solidFill>
                  <a:srgbClr val="FFFFFF"/>
                </a:solidFill>
                <a:latin typeface="Segoe UI" pitchFamily="34" charset="0"/>
                <a:ea typeface="Segoe UI" pitchFamily="34" charset="-122"/>
                <a:cs typeface="Segoe UI" pitchFamily="34" charset="-120"/>
              </a:rPr>
              <a:t>prom</a:t>
            </a:r>
            <a:r>
              <a:rPr lang="es-CO" sz="1500" b="1" noProof="0" dirty="0">
                <a:solidFill>
                  <a:srgbClr val="FFFFFF"/>
                </a:solidFill>
                <a:latin typeface="Segoe UI" pitchFamily="34" charset="0"/>
                <a:ea typeface="Segoe UI" pitchFamily="34" charset="-122"/>
                <a:cs typeface="Segoe UI" pitchFamily="34" charset="-120"/>
              </a:rPr>
              <a:t>.</a:t>
            </a:r>
            <a:endParaRPr lang="es-CO" sz="1500" noProof="0" dirty="0"/>
          </a:p>
        </p:txBody>
      </p:sp>
      <p:sp>
        <p:nvSpPr>
          <p:cNvPr id="10" name="Text 8">
            <a:extLst>
              <a:ext uri="{FF2B5EF4-FFF2-40B4-BE49-F238E27FC236}">
                <a16:creationId xmlns:a16="http://schemas.microsoft.com/office/drawing/2014/main" id="{D546B0B9-43DA-E508-EBA3-9AB212FCBF0F}"/>
              </a:ext>
            </a:extLst>
          </p:cNvPr>
          <p:cNvSpPr/>
          <p:nvPr/>
        </p:nvSpPr>
        <p:spPr>
          <a:xfrm>
            <a:off x="12389346" y="3448050"/>
            <a:ext cx="2039947" cy="292100"/>
          </a:xfrm>
          <a:prstGeom prst="rect">
            <a:avLst/>
          </a:prstGeom>
          <a:noFill/>
          <a:ln/>
        </p:spPr>
        <p:txBody>
          <a:bodyPr wrap="square" lIns="25400" tIns="25400" rIns="25400" bIns="25400" rtlCol="0" anchor="t">
            <a:normAutofit/>
          </a:bodyPr>
          <a:lstStyle/>
          <a:p>
            <a:pPr marL="0" indent="0" algn="l">
              <a:buNone/>
            </a:pPr>
            <a:r>
              <a:rPr lang="es-CO" sz="1500" b="1" noProof="0" dirty="0">
                <a:solidFill>
                  <a:srgbClr val="FFFFFF"/>
                </a:solidFill>
                <a:latin typeface="Segoe UI" pitchFamily="34" charset="0"/>
                <a:ea typeface="Segoe UI" pitchFamily="34" charset="-122"/>
                <a:cs typeface="Segoe UI" pitchFamily="34" charset="-120"/>
              </a:rPr>
              <a:t>Amplitud </a:t>
            </a:r>
            <a:r>
              <a:rPr lang="es-CO" sz="1500" b="1" noProof="0" dirty="0" err="1">
                <a:solidFill>
                  <a:srgbClr val="FFFFFF"/>
                </a:solidFill>
                <a:latin typeface="Segoe UI" pitchFamily="34" charset="0"/>
                <a:ea typeface="Segoe UI" pitchFamily="34" charset="-122"/>
                <a:cs typeface="Segoe UI" pitchFamily="34" charset="-120"/>
              </a:rPr>
              <a:t>estac</a:t>
            </a:r>
            <a:r>
              <a:rPr lang="es-CO" sz="1500" b="1" noProof="0" dirty="0">
                <a:solidFill>
                  <a:srgbClr val="FFFFFF"/>
                </a:solidFill>
                <a:latin typeface="Segoe UI" pitchFamily="34" charset="0"/>
                <a:ea typeface="Segoe UI" pitchFamily="34" charset="-122"/>
                <a:cs typeface="Segoe UI" pitchFamily="34" charset="-120"/>
              </a:rPr>
              <a:t>.</a:t>
            </a:r>
            <a:endParaRPr lang="es-CO" sz="1500" noProof="0" dirty="0"/>
          </a:p>
        </p:txBody>
      </p:sp>
      <p:sp>
        <p:nvSpPr>
          <p:cNvPr id="11" name="Text 9">
            <a:extLst>
              <a:ext uri="{FF2B5EF4-FFF2-40B4-BE49-F238E27FC236}">
                <a16:creationId xmlns:a16="http://schemas.microsoft.com/office/drawing/2014/main" id="{5E153084-1662-320C-F041-B12651F6CBCC}"/>
              </a:ext>
            </a:extLst>
          </p:cNvPr>
          <p:cNvSpPr/>
          <p:nvPr/>
        </p:nvSpPr>
        <p:spPr>
          <a:xfrm>
            <a:off x="14243845" y="3448050"/>
            <a:ext cx="2855992" cy="292100"/>
          </a:xfrm>
          <a:prstGeom prst="rect">
            <a:avLst/>
          </a:prstGeom>
          <a:noFill/>
          <a:ln/>
        </p:spPr>
        <p:txBody>
          <a:bodyPr wrap="square" lIns="25400" tIns="25400" rIns="25400" bIns="25400" rtlCol="0" anchor="t">
            <a:normAutofit/>
          </a:bodyPr>
          <a:lstStyle/>
          <a:p>
            <a:pPr marL="0" indent="0" algn="l">
              <a:buNone/>
            </a:pPr>
            <a:r>
              <a:rPr lang="es-CO" sz="1500" b="1" noProof="0" dirty="0">
                <a:solidFill>
                  <a:srgbClr val="FFFFFF"/>
                </a:solidFill>
                <a:latin typeface="Segoe UI" pitchFamily="34" charset="0"/>
                <a:ea typeface="Segoe UI" pitchFamily="34" charset="-122"/>
                <a:cs typeface="Segoe UI" pitchFamily="34" charset="-120"/>
              </a:rPr>
              <a:t>Costo ordenar</a:t>
            </a:r>
            <a:endParaRPr lang="es-CO" sz="1500" noProof="0" dirty="0"/>
          </a:p>
        </p:txBody>
      </p:sp>
      <p:sp>
        <p:nvSpPr>
          <p:cNvPr id="12" name="Shape 10">
            <a:extLst>
              <a:ext uri="{FF2B5EF4-FFF2-40B4-BE49-F238E27FC236}">
                <a16:creationId xmlns:a16="http://schemas.microsoft.com/office/drawing/2014/main" id="{3059EE25-FD06-FD17-C800-D51B8278AFAB}"/>
              </a:ext>
            </a:extLst>
          </p:cNvPr>
          <p:cNvSpPr/>
          <p:nvPr/>
        </p:nvSpPr>
        <p:spPr>
          <a:xfrm>
            <a:off x="1143000" y="3911600"/>
            <a:ext cx="16002000" cy="635000"/>
          </a:xfrm>
          <a:prstGeom prst="rect">
            <a:avLst/>
          </a:prstGeom>
          <a:solidFill>
            <a:srgbClr val="F4FADF"/>
          </a:solidFill>
          <a:ln/>
        </p:spPr>
        <p:txBody>
          <a:bodyPr/>
          <a:lstStyle/>
          <a:p>
            <a:endParaRPr lang="es-CO" noProof="0" dirty="0"/>
          </a:p>
        </p:txBody>
      </p:sp>
      <p:sp>
        <p:nvSpPr>
          <p:cNvPr id="13" name="Text 11">
            <a:extLst>
              <a:ext uri="{FF2B5EF4-FFF2-40B4-BE49-F238E27FC236}">
                <a16:creationId xmlns:a16="http://schemas.microsoft.com/office/drawing/2014/main" id="{2A5BA853-6909-D68E-8231-0D55EBE9A96F}"/>
              </a:ext>
            </a:extLst>
          </p:cNvPr>
          <p:cNvSpPr/>
          <p:nvPr/>
        </p:nvSpPr>
        <p:spPr>
          <a:xfrm>
            <a:off x="1447800" y="4102100"/>
            <a:ext cx="2447915" cy="292100"/>
          </a:xfrm>
          <a:prstGeom prst="rect">
            <a:avLst/>
          </a:prstGeom>
          <a:noFill/>
          <a:ln/>
        </p:spPr>
        <p:txBody>
          <a:bodyPr wrap="square" lIns="25400" tIns="25400" rIns="25400" bIns="25400" rtlCol="0" anchor="t">
            <a:normAutofit/>
          </a:bodyPr>
          <a:lstStyle/>
          <a:p>
            <a:pPr marL="0" indent="0" algn="l">
              <a:buNone/>
            </a:pPr>
            <a:r>
              <a:rPr lang="es-CO" sz="1500" noProof="0" dirty="0">
                <a:solidFill>
                  <a:srgbClr val="3D3D3D"/>
                </a:solidFill>
                <a:latin typeface="Segoe UI" pitchFamily="34" charset="0"/>
                <a:ea typeface="Segoe UI" pitchFamily="34" charset="-122"/>
                <a:cs typeface="Segoe UI" pitchFamily="34" charset="-120"/>
              </a:rPr>
              <a:t>FER</a:t>
            </a:r>
            <a:endParaRPr lang="es-CO" sz="1500" noProof="0" dirty="0"/>
          </a:p>
        </p:txBody>
      </p:sp>
      <p:sp>
        <p:nvSpPr>
          <p:cNvPr id="14" name="Text 12">
            <a:extLst>
              <a:ext uri="{FF2B5EF4-FFF2-40B4-BE49-F238E27FC236}">
                <a16:creationId xmlns:a16="http://schemas.microsoft.com/office/drawing/2014/main" id="{B6B1ECA8-E2AD-82CF-3A21-69E9C659B131}"/>
              </a:ext>
            </a:extLst>
          </p:cNvPr>
          <p:cNvSpPr/>
          <p:nvPr/>
        </p:nvSpPr>
        <p:spPr>
          <a:xfrm>
            <a:off x="3673178" y="4102100"/>
            <a:ext cx="4079895" cy="292100"/>
          </a:xfrm>
          <a:prstGeom prst="rect">
            <a:avLst/>
          </a:prstGeom>
          <a:noFill/>
          <a:ln/>
        </p:spPr>
        <p:txBody>
          <a:bodyPr wrap="square" lIns="25400" tIns="25400" rIns="25400" bIns="25400" rtlCol="0" anchor="t">
            <a:normAutofit/>
          </a:bodyPr>
          <a:lstStyle/>
          <a:p>
            <a:pPr marL="0" indent="0" algn="l">
              <a:buNone/>
            </a:pPr>
            <a:r>
              <a:rPr lang="es-CO" sz="1500" noProof="0" dirty="0">
                <a:solidFill>
                  <a:srgbClr val="3D3D3D"/>
                </a:solidFill>
                <a:latin typeface="Segoe UI" pitchFamily="34" charset="0"/>
                <a:ea typeface="Segoe UI" pitchFamily="34" charset="-122"/>
                <a:cs typeface="Segoe UI" pitchFamily="34" charset="-120"/>
              </a:rPr>
              <a:t>Gamma(4, 15)</a:t>
            </a:r>
            <a:endParaRPr lang="es-CO" sz="1500" noProof="0" dirty="0"/>
          </a:p>
        </p:txBody>
      </p:sp>
      <p:sp>
        <p:nvSpPr>
          <p:cNvPr id="15" name="Text 13">
            <a:extLst>
              <a:ext uri="{FF2B5EF4-FFF2-40B4-BE49-F238E27FC236}">
                <a16:creationId xmlns:a16="http://schemas.microsoft.com/office/drawing/2014/main" id="{61B29781-3CA2-054B-077D-F465A0B465FE}"/>
              </a:ext>
            </a:extLst>
          </p:cNvPr>
          <p:cNvSpPr/>
          <p:nvPr/>
        </p:nvSpPr>
        <p:spPr>
          <a:xfrm>
            <a:off x="7382173" y="4102100"/>
            <a:ext cx="2855883" cy="292100"/>
          </a:xfrm>
          <a:prstGeom prst="rect">
            <a:avLst/>
          </a:prstGeom>
          <a:noFill/>
          <a:ln/>
        </p:spPr>
        <p:txBody>
          <a:bodyPr wrap="square" lIns="25400" tIns="25400" rIns="25400" bIns="25400" rtlCol="0" anchor="t">
            <a:normAutofit/>
          </a:bodyPr>
          <a:lstStyle/>
          <a:p>
            <a:pPr marL="0" indent="0" algn="l">
              <a:buNone/>
            </a:pPr>
            <a:r>
              <a:rPr lang="es-CO" sz="1500" noProof="0" dirty="0">
                <a:solidFill>
                  <a:srgbClr val="3D3D3D"/>
                </a:solidFill>
                <a:latin typeface="Segoe UI" pitchFamily="34" charset="0"/>
                <a:ea typeface="Segoe UI" pitchFamily="34" charset="-122"/>
                <a:cs typeface="Segoe UI" pitchFamily="34" charset="-120"/>
              </a:rPr>
              <a:t>Ferretería</a:t>
            </a:r>
            <a:endParaRPr lang="es-CO" sz="1500" noProof="0" dirty="0"/>
          </a:p>
        </p:txBody>
      </p:sp>
      <p:sp>
        <p:nvSpPr>
          <p:cNvPr id="16" name="Text 14">
            <a:extLst>
              <a:ext uri="{FF2B5EF4-FFF2-40B4-BE49-F238E27FC236}">
                <a16:creationId xmlns:a16="http://schemas.microsoft.com/office/drawing/2014/main" id="{B9A8C6BB-ED13-5BF9-0C60-00DEA1D1CAD3}"/>
              </a:ext>
            </a:extLst>
          </p:cNvPr>
          <p:cNvSpPr/>
          <p:nvPr/>
        </p:nvSpPr>
        <p:spPr>
          <a:xfrm>
            <a:off x="9978430" y="4102100"/>
            <a:ext cx="2652008" cy="292100"/>
          </a:xfrm>
          <a:prstGeom prst="rect">
            <a:avLst/>
          </a:prstGeom>
          <a:noFill/>
          <a:ln/>
        </p:spPr>
        <p:txBody>
          <a:bodyPr wrap="square" lIns="25400" tIns="25400" rIns="25400" bIns="25400" rtlCol="0" anchor="t">
            <a:normAutofit/>
          </a:bodyPr>
          <a:lstStyle/>
          <a:p>
            <a:pPr marL="0" indent="0" algn="l">
              <a:buNone/>
            </a:pPr>
            <a:r>
              <a:rPr lang="es-CO" sz="1500" noProof="0" dirty="0">
                <a:solidFill>
                  <a:srgbClr val="3D3D3D"/>
                </a:solidFill>
                <a:latin typeface="Segoe UI" pitchFamily="34" charset="0"/>
                <a:ea typeface="Segoe UI" pitchFamily="34" charset="-122"/>
                <a:cs typeface="Segoe UI" pitchFamily="34" charset="-120"/>
              </a:rPr>
              <a:t>0,25 </a:t>
            </a:r>
            <a:r>
              <a:rPr lang="es-CO" sz="1500" noProof="0" dirty="0" err="1">
                <a:solidFill>
                  <a:srgbClr val="3D3D3D"/>
                </a:solidFill>
                <a:latin typeface="Segoe UI" pitchFamily="34" charset="0"/>
                <a:ea typeface="Segoe UI" pitchFamily="34" charset="-122"/>
                <a:cs typeface="Segoe UI" pitchFamily="34" charset="-120"/>
              </a:rPr>
              <a:t>sem</a:t>
            </a:r>
            <a:endParaRPr lang="es-CO" sz="1500" noProof="0" dirty="0"/>
          </a:p>
        </p:txBody>
      </p:sp>
      <p:sp>
        <p:nvSpPr>
          <p:cNvPr id="17" name="Text 15">
            <a:extLst>
              <a:ext uri="{FF2B5EF4-FFF2-40B4-BE49-F238E27FC236}">
                <a16:creationId xmlns:a16="http://schemas.microsoft.com/office/drawing/2014/main" id="{C6D231BD-03D7-FD35-1BE5-4A1CF4100A5E}"/>
              </a:ext>
            </a:extLst>
          </p:cNvPr>
          <p:cNvSpPr/>
          <p:nvPr/>
        </p:nvSpPr>
        <p:spPr>
          <a:xfrm>
            <a:off x="12389346" y="4102100"/>
            <a:ext cx="2039947" cy="292100"/>
          </a:xfrm>
          <a:prstGeom prst="rect">
            <a:avLst/>
          </a:prstGeom>
          <a:noFill/>
          <a:ln/>
        </p:spPr>
        <p:txBody>
          <a:bodyPr wrap="square" lIns="25400" tIns="25400" rIns="25400" bIns="25400" rtlCol="0" anchor="t">
            <a:normAutofit/>
          </a:bodyPr>
          <a:lstStyle/>
          <a:p>
            <a:pPr marL="0" indent="0" algn="l">
              <a:buNone/>
            </a:pPr>
            <a:r>
              <a:rPr lang="es-CO" sz="1500" noProof="0" dirty="0">
                <a:solidFill>
                  <a:srgbClr val="3D3D3D"/>
                </a:solidFill>
                <a:latin typeface="Segoe UI" pitchFamily="34" charset="0"/>
                <a:ea typeface="Segoe UI" pitchFamily="34" charset="-122"/>
                <a:cs typeface="Segoe UI" pitchFamily="34" charset="-120"/>
              </a:rPr>
              <a:t>≈ 40 %</a:t>
            </a:r>
            <a:endParaRPr lang="es-CO" sz="1500" noProof="0" dirty="0"/>
          </a:p>
        </p:txBody>
      </p:sp>
      <p:sp>
        <p:nvSpPr>
          <p:cNvPr id="18" name="Text 16">
            <a:extLst>
              <a:ext uri="{FF2B5EF4-FFF2-40B4-BE49-F238E27FC236}">
                <a16:creationId xmlns:a16="http://schemas.microsoft.com/office/drawing/2014/main" id="{FBC37EE1-989F-9C7D-71D3-D496D329CBA3}"/>
              </a:ext>
            </a:extLst>
          </p:cNvPr>
          <p:cNvSpPr/>
          <p:nvPr/>
        </p:nvSpPr>
        <p:spPr>
          <a:xfrm>
            <a:off x="14243845" y="4102100"/>
            <a:ext cx="2855992" cy="292100"/>
          </a:xfrm>
          <a:prstGeom prst="rect">
            <a:avLst/>
          </a:prstGeom>
          <a:noFill/>
          <a:ln/>
        </p:spPr>
        <p:txBody>
          <a:bodyPr wrap="square" lIns="25400" tIns="25400" rIns="25400" bIns="25400" rtlCol="0" anchor="t">
            <a:normAutofit/>
          </a:bodyPr>
          <a:lstStyle/>
          <a:p>
            <a:pPr marL="0" indent="0" algn="l">
              <a:buNone/>
            </a:pPr>
            <a:r>
              <a:rPr lang="es-CO" sz="1500" noProof="0" dirty="0">
                <a:solidFill>
                  <a:srgbClr val="3D3D3D"/>
                </a:solidFill>
                <a:latin typeface="Segoe UI" pitchFamily="34" charset="0"/>
                <a:ea typeface="Segoe UI" pitchFamily="34" charset="-122"/>
                <a:cs typeface="Segoe UI" pitchFamily="34" charset="-120"/>
              </a:rPr>
              <a:t>20.000 COP</a:t>
            </a:r>
            <a:endParaRPr lang="es-CO" sz="1500" noProof="0" dirty="0"/>
          </a:p>
        </p:txBody>
      </p:sp>
      <p:sp>
        <p:nvSpPr>
          <p:cNvPr id="19" name="Shape 17">
            <a:extLst>
              <a:ext uri="{FF2B5EF4-FFF2-40B4-BE49-F238E27FC236}">
                <a16:creationId xmlns:a16="http://schemas.microsoft.com/office/drawing/2014/main" id="{9220908F-D8F3-4A9E-3F34-11C8091487EC}"/>
              </a:ext>
            </a:extLst>
          </p:cNvPr>
          <p:cNvSpPr/>
          <p:nvPr/>
        </p:nvSpPr>
        <p:spPr>
          <a:xfrm>
            <a:off x="1143000" y="4546600"/>
            <a:ext cx="16002000" cy="635000"/>
          </a:xfrm>
          <a:prstGeom prst="rect">
            <a:avLst/>
          </a:prstGeom>
          <a:solidFill>
            <a:srgbClr val="FFFFFF"/>
          </a:solidFill>
          <a:ln/>
        </p:spPr>
        <p:txBody>
          <a:bodyPr/>
          <a:lstStyle/>
          <a:p>
            <a:endParaRPr lang="es-CO" noProof="0" dirty="0"/>
          </a:p>
        </p:txBody>
      </p:sp>
      <p:sp>
        <p:nvSpPr>
          <p:cNvPr id="20" name="Text 18">
            <a:extLst>
              <a:ext uri="{FF2B5EF4-FFF2-40B4-BE49-F238E27FC236}">
                <a16:creationId xmlns:a16="http://schemas.microsoft.com/office/drawing/2014/main" id="{D75AFA4E-9095-0398-131F-A52BBF3C04EB}"/>
              </a:ext>
            </a:extLst>
          </p:cNvPr>
          <p:cNvSpPr/>
          <p:nvPr/>
        </p:nvSpPr>
        <p:spPr>
          <a:xfrm>
            <a:off x="1447800" y="4737100"/>
            <a:ext cx="2447915" cy="292100"/>
          </a:xfrm>
          <a:prstGeom prst="rect">
            <a:avLst/>
          </a:prstGeom>
          <a:noFill/>
          <a:ln/>
        </p:spPr>
        <p:txBody>
          <a:bodyPr wrap="square" lIns="25400" tIns="25400" rIns="25400" bIns="25400" rtlCol="0" anchor="t">
            <a:normAutofit/>
          </a:bodyPr>
          <a:lstStyle/>
          <a:p>
            <a:pPr marL="0" indent="0" algn="l">
              <a:buNone/>
            </a:pPr>
            <a:r>
              <a:rPr lang="es-CO" sz="1500" noProof="0" dirty="0">
                <a:solidFill>
                  <a:srgbClr val="3D3D3D"/>
                </a:solidFill>
                <a:latin typeface="Segoe UI" pitchFamily="34" charset="0"/>
                <a:ea typeface="Segoe UI" pitchFamily="34" charset="-122"/>
                <a:cs typeface="Segoe UI" pitchFamily="34" charset="-120"/>
              </a:rPr>
              <a:t>EPP</a:t>
            </a:r>
            <a:endParaRPr lang="es-CO" sz="1500" noProof="0" dirty="0"/>
          </a:p>
        </p:txBody>
      </p:sp>
      <p:sp>
        <p:nvSpPr>
          <p:cNvPr id="21" name="Text 19">
            <a:extLst>
              <a:ext uri="{FF2B5EF4-FFF2-40B4-BE49-F238E27FC236}">
                <a16:creationId xmlns:a16="http://schemas.microsoft.com/office/drawing/2014/main" id="{6AEBC683-B34D-837F-C234-E704DA649674}"/>
              </a:ext>
            </a:extLst>
          </p:cNvPr>
          <p:cNvSpPr/>
          <p:nvPr/>
        </p:nvSpPr>
        <p:spPr>
          <a:xfrm>
            <a:off x="3673178" y="4737100"/>
            <a:ext cx="4079895" cy="292100"/>
          </a:xfrm>
          <a:prstGeom prst="rect">
            <a:avLst/>
          </a:prstGeom>
          <a:noFill/>
          <a:ln/>
        </p:spPr>
        <p:txBody>
          <a:bodyPr wrap="square" lIns="25400" tIns="25400" rIns="25400" bIns="25400" rtlCol="0" anchor="t">
            <a:normAutofit/>
          </a:bodyPr>
          <a:lstStyle/>
          <a:p>
            <a:pPr marL="0" indent="0" algn="l">
              <a:buNone/>
            </a:pPr>
            <a:r>
              <a:rPr lang="es-CO" sz="1500" noProof="0" dirty="0">
                <a:solidFill>
                  <a:srgbClr val="3D3D3D"/>
                </a:solidFill>
                <a:latin typeface="Segoe UI" pitchFamily="34" charset="0"/>
                <a:ea typeface="Segoe UI" pitchFamily="34" charset="-122"/>
                <a:cs typeface="Segoe UI" pitchFamily="34" charset="-120"/>
              </a:rPr>
              <a:t>Gamma(3, 4)</a:t>
            </a:r>
            <a:endParaRPr lang="es-CO" sz="1500" noProof="0" dirty="0"/>
          </a:p>
        </p:txBody>
      </p:sp>
      <p:sp>
        <p:nvSpPr>
          <p:cNvPr id="22" name="Text 20">
            <a:extLst>
              <a:ext uri="{FF2B5EF4-FFF2-40B4-BE49-F238E27FC236}">
                <a16:creationId xmlns:a16="http://schemas.microsoft.com/office/drawing/2014/main" id="{12052EBF-D6A7-36F8-A8F5-C054BCB05FB7}"/>
              </a:ext>
            </a:extLst>
          </p:cNvPr>
          <p:cNvSpPr/>
          <p:nvPr/>
        </p:nvSpPr>
        <p:spPr>
          <a:xfrm>
            <a:off x="7382173" y="4737100"/>
            <a:ext cx="2855883" cy="292100"/>
          </a:xfrm>
          <a:prstGeom prst="rect">
            <a:avLst/>
          </a:prstGeom>
          <a:noFill/>
          <a:ln/>
        </p:spPr>
        <p:txBody>
          <a:bodyPr wrap="square" lIns="25400" tIns="25400" rIns="25400" bIns="25400" rtlCol="0" anchor="t">
            <a:normAutofit/>
          </a:bodyPr>
          <a:lstStyle/>
          <a:p>
            <a:pPr marL="0" indent="0" algn="l">
              <a:buNone/>
            </a:pPr>
            <a:r>
              <a:rPr lang="es-CO" sz="1500" noProof="0" dirty="0">
                <a:solidFill>
                  <a:srgbClr val="3D3D3D"/>
                </a:solidFill>
                <a:latin typeface="Segoe UI" pitchFamily="34" charset="0"/>
                <a:ea typeface="Segoe UI" pitchFamily="34" charset="-122"/>
                <a:cs typeface="Segoe UI" pitchFamily="34" charset="-120"/>
              </a:rPr>
              <a:t>Protección</a:t>
            </a:r>
            <a:endParaRPr lang="es-CO" sz="1500" noProof="0" dirty="0"/>
          </a:p>
        </p:txBody>
      </p:sp>
      <p:sp>
        <p:nvSpPr>
          <p:cNvPr id="23" name="Text 21">
            <a:extLst>
              <a:ext uri="{FF2B5EF4-FFF2-40B4-BE49-F238E27FC236}">
                <a16:creationId xmlns:a16="http://schemas.microsoft.com/office/drawing/2014/main" id="{708B93F6-17E1-2047-41EE-1F0AD2BC8EB6}"/>
              </a:ext>
            </a:extLst>
          </p:cNvPr>
          <p:cNvSpPr/>
          <p:nvPr/>
        </p:nvSpPr>
        <p:spPr>
          <a:xfrm>
            <a:off x="9978430" y="4737100"/>
            <a:ext cx="2652008" cy="292100"/>
          </a:xfrm>
          <a:prstGeom prst="rect">
            <a:avLst/>
          </a:prstGeom>
          <a:noFill/>
          <a:ln/>
        </p:spPr>
        <p:txBody>
          <a:bodyPr wrap="square" lIns="25400" tIns="25400" rIns="25400" bIns="25400" rtlCol="0" anchor="t">
            <a:normAutofit/>
          </a:bodyPr>
          <a:lstStyle/>
          <a:p>
            <a:pPr marL="0" indent="0" algn="l">
              <a:buNone/>
            </a:pPr>
            <a:r>
              <a:rPr lang="es-CO" sz="1500" noProof="0" dirty="0">
                <a:solidFill>
                  <a:srgbClr val="3D3D3D"/>
                </a:solidFill>
                <a:latin typeface="Segoe UI" pitchFamily="34" charset="0"/>
                <a:ea typeface="Segoe UI" pitchFamily="34" charset="-122"/>
                <a:cs typeface="Segoe UI" pitchFamily="34" charset="-120"/>
              </a:rPr>
              <a:t>0,50 </a:t>
            </a:r>
            <a:r>
              <a:rPr lang="es-CO" sz="1500" noProof="0" dirty="0" err="1">
                <a:solidFill>
                  <a:srgbClr val="3D3D3D"/>
                </a:solidFill>
                <a:latin typeface="Segoe UI" pitchFamily="34" charset="0"/>
                <a:ea typeface="Segoe UI" pitchFamily="34" charset="-122"/>
                <a:cs typeface="Segoe UI" pitchFamily="34" charset="-120"/>
              </a:rPr>
              <a:t>sem</a:t>
            </a:r>
            <a:endParaRPr lang="es-CO" sz="1500" noProof="0" dirty="0"/>
          </a:p>
        </p:txBody>
      </p:sp>
      <p:sp>
        <p:nvSpPr>
          <p:cNvPr id="24" name="Text 22">
            <a:extLst>
              <a:ext uri="{FF2B5EF4-FFF2-40B4-BE49-F238E27FC236}">
                <a16:creationId xmlns:a16="http://schemas.microsoft.com/office/drawing/2014/main" id="{EBDD2EBB-942E-1F68-5C3B-C3B56DCCBD96}"/>
              </a:ext>
            </a:extLst>
          </p:cNvPr>
          <p:cNvSpPr/>
          <p:nvPr/>
        </p:nvSpPr>
        <p:spPr>
          <a:xfrm>
            <a:off x="12389346" y="4737100"/>
            <a:ext cx="2039947" cy="292100"/>
          </a:xfrm>
          <a:prstGeom prst="rect">
            <a:avLst/>
          </a:prstGeom>
          <a:noFill/>
          <a:ln/>
        </p:spPr>
        <p:txBody>
          <a:bodyPr wrap="square" lIns="25400" tIns="25400" rIns="25400" bIns="25400" rtlCol="0" anchor="t">
            <a:normAutofit/>
          </a:bodyPr>
          <a:lstStyle/>
          <a:p>
            <a:pPr marL="0" indent="0" algn="l">
              <a:buNone/>
            </a:pPr>
            <a:r>
              <a:rPr lang="es-CO" sz="1500" noProof="0" dirty="0">
                <a:solidFill>
                  <a:srgbClr val="3D3D3D"/>
                </a:solidFill>
                <a:latin typeface="Segoe UI" pitchFamily="34" charset="0"/>
                <a:ea typeface="Segoe UI" pitchFamily="34" charset="-122"/>
                <a:cs typeface="Segoe UI" pitchFamily="34" charset="-120"/>
              </a:rPr>
              <a:t>≈ 30 %</a:t>
            </a:r>
            <a:endParaRPr lang="es-CO" sz="1500" noProof="0" dirty="0"/>
          </a:p>
        </p:txBody>
      </p:sp>
      <p:sp>
        <p:nvSpPr>
          <p:cNvPr id="25" name="Text 23">
            <a:extLst>
              <a:ext uri="{FF2B5EF4-FFF2-40B4-BE49-F238E27FC236}">
                <a16:creationId xmlns:a16="http://schemas.microsoft.com/office/drawing/2014/main" id="{B35C9864-C609-43A2-A4C0-BCF07A74F23B}"/>
              </a:ext>
            </a:extLst>
          </p:cNvPr>
          <p:cNvSpPr/>
          <p:nvPr/>
        </p:nvSpPr>
        <p:spPr>
          <a:xfrm>
            <a:off x="14243845" y="4737100"/>
            <a:ext cx="2855992" cy="292100"/>
          </a:xfrm>
          <a:prstGeom prst="rect">
            <a:avLst/>
          </a:prstGeom>
          <a:noFill/>
          <a:ln/>
        </p:spPr>
        <p:txBody>
          <a:bodyPr wrap="square" lIns="25400" tIns="25400" rIns="25400" bIns="25400" rtlCol="0" anchor="t">
            <a:normAutofit/>
          </a:bodyPr>
          <a:lstStyle/>
          <a:p>
            <a:pPr marL="0" indent="0" algn="l">
              <a:buNone/>
            </a:pPr>
            <a:r>
              <a:rPr lang="es-CO" sz="1500" noProof="0" dirty="0">
                <a:solidFill>
                  <a:srgbClr val="3D3D3D"/>
                </a:solidFill>
                <a:latin typeface="Segoe UI" pitchFamily="34" charset="0"/>
                <a:ea typeface="Segoe UI" pitchFamily="34" charset="-122"/>
                <a:cs typeface="Segoe UI" pitchFamily="34" charset="-120"/>
              </a:rPr>
              <a:t>30.000 COP</a:t>
            </a:r>
            <a:endParaRPr lang="es-CO" sz="1500" noProof="0" dirty="0"/>
          </a:p>
        </p:txBody>
      </p:sp>
      <p:sp>
        <p:nvSpPr>
          <p:cNvPr id="26" name="Shape 24">
            <a:extLst>
              <a:ext uri="{FF2B5EF4-FFF2-40B4-BE49-F238E27FC236}">
                <a16:creationId xmlns:a16="http://schemas.microsoft.com/office/drawing/2014/main" id="{8ECEDD6A-95E7-0436-B31C-DEC9C128D1F9}"/>
              </a:ext>
            </a:extLst>
          </p:cNvPr>
          <p:cNvSpPr/>
          <p:nvPr/>
        </p:nvSpPr>
        <p:spPr>
          <a:xfrm>
            <a:off x="1143000" y="5181600"/>
            <a:ext cx="16002000" cy="635000"/>
          </a:xfrm>
          <a:prstGeom prst="rect">
            <a:avLst/>
          </a:prstGeom>
          <a:solidFill>
            <a:srgbClr val="F4FADF"/>
          </a:solidFill>
          <a:ln/>
        </p:spPr>
        <p:txBody>
          <a:bodyPr/>
          <a:lstStyle/>
          <a:p>
            <a:endParaRPr lang="es-CO" noProof="0" dirty="0"/>
          </a:p>
        </p:txBody>
      </p:sp>
      <p:sp>
        <p:nvSpPr>
          <p:cNvPr id="27" name="Text 25">
            <a:extLst>
              <a:ext uri="{FF2B5EF4-FFF2-40B4-BE49-F238E27FC236}">
                <a16:creationId xmlns:a16="http://schemas.microsoft.com/office/drawing/2014/main" id="{CD787445-2E64-A316-EBDC-5C2130A84D6D}"/>
              </a:ext>
            </a:extLst>
          </p:cNvPr>
          <p:cNvSpPr/>
          <p:nvPr/>
        </p:nvSpPr>
        <p:spPr>
          <a:xfrm>
            <a:off x="1447800" y="5372100"/>
            <a:ext cx="2447915" cy="292100"/>
          </a:xfrm>
          <a:prstGeom prst="rect">
            <a:avLst/>
          </a:prstGeom>
          <a:noFill/>
          <a:ln/>
        </p:spPr>
        <p:txBody>
          <a:bodyPr wrap="square" lIns="25400" tIns="25400" rIns="25400" bIns="25400" rtlCol="0" anchor="t">
            <a:normAutofit/>
          </a:bodyPr>
          <a:lstStyle/>
          <a:p>
            <a:pPr marL="0" indent="0" algn="l">
              <a:buNone/>
            </a:pPr>
            <a:r>
              <a:rPr lang="es-CO" sz="1500" noProof="0" dirty="0">
                <a:solidFill>
                  <a:srgbClr val="3D3D3D"/>
                </a:solidFill>
                <a:latin typeface="Segoe UI" pitchFamily="34" charset="0"/>
                <a:ea typeface="Segoe UI" pitchFamily="34" charset="-122"/>
                <a:cs typeface="Segoe UI" pitchFamily="34" charset="-120"/>
              </a:rPr>
              <a:t>HER</a:t>
            </a:r>
            <a:endParaRPr lang="es-CO" sz="1500" noProof="0" dirty="0"/>
          </a:p>
        </p:txBody>
      </p:sp>
      <p:sp>
        <p:nvSpPr>
          <p:cNvPr id="28" name="Text 26">
            <a:extLst>
              <a:ext uri="{FF2B5EF4-FFF2-40B4-BE49-F238E27FC236}">
                <a16:creationId xmlns:a16="http://schemas.microsoft.com/office/drawing/2014/main" id="{BE5A6363-E2A5-B39D-3DFD-3EA3A5D85A4C}"/>
              </a:ext>
            </a:extLst>
          </p:cNvPr>
          <p:cNvSpPr/>
          <p:nvPr/>
        </p:nvSpPr>
        <p:spPr>
          <a:xfrm>
            <a:off x="3673178" y="5372100"/>
            <a:ext cx="4079895" cy="292100"/>
          </a:xfrm>
          <a:prstGeom prst="rect">
            <a:avLst/>
          </a:prstGeom>
          <a:noFill/>
          <a:ln/>
        </p:spPr>
        <p:txBody>
          <a:bodyPr wrap="square" lIns="25400" tIns="25400" rIns="25400" bIns="25400" rtlCol="0" anchor="t">
            <a:normAutofit/>
          </a:bodyPr>
          <a:lstStyle/>
          <a:p>
            <a:pPr marL="0" indent="0" algn="l">
              <a:buNone/>
            </a:pPr>
            <a:r>
              <a:rPr lang="es-CO" sz="1500" noProof="0" dirty="0">
                <a:solidFill>
                  <a:srgbClr val="3D3D3D"/>
                </a:solidFill>
                <a:latin typeface="Segoe UI" pitchFamily="34" charset="0"/>
                <a:ea typeface="Segoe UI" pitchFamily="34" charset="-122"/>
                <a:cs typeface="Segoe UI" pitchFamily="34" charset="-120"/>
              </a:rPr>
              <a:t>Gamma(1.5, 1)</a:t>
            </a:r>
            <a:endParaRPr lang="es-CO" sz="1500" noProof="0" dirty="0"/>
          </a:p>
        </p:txBody>
      </p:sp>
      <p:sp>
        <p:nvSpPr>
          <p:cNvPr id="29" name="Text 27">
            <a:extLst>
              <a:ext uri="{FF2B5EF4-FFF2-40B4-BE49-F238E27FC236}">
                <a16:creationId xmlns:a16="http://schemas.microsoft.com/office/drawing/2014/main" id="{E8A6A716-3519-F433-515B-E54D775BD764}"/>
              </a:ext>
            </a:extLst>
          </p:cNvPr>
          <p:cNvSpPr/>
          <p:nvPr/>
        </p:nvSpPr>
        <p:spPr>
          <a:xfrm>
            <a:off x="7382173" y="5372100"/>
            <a:ext cx="2855883" cy="292100"/>
          </a:xfrm>
          <a:prstGeom prst="rect">
            <a:avLst/>
          </a:prstGeom>
          <a:noFill/>
          <a:ln/>
        </p:spPr>
        <p:txBody>
          <a:bodyPr wrap="square" lIns="25400" tIns="25400" rIns="25400" bIns="25400" rtlCol="0" anchor="t">
            <a:normAutofit/>
          </a:bodyPr>
          <a:lstStyle/>
          <a:p>
            <a:pPr marL="0" indent="0" algn="l">
              <a:buNone/>
            </a:pPr>
            <a:r>
              <a:rPr lang="es-CO" sz="1500" noProof="0" dirty="0">
                <a:solidFill>
                  <a:srgbClr val="3D3D3D"/>
                </a:solidFill>
                <a:latin typeface="Segoe UI" pitchFamily="34" charset="0"/>
                <a:ea typeface="Segoe UI" pitchFamily="34" charset="-122"/>
                <a:cs typeface="Segoe UI" pitchFamily="34" charset="-120"/>
              </a:rPr>
              <a:t>Herramientas</a:t>
            </a:r>
            <a:endParaRPr lang="es-CO" sz="1500" noProof="0" dirty="0"/>
          </a:p>
        </p:txBody>
      </p:sp>
      <p:sp>
        <p:nvSpPr>
          <p:cNvPr id="30" name="Text 28">
            <a:extLst>
              <a:ext uri="{FF2B5EF4-FFF2-40B4-BE49-F238E27FC236}">
                <a16:creationId xmlns:a16="http://schemas.microsoft.com/office/drawing/2014/main" id="{AB1D4F28-16B6-4023-0355-90C8078ED922}"/>
              </a:ext>
            </a:extLst>
          </p:cNvPr>
          <p:cNvSpPr/>
          <p:nvPr/>
        </p:nvSpPr>
        <p:spPr>
          <a:xfrm>
            <a:off x="9978430" y="5372100"/>
            <a:ext cx="2652008" cy="292100"/>
          </a:xfrm>
          <a:prstGeom prst="rect">
            <a:avLst/>
          </a:prstGeom>
          <a:noFill/>
          <a:ln/>
        </p:spPr>
        <p:txBody>
          <a:bodyPr wrap="square" lIns="25400" tIns="25400" rIns="25400" bIns="25400" rtlCol="0" anchor="t">
            <a:normAutofit/>
          </a:bodyPr>
          <a:lstStyle/>
          <a:p>
            <a:pPr marL="0" indent="0" algn="l">
              <a:buNone/>
            </a:pPr>
            <a:r>
              <a:rPr lang="es-CO" sz="1500" noProof="0" dirty="0">
                <a:solidFill>
                  <a:srgbClr val="3D3D3D"/>
                </a:solidFill>
                <a:latin typeface="Segoe UI" pitchFamily="34" charset="0"/>
                <a:ea typeface="Segoe UI" pitchFamily="34" charset="-122"/>
                <a:cs typeface="Segoe UI" pitchFamily="34" charset="-120"/>
              </a:rPr>
              <a:t>1,00 </a:t>
            </a:r>
            <a:r>
              <a:rPr lang="es-CO" sz="1500" noProof="0" dirty="0" err="1">
                <a:solidFill>
                  <a:srgbClr val="3D3D3D"/>
                </a:solidFill>
                <a:latin typeface="Segoe UI" pitchFamily="34" charset="0"/>
                <a:ea typeface="Segoe UI" pitchFamily="34" charset="-122"/>
                <a:cs typeface="Segoe UI" pitchFamily="34" charset="-120"/>
              </a:rPr>
              <a:t>sem</a:t>
            </a:r>
            <a:endParaRPr lang="es-CO" sz="1500" noProof="0" dirty="0"/>
          </a:p>
        </p:txBody>
      </p:sp>
      <p:sp>
        <p:nvSpPr>
          <p:cNvPr id="31" name="Text 29">
            <a:extLst>
              <a:ext uri="{FF2B5EF4-FFF2-40B4-BE49-F238E27FC236}">
                <a16:creationId xmlns:a16="http://schemas.microsoft.com/office/drawing/2014/main" id="{2A36E291-40AE-5AAB-4F2F-7BB84DB2AC63}"/>
              </a:ext>
            </a:extLst>
          </p:cNvPr>
          <p:cNvSpPr/>
          <p:nvPr/>
        </p:nvSpPr>
        <p:spPr>
          <a:xfrm>
            <a:off x="12389346" y="5372100"/>
            <a:ext cx="2039947" cy="292100"/>
          </a:xfrm>
          <a:prstGeom prst="rect">
            <a:avLst/>
          </a:prstGeom>
          <a:noFill/>
          <a:ln/>
        </p:spPr>
        <p:txBody>
          <a:bodyPr wrap="square" lIns="25400" tIns="25400" rIns="25400" bIns="25400" rtlCol="0" anchor="t">
            <a:normAutofit/>
          </a:bodyPr>
          <a:lstStyle/>
          <a:p>
            <a:pPr marL="0" indent="0" algn="l">
              <a:buNone/>
            </a:pPr>
            <a:r>
              <a:rPr lang="es-CO" sz="1500" noProof="0" dirty="0">
                <a:solidFill>
                  <a:srgbClr val="3D3D3D"/>
                </a:solidFill>
                <a:latin typeface="Segoe UI" pitchFamily="34" charset="0"/>
                <a:ea typeface="Segoe UI" pitchFamily="34" charset="-122"/>
                <a:cs typeface="Segoe UI" pitchFamily="34" charset="-120"/>
              </a:rPr>
              <a:t>≈ 20 %</a:t>
            </a:r>
            <a:endParaRPr lang="es-CO" sz="1500" noProof="0" dirty="0"/>
          </a:p>
        </p:txBody>
      </p:sp>
      <p:sp>
        <p:nvSpPr>
          <p:cNvPr id="32" name="Text 30">
            <a:extLst>
              <a:ext uri="{FF2B5EF4-FFF2-40B4-BE49-F238E27FC236}">
                <a16:creationId xmlns:a16="http://schemas.microsoft.com/office/drawing/2014/main" id="{BD524ECE-12A8-5A2A-9C02-0DBFE50FF5DC}"/>
              </a:ext>
            </a:extLst>
          </p:cNvPr>
          <p:cNvSpPr/>
          <p:nvPr/>
        </p:nvSpPr>
        <p:spPr>
          <a:xfrm>
            <a:off x="14243845" y="5372100"/>
            <a:ext cx="2855992" cy="292100"/>
          </a:xfrm>
          <a:prstGeom prst="rect">
            <a:avLst/>
          </a:prstGeom>
          <a:noFill/>
          <a:ln/>
        </p:spPr>
        <p:txBody>
          <a:bodyPr wrap="square" lIns="25400" tIns="25400" rIns="25400" bIns="25400" rtlCol="0" anchor="t">
            <a:normAutofit/>
          </a:bodyPr>
          <a:lstStyle/>
          <a:p>
            <a:pPr marL="0" indent="0" algn="l">
              <a:buNone/>
            </a:pPr>
            <a:r>
              <a:rPr lang="es-CO" sz="1500" noProof="0" dirty="0">
                <a:solidFill>
                  <a:srgbClr val="3D3D3D"/>
                </a:solidFill>
                <a:latin typeface="Segoe UI" pitchFamily="34" charset="0"/>
                <a:ea typeface="Segoe UI" pitchFamily="34" charset="-122"/>
                <a:cs typeface="Segoe UI" pitchFamily="34" charset="-120"/>
              </a:rPr>
              <a:t>60.000 COP</a:t>
            </a:r>
            <a:endParaRPr lang="es-CO" sz="1500" noProof="0" dirty="0"/>
          </a:p>
        </p:txBody>
      </p:sp>
      <p:sp>
        <p:nvSpPr>
          <p:cNvPr id="33" name="Shape 31">
            <a:extLst>
              <a:ext uri="{FF2B5EF4-FFF2-40B4-BE49-F238E27FC236}">
                <a16:creationId xmlns:a16="http://schemas.microsoft.com/office/drawing/2014/main" id="{4BB54A01-0C69-817B-E531-B0FCA9524965}"/>
              </a:ext>
            </a:extLst>
          </p:cNvPr>
          <p:cNvSpPr/>
          <p:nvPr/>
        </p:nvSpPr>
        <p:spPr>
          <a:xfrm>
            <a:off x="1143000" y="5816600"/>
            <a:ext cx="16002000" cy="635000"/>
          </a:xfrm>
          <a:prstGeom prst="rect">
            <a:avLst/>
          </a:prstGeom>
          <a:solidFill>
            <a:srgbClr val="FFFFFF"/>
          </a:solidFill>
          <a:ln/>
        </p:spPr>
        <p:txBody>
          <a:bodyPr/>
          <a:lstStyle/>
          <a:p>
            <a:endParaRPr lang="es-CO" noProof="0" dirty="0"/>
          </a:p>
        </p:txBody>
      </p:sp>
      <p:sp>
        <p:nvSpPr>
          <p:cNvPr id="34" name="Text 32">
            <a:extLst>
              <a:ext uri="{FF2B5EF4-FFF2-40B4-BE49-F238E27FC236}">
                <a16:creationId xmlns:a16="http://schemas.microsoft.com/office/drawing/2014/main" id="{E629A660-169D-C01A-0E70-2FDFE8ECCE70}"/>
              </a:ext>
            </a:extLst>
          </p:cNvPr>
          <p:cNvSpPr/>
          <p:nvPr/>
        </p:nvSpPr>
        <p:spPr>
          <a:xfrm>
            <a:off x="1447800" y="6007100"/>
            <a:ext cx="2447915" cy="292100"/>
          </a:xfrm>
          <a:prstGeom prst="rect">
            <a:avLst/>
          </a:prstGeom>
          <a:noFill/>
          <a:ln/>
        </p:spPr>
        <p:txBody>
          <a:bodyPr wrap="square" lIns="25400" tIns="25400" rIns="25400" bIns="25400" rtlCol="0" anchor="t">
            <a:normAutofit/>
          </a:bodyPr>
          <a:lstStyle/>
          <a:p>
            <a:pPr marL="0" indent="0" algn="l">
              <a:buNone/>
            </a:pPr>
            <a:r>
              <a:rPr lang="es-CO" sz="1500" noProof="0" dirty="0">
                <a:solidFill>
                  <a:srgbClr val="3D3D3D"/>
                </a:solidFill>
                <a:latin typeface="Segoe UI" pitchFamily="34" charset="0"/>
                <a:ea typeface="Segoe UI" pitchFamily="34" charset="-122"/>
                <a:cs typeface="Segoe UI" pitchFamily="34" charset="-120"/>
              </a:rPr>
              <a:t>Política</a:t>
            </a:r>
            <a:endParaRPr lang="es-CO" sz="1500" noProof="0" dirty="0"/>
          </a:p>
        </p:txBody>
      </p:sp>
      <p:sp>
        <p:nvSpPr>
          <p:cNvPr id="35" name="Text 33">
            <a:extLst>
              <a:ext uri="{FF2B5EF4-FFF2-40B4-BE49-F238E27FC236}">
                <a16:creationId xmlns:a16="http://schemas.microsoft.com/office/drawing/2014/main" id="{351C4C2C-3992-28F4-4FA7-DBADC086C60F}"/>
              </a:ext>
            </a:extLst>
          </p:cNvPr>
          <p:cNvSpPr/>
          <p:nvPr/>
        </p:nvSpPr>
        <p:spPr>
          <a:xfrm>
            <a:off x="3673178" y="6007100"/>
            <a:ext cx="4079895" cy="292100"/>
          </a:xfrm>
          <a:prstGeom prst="rect">
            <a:avLst/>
          </a:prstGeom>
          <a:noFill/>
          <a:ln/>
        </p:spPr>
        <p:txBody>
          <a:bodyPr wrap="square" lIns="25400" tIns="25400" rIns="25400" bIns="25400" rtlCol="0" anchor="t">
            <a:normAutofit/>
          </a:bodyPr>
          <a:lstStyle/>
          <a:p>
            <a:pPr marL="0" indent="0" algn="l">
              <a:buNone/>
            </a:pPr>
            <a:r>
              <a:rPr lang="es-CO" sz="1500" noProof="0" dirty="0">
                <a:solidFill>
                  <a:srgbClr val="3D3D3D"/>
                </a:solidFill>
                <a:latin typeface="Segoe UI" pitchFamily="34" charset="0"/>
                <a:ea typeface="Segoe UI" pitchFamily="34" charset="-122"/>
                <a:cs typeface="Segoe UI" pitchFamily="34" charset="-120"/>
              </a:rPr>
              <a:t>Revisión periódica</a:t>
            </a:r>
            <a:endParaRPr lang="es-CO" sz="1500" noProof="0" dirty="0"/>
          </a:p>
        </p:txBody>
      </p:sp>
      <p:sp>
        <p:nvSpPr>
          <p:cNvPr id="36" name="Text 34">
            <a:extLst>
              <a:ext uri="{FF2B5EF4-FFF2-40B4-BE49-F238E27FC236}">
                <a16:creationId xmlns:a16="http://schemas.microsoft.com/office/drawing/2014/main" id="{68F8577E-7495-07FA-5E6A-9E9AF952A4A5}"/>
              </a:ext>
            </a:extLst>
          </p:cNvPr>
          <p:cNvSpPr/>
          <p:nvPr/>
        </p:nvSpPr>
        <p:spPr>
          <a:xfrm>
            <a:off x="7382173" y="6007100"/>
            <a:ext cx="2855883" cy="292100"/>
          </a:xfrm>
          <a:prstGeom prst="rect">
            <a:avLst/>
          </a:prstGeom>
          <a:noFill/>
          <a:ln/>
        </p:spPr>
        <p:txBody>
          <a:bodyPr wrap="square" lIns="25400" tIns="25400" rIns="25400" bIns="25400" rtlCol="0" anchor="t">
            <a:normAutofit/>
          </a:bodyPr>
          <a:lstStyle/>
          <a:p>
            <a:pPr marL="0" indent="0" algn="l">
              <a:buNone/>
            </a:pPr>
            <a:r>
              <a:rPr lang="es-CO" sz="1500" noProof="0" dirty="0">
                <a:solidFill>
                  <a:srgbClr val="3D3D3D"/>
                </a:solidFill>
                <a:latin typeface="Segoe UI" pitchFamily="34" charset="0"/>
                <a:ea typeface="Segoe UI" pitchFamily="34" charset="-122"/>
                <a:cs typeface="Segoe UI" pitchFamily="34" charset="-120"/>
              </a:rPr>
              <a:t>(s, S)</a:t>
            </a:r>
            <a:endParaRPr lang="es-CO" sz="1500" noProof="0" dirty="0"/>
          </a:p>
        </p:txBody>
      </p:sp>
      <p:sp>
        <p:nvSpPr>
          <p:cNvPr id="37" name="Text 35">
            <a:extLst>
              <a:ext uri="{FF2B5EF4-FFF2-40B4-BE49-F238E27FC236}">
                <a16:creationId xmlns:a16="http://schemas.microsoft.com/office/drawing/2014/main" id="{ABDC6251-864B-019E-62C9-15C563B35F89}"/>
              </a:ext>
            </a:extLst>
          </p:cNvPr>
          <p:cNvSpPr/>
          <p:nvPr/>
        </p:nvSpPr>
        <p:spPr>
          <a:xfrm>
            <a:off x="9978430" y="6007100"/>
            <a:ext cx="2652008" cy="292100"/>
          </a:xfrm>
          <a:prstGeom prst="rect">
            <a:avLst/>
          </a:prstGeom>
          <a:noFill/>
          <a:ln/>
        </p:spPr>
        <p:txBody>
          <a:bodyPr wrap="square" lIns="25400" tIns="25400" rIns="25400" bIns="25400" rtlCol="0" anchor="t">
            <a:normAutofit/>
          </a:bodyPr>
          <a:lstStyle/>
          <a:p>
            <a:pPr marL="0" indent="0" algn="l">
              <a:buNone/>
            </a:pPr>
            <a:r>
              <a:rPr lang="es-CO" sz="1500" noProof="0" dirty="0">
                <a:solidFill>
                  <a:srgbClr val="3D3D3D"/>
                </a:solidFill>
                <a:latin typeface="Segoe UI" pitchFamily="34" charset="0"/>
                <a:ea typeface="Segoe UI" pitchFamily="34" charset="-122"/>
                <a:cs typeface="Segoe UI" pitchFamily="34" charset="-120"/>
              </a:rPr>
              <a:t>z: 2.05/1.64/1.28</a:t>
            </a:r>
            <a:endParaRPr lang="es-CO" sz="1500" noProof="0" dirty="0"/>
          </a:p>
        </p:txBody>
      </p:sp>
      <p:sp>
        <p:nvSpPr>
          <p:cNvPr id="38" name="Text 36">
            <a:extLst>
              <a:ext uri="{FF2B5EF4-FFF2-40B4-BE49-F238E27FC236}">
                <a16:creationId xmlns:a16="http://schemas.microsoft.com/office/drawing/2014/main" id="{2FF8952A-B333-170A-398B-EE831ADCC452}"/>
              </a:ext>
            </a:extLst>
          </p:cNvPr>
          <p:cNvSpPr/>
          <p:nvPr/>
        </p:nvSpPr>
        <p:spPr>
          <a:xfrm>
            <a:off x="12389346" y="6007100"/>
            <a:ext cx="2039947" cy="292100"/>
          </a:xfrm>
          <a:prstGeom prst="rect">
            <a:avLst/>
          </a:prstGeom>
          <a:noFill/>
          <a:ln/>
        </p:spPr>
        <p:txBody>
          <a:bodyPr wrap="square" lIns="25400" tIns="25400" rIns="25400" bIns="25400" rtlCol="0" anchor="t">
            <a:normAutofit/>
          </a:bodyPr>
          <a:lstStyle/>
          <a:p>
            <a:pPr marL="0" indent="0" algn="l">
              <a:buNone/>
            </a:pPr>
            <a:r>
              <a:rPr lang="es-CO" sz="1500" noProof="0" dirty="0">
                <a:solidFill>
                  <a:srgbClr val="3D3D3D"/>
                </a:solidFill>
                <a:latin typeface="Segoe UI" pitchFamily="34" charset="0"/>
                <a:ea typeface="Segoe UI" pitchFamily="34" charset="-122"/>
                <a:cs typeface="Segoe UI" pitchFamily="34" charset="-120"/>
              </a:rPr>
              <a:t>por clase ABC</a:t>
            </a:r>
            <a:endParaRPr lang="es-CO" sz="1500" noProof="0" dirty="0"/>
          </a:p>
        </p:txBody>
      </p:sp>
      <p:sp>
        <p:nvSpPr>
          <p:cNvPr id="39" name="Text 37">
            <a:extLst>
              <a:ext uri="{FF2B5EF4-FFF2-40B4-BE49-F238E27FC236}">
                <a16:creationId xmlns:a16="http://schemas.microsoft.com/office/drawing/2014/main" id="{1B45BE1E-A5F4-B7E1-AF89-B1B6B2248801}"/>
              </a:ext>
            </a:extLst>
          </p:cNvPr>
          <p:cNvSpPr/>
          <p:nvPr/>
        </p:nvSpPr>
        <p:spPr>
          <a:xfrm>
            <a:off x="14243845" y="6007100"/>
            <a:ext cx="2855992" cy="292100"/>
          </a:xfrm>
          <a:prstGeom prst="rect">
            <a:avLst/>
          </a:prstGeom>
          <a:noFill/>
          <a:ln/>
        </p:spPr>
        <p:txBody>
          <a:bodyPr wrap="square" lIns="25400" tIns="25400" rIns="25400" bIns="25400" rtlCol="0" anchor="t">
            <a:normAutofit/>
          </a:bodyPr>
          <a:lstStyle/>
          <a:p>
            <a:pPr marL="0" indent="0" algn="l">
              <a:buNone/>
            </a:pPr>
            <a:r>
              <a:rPr lang="es-CO" sz="1500" noProof="0" dirty="0">
                <a:solidFill>
                  <a:srgbClr val="3D3D3D"/>
                </a:solidFill>
                <a:latin typeface="Segoe UI" pitchFamily="34" charset="0"/>
                <a:ea typeface="Segoe UI" pitchFamily="34" charset="-122"/>
                <a:cs typeface="Segoe UI" pitchFamily="34" charset="-120"/>
              </a:rPr>
              <a:t>R=1 semana</a:t>
            </a:r>
            <a:endParaRPr lang="es-CO" sz="1500" noProof="0" dirty="0"/>
          </a:p>
        </p:txBody>
      </p:sp>
      <p:sp>
        <p:nvSpPr>
          <p:cNvPr id="40" name="Text 38">
            <a:extLst>
              <a:ext uri="{FF2B5EF4-FFF2-40B4-BE49-F238E27FC236}">
                <a16:creationId xmlns:a16="http://schemas.microsoft.com/office/drawing/2014/main" id="{17F29182-563D-4A35-99ED-93C1BF7F166B}"/>
              </a:ext>
            </a:extLst>
          </p:cNvPr>
          <p:cNvSpPr/>
          <p:nvPr/>
        </p:nvSpPr>
        <p:spPr>
          <a:xfrm>
            <a:off x="1143000" y="9525000"/>
            <a:ext cx="5412720" cy="266700"/>
          </a:xfrm>
          <a:prstGeom prst="rect">
            <a:avLst/>
          </a:prstGeom>
          <a:noFill/>
          <a:ln/>
        </p:spPr>
        <p:txBody>
          <a:bodyPr wrap="square" lIns="25400" tIns="25400" rIns="25400" bIns="25400" rtlCol="0" anchor="t">
            <a:normAutofit/>
          </a:bodyPr>
          <a:lstStyle/>
          <a:p>
            <a:pPr marL="0" indent="0" algn="l">
              <a:buNone/>
            </a:pPr>
            <a:r>
              <a:rPr lang="es-CO" sz="1350" noProof="0" dirty="0">
                <a:solidFill>
                  <a:srgbClr val="6F6F6F"/>
                </a:solidFill>
                <a:latin typeface="Segoe UI" pitchFamily="34" charset="0"/>
                <a:ea typeface="Segoe UI" pitchFamily="34" charset="-122"/>
                <a:cs typeface="Segoe UI" pitchFamily="34" charset="-120"/>
              </a:rPr>
              <a:t>UTS · Cartilla de aprendizaje — Gestión Inteligente de Inventarios</a:t>
            </a:r>
            <a:endParaRPr lang="es-CO" sz="1350" noProof="0" dirty="0"/>
          </a:p>
        </p:txBody>
      </p:sp>
      <p:sp>
        <p:nvSpPr>
          <p:cNvPr id="41" name="Shape 39">
            <a:extLst>
              <a:ext uri="{FF2B5EF4-FFF2-40B4-BE49-F238E27FC236}">
                <a16:creationId xmlns:a16="http://schemas.microsoft.com/office/drawing/2014/main" id="{38FEC0AD-F65E-9CAB-BA80-C4662BC0AA85}"/>
              </a:ext>
            </a:extLst>
          </p:cNvPr>
          <p:cNvSpPr/>
          <p:nvPr/>
        </p:nvSpPr>
        <p:spPr>
          <a:xfrm>
            <a:off x="16725900" y="9410700"/>
            <a:ext cx="419100" cy="419100"/>
          </a:xfrm>
          <a:prstGeom prst="ellipse">
            <a:avLst/>
          </a:prstGeom>
          <a:solidFill>
            <a:srgbClr val="7E2C8C"/>
          </a:solidFill>
          <a:ln/>
        </p:spPr>
        <p:txBody>
          <a:bodyPr/>
          <a:lstStyle/>
          <a:p>
            <a:endParaRPr lang="es-CO" noProof="0" dirty="0"/>
          </a:p>
        </p:txBody>
      </p:sp>
      <p:sp>
        <p:nvSpPr>
          <p:cNvPr id="42" name="Text 40">
            <a:extLst>
              <a:ext uri="{FF2B5EF4-FFF2-40B4-BE49-F238E27FC236}">
                <a16:creationId xmlns:a16="http://schemas.microsoft.com/office/drawing/2014/main" id="{61393BFC-6104-163C-CC6E-21EB3573E5F8}"/>
              </a:ext>
            </a:extLst>
          </p:cNvPr>
          <p:cNvSpPr/>
          <p:nvPr/>
        </p:nvSpPr>
        <p:spPr>
          <a:xfrm>
            <a:off x="16687800" y="9410700"/>
            <a:ext cx="495300" cy="457200"/>
          </a:xfrm>
          <a:prstGeom prst="rect">
            <a:avLst/>
          </a:prstGeom>
          <a:noFill/>
          <a:ln/>
        </p:spPr>
        <p:txBody>
          <a:bodyPr wrap="square" lIns="25400" tIns="25400" rIns="25400" bIns="25400" rtlCol="0" anchor="ctr">
            <a:normAutofit/>
          </a:bodyPr>
          <a:lstStyle/>
          <a:p>
            <a:pPr marL="0" indent="0" algn="ctr">
              <a:buNone/>
            </a:pPr>
            <a:r>
              <a:rPr lang="es-CO" sz="1500" b="1" noProof="0" dirty="0">
                <a:solidFill>
                  <a:srgbClr val="FFFFFF"/>
                </a:solidFill>
                <a:latin typeface="Segoe UI" pitchFamily="34" charset="0"/>
                <a:ea typeface="Segoe UI" pitchFamily="34" charset="-122"/>
                <a:cs typeface="Segoe UI" pitchFamily="34" charset="-120"/>
              </a:rPr>
              <a:t>09</a:t>
            </a:r>
            <a:endParaRPr lang="es-CO" sz="1500" noProof="0" dirty="0"/>
          </a:p>
        </p:txBody>
      </p:sp>
      <p:sp>
        <p:nvSpPr>
          <p:cNvPr id="52" name="Shape 0">
            <a:extLst>
              <a:ext uri="{FF2B5EF4-FFF2-40B4-BE49-F238E27FC236}">
                <a16:creationId xmlns:a16="http://schemas.microsoft.com/office/drawing/2014/main" id="{5F2F311E-91BF-3D2C-AACF-171607CBC477}"/>
              </a:ext>
            </a:extLst>
          </p:cNvPr>
          <p:cNvSpPr/>
          <p:nvPr/>
        </p:nvSpPr>
        <p:spPr>
          <a:xfrm>
            <a:off x="1143000" y="838200"/>
            <a:ext cx="3914974" cy="419100"/>
          </a:xfrm>
          <a:prstGeom prst="roundRect">
            <a:avLst>
              <a:gd name="adj" fmla="val 50000"/>
            </a:avLst>
          </a:prstGeom>
          <a:solidFill>
            <a:srgbClr val="F4FADF"/>
          </a:solidFill>
          <a:ln/>
        </p:spPr>
        <p:txBody>
          <a:bodyPr/>
          <a:lstStyle/>
          <a:p>
            <a:endParaRPr lang="es-CO" noProof="0" dirty="0"/>
          </a:p>
        </p:txBody>
      </p:sp>
      <p:sp>
        <p:nvSpPr>
          <p:cNvPr id="54" name="Text 1">
            <a:extLst>
              <a:ext uri="{FF2B5EF4-FFF2-40B4-BE49-F238E27FC236}">
                <a16:creationId xmlns:a16="http://schemas.microsoft.com/office/drawing/2014/main" id="{37475A33-B9C5-3237-3369-39B7E90A3D6E}"/>
              </a:ext>
            </a:extLst>
          </p:cNvPr>
          <p:cNvSpPr/>
          <p:nvPr/>
        </p:nvSpPr>
        <p:spPr>
          <a:xfrm>
            <a:off x="1352550" y="933450"/>
            <a:ext cx="3613323" cy="266700"/>
          </a:xfrm>
          <a:prstGeom prst="rect">
            <a:avLst/>
          </a:prstGeom>
          <a:noFill/>
          <a:ln/>
        </p:spPr>
        <p:txBody>
          <a:bodyPr wrap="square" lIns="25400" tIns="25400" rIns="25400" bIns="25400" rtlCol="0" anchor="ctr">
            <a:normAutofit fontScale="77500" lnSpcReduction="20000"/>
          </a:bodyPr>
          <a:lstStyle/>
          <a:p>
            <a:pPr marL="0" indent="0" algn="l">
              <a:buNone/>
            </a:pPr>
            <a:r>
              <a:rPr lang="es-CO" sz="1350" b="1" kern="0" spc="81" noProof="0" dirty="0">
                <a:solidFill>
                  <a:srgbClr val="7E2C8C"/>
                </a:solidFill>
                <a:latin typeface="Segoe UI" pitchFamily="34" charset="0"/>
                <a:ea typeface="Segoe UI" pitchFamily="34" charset="-122"/>
                <a:cs typeface="Segoe UI" pitchFamily="34" charset="-120"/>
              </a:rPr>
              <a:t>FASE 1 · DISEÑO DEL ENTORNO DE SIMULACIÓN</a:t>
            </a:r>
            <a:endParaRPr lang="es-CO" sz="1350" noProof="0" dirty="0"/>
          </a:p>
        </p:txBody>
      </p:sp>
    </p:spTree>
    <p:extLst>
      <p:ext uri="{BB962C8B-B14F-4D97-AF65-F5344CB8AC3E}">
        <p14:creationId xmlns:p14="http://schemas.microsoft.com/office/powerpoint/2010/main" val="40999656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1143000" y="1619250"/>
            <a:ext cx="13620750" cy="698500"/>
          </a:xfrm>
          <a:prstGeom prst="rect">
            <a:avLst/>
          </a:prstGeom>
          <a:noFill/>
          <a:ln/>
        </p:spPr>
        <p:txBody>
          <a:bodyPr wrap="square" lIns="25400" tIns="25400" rIns="25400" bIns="25400" rtlCol="0" anchor="t">
            <a:normAutofit/>
          </a:bodyPr>
          <a:lstStyle/>
          <a:p>
            <a:pPr marL="0" indent="0" algn="l">
              <a:buNone/>
            </a:pPr>
            <a:r>
              <a:rPr lang="es-CO" sz="3900" b="1" noProof="0" dirty="0">
                <a:solidFill>
                  <a:srgbClr val="3D3D3D"/>
                </a:solidFill>
                <a:latin typeface="Segoe UI" pitchFamily="34" charset="0"/>
                <a:ea typeface="Segoe UI" pitchFamily="34" charset="-122"/>
                <a:cs typeface="Segoe UI" pitchFamily="34" charset="-120"/>
              </a:rPr>
              <a:t>Política de inventario (s, S): lógica semanal</a:t>
            </a:r>
            <a:endParaRPr lang="es-CO" sz="3900" noProof="0" dirty="0"/>
          </a:p>
        </p:txBody>
      </p:sp>
      <p:sp>
        <p:nvSpPr>
          <p:cNvPr id="5" name="Shape 3"/>
          <p:cNvSpPr/>
          <p:nvPr/>
        </p:nvSpPr>
        <p:spPr>
          <a:xfrm>
            <a:off x="1619250" y="3238500"/>
            <a:ext cx="2667000" cy="857250"/>
          </a:xfrm>
          <a:prstGeom prst="roundRect">
            <a:avLst>
              <a:gd name="adj" fmla="val 22222"/>
            </a:avLst>
          </a:prstGeom>
          <a:solidFill>
            <a:srgbClr val="7E2C8C"/>
          </a:solidFill>
          <a:ln/>
        </p:spPr>
        <p:txBody>
          <a:bodyPr/>
          <a:lstStyle/>
          <a:p>
            <a:endParaRPr lang="es-CO" noProof="0" dirty="0"/>
          </a:p>
        </p:txBody>
      </p:sp>
      <p:sp>
        <p:nvSpPr>
          <p:cNvPr id="6" name="Text 4"/>
          <p:cNvSpPr/>
          <p:nvPr/>
        </p:nvSpPr>
        <p:spPr>
          <a:xfrm>
            <a:off x="1579245" y="3238500"/>
            <a:ext cx="2747010" cy="895350"/>
          </a:xfrm>
          <a:prstGeom prst="rect">
            <a:avLst/>
          </a:prstGeom>
          <a:noFill/>
          <a:ln/>
        </p:spPr>
        <p:txBody>
          <a:bodyPr wrap="square" lIns="25400" tIns="25400" rIns="25400" bIns="25400" rtlCol="0" anchor="ctr">
            <a:normAutofit/>
          </a:bodyPr>
          <a:lstStyle/>
          <a:p>
            <a:pPr marL="0" indent="0" algn="ctr">
              <a:buNone/>
            </a:pPr>
            <a:r>
              <a:rPr lang="es-CO" sz="1650" b="1" noProof="0" dirty="0">
                <a:solidFill>
                  <a:srgbClr val="FFFFFF"/>
                </a:solidFill>
                <a:latin typeface="Segoe UI" pitchFamily="34" charset="0"/>
                <a:ea typeface="Segoe UI" pitchFamily="34" charset="-122"/>
                <a:cs typeface="Segoe UI" pitchFamily="34" charset="-120"/>
              </a:rPr>
              <a:t>Calcular posición de inventario</a:t>
            </a:r>
            <a:endParaRPr lang="es-CO" sz="1650" noProof="0" dirty="0"/>
          </a:p>
        </p:txBody>
      </p:sp>
      <p:sp>
        <p:nvSpPr>
          <p:cNvPr id="7" name="Shape 5"/>
          <p:cNvSpPr/>
          <p:nvPr/>
        </p:nvSpPr>
        <p:spPr>
          <a:xfrm>
            <a:off x="2857500" y="4095750"/>
            <a:ext cx="57150" cy="571500"/>
          </a:xfrm>
          <a:prstGeom prst="rect">
            <a:avLst/>
          </a:prstGeom>
          <a:solidFill>
            <a:srgbClr val="E9E9E9"/>
          </a:solidFill>
          <a:ln/>
        </p:spPr>
        <p:txBody>
          <a:bodyPr/>
          <a:lstStyle/>
          <a:p>
            <a:endParaRPr lang="es-CO" noProof="0" dirty="0"/>
          </a:p>
        </p:txBody>
      </p:sp>
      <p:sp>
        <p:nvSpPr>
          <p:cNvPr id="8" name="Shape 6"/>
          <p:cNvSpPr/>
          <p:nvPr/>
        </p:nvSpPr>
        <p:spPr>
          <a:xfrm>
            <a:off x="1238250" y="4667250"/>
            <a:ext cx="3429001" cy="1143000"/>
          </a:xfrm>
          <a:prstGeom prst="roundRect">
            <a:avLst>
              <a:gd name="adj" fmla="val 13333"/>
            </a:avLst>
          </a:prstGeom>
          <a:solidFill>
            <a:srgbClr val="F4FADF"/>
          </a:solidFill>
          <a:ln/>
        </p:spPr>
        <p:txBody>
          <a:bodyPr/>
          <a:lstStyle/>
          <a:p>
            <a:endParaRPr lang="es-CO" noProof="0" dirty="0"/>
          </a:p>
        </p:txBody>
      </p:sp>
      <p:sp>
        <p:nvSpPr>
          <p:cNvPr id="9" name="Text 7"/>
          <p:cNvSpPr/>
          <p:nvPr/>
        </p:nvSpPr>
        <p:spPr>
          <a:xfrm>
            <a:off x="1485900" y="5048250"/>
            <a:ext cx="2933700" cy="279400"/>
          </a:xfrm>
          <a:prstGeom prst="rect">
            <a:avLst/>
          </a:prstGeom>
          <a:noFill/>
          <a:ln/>
        </p:spPr>
        <p:txBody>
          <a:bodyPr wrap="square" lIns="25400" tIns="25400" rIns="25400" bIns="25400" rtlCol="0" anchor="t">
            <a:normAutofit fontScale="92500"/>
          </a:bodyPr>
          <a:lstStyle/>
          <a:p>
            <a:pPr marL="0" indent="0" algn="ctr">
              <a:buNone/>
            </a:pPr>
            <a:r>
              <a:rPr lang="es-CO" sz="1425" b="1" noProof="0" dirty="0">
                <a:solidFill>
                  <a:srgbClr val="3D3D3D"/>
                </a:solidFill>
                <a:latin typeface="Segoe UI" pitchFamily="34" charset="0"/>
                <a:ea typeface="Segoe UI" pitchFamily="34" charset="-122"/>
                <a:cs typeface="Segoe UI" pitchFamily="34" charset="-120"/>
              </a:rPr>
              <a:t>¿Posición ≤ Punto de reorden (ROP)?</a:t>
            </a:r>
            <a:endParaRPr lang="es-CO" sz="1425" noProof="0" dirty="0"/>
          </a:p>
        </p:txBody>
      </p:sp>
      <p:sp>
        <p:nvSpPr>
          <p:cNvPr id="10" name="Shape 8"/>
          <p:cNvSpPr/>
          <p:nvPr/>
        </p:nvSpPr>
        <p:spPr>
          <a:xfrm flipV="1">
            <a:off x="4667251" y="5303519"/>
            <a:ext cx="2152245" cy="45719"/>
          </a:xfrm>
          <a:prstGeom prst="rect">
            <a:avLst/>
          </a:prstGeom>
          <a:solidFill>
            <a:srgbClr val="E9E9E9"/>
          </a:solidFill>
          <a:ln/>
        </p:spPr>
        <p:txBody>
          <a:bodyPr/>
          <a:lstStyle/>
          <a:p>
            <a:endParaRPr lang="es-CO" noProof="0" dirty="0"/>
          </a:p>
        </p:txBody>
      </p:sp>
      <p:sp>
        <p:nvSpPr>
          <p:cNvPr id="11" name="Text 9"/>
          <p:cNvSpPr/>
          <p:nvPr/>
        </p:nvSpPr>
        <p:spPr>
          <a:xfrm>
            <a:off x="5524500" y="4838700"/>
            <a:ext cx="229096" cy="279400"/>
          </a:xfrm>
          <a:prstGeom prst="rect">
            <a:avLst/>
          </a:prstGeom>
          <a:noFill/>
          <a:ln/>
        </p:spPr>
        <p:txBody>
          <a:bodyPr wrap="square" lIns="25400" tIns="25400" rIns="25400" bIns="25400" rtlCol="0" anchor="t">
            <a:normAutofit/>
          </a:bodyPr>
          <a:lstStyle/>
          <a:p>
            <a:pPr marL="0" indent="0" algn="l">
              <a:buNone/>
            </a:pPr>
            <a:r>
              <a:rPr lang="es-CO" sz="1425" b="1" noProof="0" dirty="0">
                <a:solidFill>
                  <a:srgbClr val="7E2C8C"/>
                </a:solidFill>
                <a:latin typeface="Segoe UI" pitchFamily="34" charset="0"/>
                <a:ea typeface="Segoe UI" pitchFamily="34" charset="-122"/>
                <a:cs typeface="Segoe UI" pitchFamily="34" charset="-120"/>
              </a:rPr>
              <a:t>Sí</a:t>
            </a:r>
            <a:endParaRPr lang="es-CO" sz="1425" noProof="0" dirty="0"/>
          </a:p>
        </p:txBody>
      </p:sp>
      <p:sp>
        <p:nvSpPr>
          <p:cNvPr id="12" name="Shape 10"/>
          <p:cNvSpPr/>
          <p:nvPr/>
        </p:nvSpPr>
        <p:spPr>
          <a:xfrm>
            <a:off x="6819497" y="4800600"/>
            <a:ext cx="3290284" cy="857250"/>
          </a:xfrm>
          <a:prstGeom prst="roundRect">
            <a:avLst>
              <a:gd name="adj" fmla="val 22222"/>
            </a:avLst>
          </a:prstGeom>
          <a:solidFill>
            <a:srgbClr val="B7D81A"/>
          </a:solidFill>
          <a:ln/>
        </p:spPr>
        <p:txBody>
          <a:bodyPr/>
          <a:lstStyle/>
          <a:p>
            <a:endParaRPr lang="es-CO" noProof="0" dirty="0"/>
          </a:p>
        </p:txBody>
      </p:sp>
      <p:sp>
        <p:nvSpPr>
          <p:cNvPr id="13" name="Text 11"/>
          <p:cNvSpPr/>
          <p:nvPr/>
        </p:nvSpPr>
        <p:spPr>
          <a:xfrm>
            <a:off x="6969859" y="4781550"/>
            <a:ext cx="2890234" cy="895350"/>
          </a:xfrm>
          <a:prstGeom prst="rect">
            <a:avLst/>
          </a:prstGeom>
          <a:noFill/>
          <a:ln/>
        </p:spPr>
        <p:txBody>
          <a:bodyPr wrap="square" lIns="25400" tIns="25400" rIns="25400" bIns="25400" rtlCol="0" anchor="ctr">
            <a:normAutofit/>
          </a:bodyPr>
          <a:lstStyle/>
          <a:p>
            <a:pPr marL="0" indent="0" algn="ctr">
              <a:buNone/>
            </a:pPr>
            <a:r>
              <a:rPr lang="es-CO" sz="1500" b="1" noProof="0" dirty="0">
                <a:solidFill>
                  <a:srgbClr val="3D3D3D"/>
                </a:solidFill>
                <a:latin typeface="Segoe UI" pitchFamily="34" charset="0"/>
                <a:ea typeface="Segoe UI" pitchFamily="34" charset="-122"/>
                <a:cs typeface="Segoe UI" pitchFamily="34" charset="-120"/>
              </a:rPr>
              <a:t>Emitir pedido hasta el nivel S</a:t>
            </a:r>
            <a:endParaRPr lang="es-CO" sz="1500" noProof="0" dirty="0"/>
          </a:p>
        </p:txBody>
      </p:sp>
      <p:sp>
        <p:nvSpPr>
          <p:cNvPr id="14" name="Shape 12"/>
          <p:cNvSpPr/>
          <p:nvPr/>
        </p:nvSpPr>
        <p:spPr>
          <a:xfrm>
            <a:off x="2857500" y="5810250"/>
            <a:ext cx="57150" cy="1143000"/>
          </a:xfrm>
          <a:prstGeom prst="rect">
            <a:avLst/>
          </a:prstGeom>
          <a:solidFill>
            <a:srgbClr val="E9E9E9"/>
          </a:solidFill>
          <a:ln/>
        </p:spPr>
        <p:txBody>
          <a:bodyPr/>
          <a:lstStyle/>
          <a:p>
            <a:endParaRPr lang="es-CO" noProof="0" dirty="0"/>
          </a:p>
        </p:txBody>
      </p:sp>
      <p:sp>
        <p:nvSpPr>
          <p:cNvPr id="15" name="Text 13"/>
          <p:cNvSpPr/>
          <p:nvPr/>
        </p:nvSpPr>
        <p:spPr>
          <a:xfrm>
            <a:off x="3143250" y="6381750"/>
            <a:ext cx="329902" cy="279400"/>
          </a:xfrm>
          <a:prstGeom prst="rect">
            <a:avLst/>
          </a:prstGeom>
          <a:noFill/>
          <a:ln/>
        </p:spPr>
        <p:txBody>
          <a:bodyPr wrap="square" lIns="25400" tIns="25400" rIns="25400" bIns="25400" rtlCol="0" anchor="t">
            <a:normAutofit/>
          </a:bodyPr>
          <a:lstStyle/>
          <a:p>
            <a:pPr marL="0" indent="0" algn="l">
              <a:buNone/>
            </a:pPr>
            <a:r>
              <a:rPr lang="es-CO" sz="1425" b="1" noProof="0" dirty="0">
                <a:solidFill>
                  <a:srgbClr val="6F6F6F"/>
                </a:solidFill>
                <a:latin typeface="Segoe UI" pitchFamily="34" charset="0"/>
                <a:ea typeface="Segoe UI" pitchFamily="34" charset="-122"/>
                <a:cs typeface="Segoe UI" pitchFamily="34" charset="-120"/>
              </a:rPr>
              <a:t>No</a:t>
            </a:r>
            <a:endParaRPr lang="es-CO" sz="1425" noProof="0" dirty="0"/>
          </a:p>
        </p:txBody>
      </p:sp>
      <p:sp>
        <p:nvSpPr>
          <p:cNvPr id="16" name="Shape 14"/>
          <p:cNvSpPr/>
          <p:nvPr/>
        </p:nvSpPr>
        <p:spPr>
          <a:xfrm>
            <a:off x="1619250" y="7048500"/>
            <a:ext cx="2667000" cy="857250"/>
          </a:xfrm>
          <a:prstGeom prst="roundRect">
            <a:avLst>
              <a:gd name="adj" fmla="val 22222"/>
            </a:avLst>
          </a:prstGeom>
          <a:solidFill>
            <a:srgbClr val="A867B5"/>
          </a:solidFill>
          <a:ln/>
        </p:spPr>
        <p:txBody>
          <a:bodyPr/>
          <a:lstStyle/>
          <a:p>
            <a:endParaRPr lang="es-CO" noProof="0" dirty="0"/>
          </a:p>
        </p:txBody>
      </p:sp>
      <p:sp>
        <p:nvSpPr>
          <p:cNvPr id="17" name="Text 15"/>
          <p:cNvSpPr/>
          <p:nvPr/>
        </p:nvSpPr>
        <p:spPr>
          <a:xfrm>
            <a:off x="1579245" y="7048500"/>
            <a:ext cx="2747010" cy="895350"/>
          </a:xfrm>
          <a:prstGeom prst="rect">
            <a:avLst/>
          </a:prstGeom>
          <a:noFill/>
          <a:ln/>
        </p:spPr>
        <p:txBody>
          <a:bodyPr wrap="square" lIns="25400" tIns="25400" rIns="25400" bIns="25400" rtlCol="0" anchor="ctr">
            <a:normAutofit/>
          </a:bodyPr>
          <a:lstStyle/>
          <a:p>
            <a:pPr marL="0" indent="0" algn="ctr">
              <a:buNone/>
            </a:pPr>
            <a:r>
              <a:rPr lang="es-CO" sz="1500" b="1" noProof="0" dirty="0">
                <a:solidFill>
                  <a:srgbClr val="FFFFFF"/>
                </a:solidFill>
                <a:latin typeface="Segoe UI" pitchFamily="34" charset="0"/>
                <a:ea typeface="Segoe UI" pitchFamily="34" charset="-122"/>
                <a:cs typeface="Segoe UI" pitchFamily="34" charset="-120"/>
              </a:rPr>
              <a:t>No pedir; mantener posición</a:t>
            </a:r>
            <a:endParaRPr lang="es-CO" sz="1500" noProof="0" dirty="0"/>
          </a:p>
        </p:txBody>
      </p:sp>
      <p:sp>
        <p:nvSpPr>
          <p:cNvPr id="18" name="Shape 16"/>
          <p:cNvSpPr/>
          <p:nvPr/>
        </p:nvSpPr>
        <p:spPr>
          <a:xfrm>
            <a:off x="4286250" y="7477125"/>
            <a:ext cx="2762250" cy="57150"/>
          </a:xfrm>
          <a:prstGeom prst="rect">
            <a:avLst/>
          </a:prstGeom>
          <a:solidFill>
            <a:srgbClr val="E9E9E9"/>
          </a:solidFill>
          <a:ln/>
        </p:spPr>
        <p:txBody>
          <a:bodyPr/>
          <a:lstStyle/>
          <a:p>
            <a:endParaRPr lang="es-CO" noProof="0" dirty="0"/>
          </a:p>
        </p:txBody>
      </p:sp>
      <p:sp>
        <p:nvSpPr>
          <p:cNvPr id="19" name="Shape 17"/>
          <p:cNvSpPr/>
          <p:nvPr/>
        </p:nvSpPr>
        <p:spPr>
          <a:xfrm>
            <a:off x="7048500" y="7048500"/>
            <a:ext cx="2667000" cy="857250"/>
          </a:xfrm>
          <a:prstGeom prst="roundRect">
            <a:avLst>
              <a:gd name="adj" fmla="val 22222"/>
            </a:avLst>
          </a:prstGeom>
          <a:solidFill>
            <a:srgbClr val="3D3D3D"/>
          </a:solidFill>
          <a:ln/>
        </p:spPr>
        <p:txBody>
          <a:bodyPr/>
          <a:lstStyle/>
          <a:p>
            <a:endParaRPr lang="es-CO" noProof="0" dirty="0"/>
          </a:p>
        </p:txBody>
      </p:sp>
      <p:sp>
        <p:nvSpPr>
          <p:cNvPr id="20" name="Text 18"/>
          <p:cNvSpPr/>
          <p:nvPr/>
        </p:nvSpPr>
        <p:spPr>
          <a:xfrm>
            <a:off x="7008495" y="7048500"/>
            <a:ext cx="2747010" cy="895350"/>
          </a:xfrm>
          <a:prstGeom prst="rect">
            <a:avLst/>
          </a:prstGeom>
          <a:noFill/>
          <a:ln/>
        </p:spPr>
        <p:txBody>
          <a:bodyPr wrap="square" lIns="25400" tIns="25400" rIns="25400" bIns="25400" rtlCol="0" anchor="ctr">
            <a:normAutofit/>
          </a:bodyPr>
          <a:lstStyle/>
          <a:p>
            <a:pPr marL="0" indent="0" algn="ctr">
              <a:buNone/>
            </a:pPr>
            <a:r>
              <a:rPr lang="es-CO" sz="1500" b="1" noProof="0" dirty="0">
                <a:solidFill>
                  <a:srgbClr val="FFFFFF"/>
                </a:solidFill>
                <a:latin typeface="Segoe UI" pitchFamily="34" charset="0"/>
                <a:ea typeface="Segoe UI" pitchFamily="34" charset="-122"/>
                <a:cs typeface="Segoe UI" pitchFamily="34" charset="-120"/>
              </a:rPr>
              <a:t>Actualizar inventario de la semana</a:t>
            </a:r>
            <a:endParaRPr lang="es-CO" sz="1500" noProof="0" dirty="0"/>
          </a:p>
        </p:txBody>
      </p:sp>
      <p:sp>
        <p:nvSpPr>
          <p:cNvPr id="21" name="Shape 19"/>
          <p:cNvSpPr/>
          <p:nvPr/>
        </p:nvSpPr>
        <p:spPr>
          <a:xfrm>
            <a:off x="8382000" y="5657850"/>
            <a:ext cx="57150" cy="1390650"/>
          </a:xfrm>
          <a:prstGeom prst="rect">
            <a:avLst/>
          </a:prstGeom>
          <a:solidFill>
            <a:srgbClr val="E9E9E9"/>
          </a:solidFill>
          <a:ln/>
        </p:spPr>
        <p:txBody>
          <a:bodyPr/>
          <a:lstStyle/>
          <a:p>
            <a:endParaRPr lang="es-CO" noProof="0" dirty="0"/>
          </a:p>
        </p:txBody>
      </p:sp>
      <p:sp>
        <p:nvSpPr>
          <p:cNvPr id="22" name="Shape 20"/>
          <p:cNvSpPr/>
          <p:nvPr/>
        </p:nvSpPr>
        <p:spPr>
          <a:xfrm>
            <a:off x="11506200" y="3238500"/>
            <a:ext cx="5638800" cy="2788813"/>
          </a:xfrm>
          <a:prstGeom prst="roundRect">
            <a:avLst>
              <a:gd name="adj" fmla="val 12156"/>
            </a:avLst>
          </a:prstGeom>
          <a:solidFill>
            <a:srgbClr val="F4FADF"/>
          </a:solidFill>
          <a:ln/>
        </p:spPr>
        <p:txBody>
          <a:bodyPr/>
          <a:lstStyle/>
          <a:p>
            <a:endParaRPr lang="es-CO" noProof="0" dirty="0"/>
          </a:p>
        </p:txBody>
      </p:sp>
      <p:sp>
        <p:nvSpPr>
          <p:cNvPr id="23" name="Text 21"/>
          <p:cNvSpPr/>
          <p:nvPr/>
        </p:nvSpPr>
        <p:spPr>
          <a:xfrm>
            <a:off x="11849100" y="3581400"/>
            <a:ext cx="5448300" cy="317500"/>
          </a:xfrm>
          <a:prstGeom prst="rect">
            <a:avLst/>
          </a:prstGeom>
          <a:noFill/>
          <a:ln/>
        </p:spPr>
        <p:txBody>
          <a:bodyPr wrap="square" lIns="25400" tIns="25400" rIns="25400" bIns="25400" rtlCol="0" anchor="t">
            <a:normAutofit/>
          </a:bodyPr>
          <a:lstStyle/>
          <a:p>
            <a:pPr marL="0" indent="0" algn="l">
              <a:buNone/>
            </a:pPr>
            <a:r>
              <a:rPr lang="es-CO" sz="1650" b="1" noProof="0" dirty="0">
                <a:solidFill>
                  <a:srgbClr val="7E2C8C"/>
                </a:solidFill>
                <a:latin typeface="Segoe UI" pitchFamily="34" charset="0"/>
                <a:ea typeface="Segoe UI" pitchFamily="34" charset="-122"/>
                <a:cs typeface="Segoe UI" pitchFamily="34" charset="-120"/>
              </a:rPr>
              <a:t>Regla de decisión</a:t>
            </a:r>
            <a:endParaRPr lang="es-CO" sz="1650" noProof="0" dirty="0"/>
          </a:p>
        </p:txBody>
      </p:sp>
      <p:sp>
        <p:nvSpPr>
          <p:cNvPr id="24" name="Text 22"/>
          <p:cNvSpPr/>
          <p:nvPr/>
        </p:nvSpPr>
        <p:spPr>
          <a:xfrm>
            <a:off x="11849100" y="3975100"/>
            <a:ext cx="5101590" cy="1152525"/>
          </a:xfrm>
          <a:prstGeom prst="rect">
            <a:avLst/>
          </a:prstGeom>
          <a:noFill/>
          <a:ln/>
        </p:spPr>
        <p:txBody>
          <a:bodyPr wrap="square" lIns="25400" tIns="25400" rIns="25400" bIns="25400" rtlCol="0" anchor="t">
            <a:normAutofit fontScale="92500" lnSpcReduction="20000"/>
          </a:bodyPr>
          <a:lstStyle/>
          <a:p>
            <a:pPr marL="0" indent="0" algn="l">
              <a:lnSpc>
                <a:spcPct val="112500"/>
              </a:lnSpc>
              <a:buNone/>
            </a:pPr>
            <a:r>
              <a:rPr lang="es-CO" sz="1950" noProof="0" dirty="0">
                <a:solidFill>
                  <a:srgbClr val="3D3D3D"/>
                </a:solidFill>
                <a:latin typeface="Segoe UI" pitchFamily="34" charset="0"/>
                <a:ea typeface="Segoe UI" pitchFamily="34" charset="-122"/>
                <a:cs typeface="Segoe UI" pitchFamily="34" charset="-120"/>
              </a:rPr>
              <a:t>El sistema revisa cada semana si la posición de inventario (existencias más tránsito) cae al punto de reorden o por debajo; si ocurre, se emite un pedido que repone hasta el nivel objetivo S.</a:t>
            </a:r>
            <a:endParaRPr lang="es-CO" sz="1950" noProof="0" dirty="0"/>
          </a:p>
        </p:txBody>
      </p:sp>
      <p:sp>
        <p:nvSpPr>
          <p:cNvPr id="25" name="Text 23"/>
          <p:cNvSpPr/>
          <p:nvPr/>
        </p:nvSpPr>
        <p:spPr>
          <a:xfrm>
            <a:off x="1143000" y="9525000"/>
            <a:ext cx="5412720" cy="266700"/>
          </a:xfrm>
          <a:prstGeom prst="rect">
            <a:avLst/>
          </a:prstGeom>
          <a:noFill/>
          <a:ln/>
        </p:spPr>
        <p:txBody>
          <a:bodyPr wrap="square" lIns="25400" tIns="25400" rIns="25400" bIns="25400" rtlCol="0" anchor="t">
            <a:normAutofit/>
          </a:bodyPr>
          <a:lstStyle/>
          <a:p>
            <a:pPr marL="0" indent="0" algn="l">
              <a:buNone/>
            </a:pPr>
            <a:r>
              <a:rPr lang="es-CO" sz="1350" noProof="0" dirty="0">
                <a:solidFill>
                  <a:srgbClr val="6F6F6F"/>
                </a:solidFill>
                <a:latin typeface="Segoe UI" pitchFamily="34" charset="0"/>
                <a:ea typeface="Segoe UI" pitchFamily="34" charset="-122"/>
                <a:cs typeface="Segoe UI" pitchFamily="34" charset="-120"/>
              </a:rPr>
              <a:t>UTS · Cartilla de aprendizaje — Gestión Inteligente de Inventarios</a:t>
            </a:r>
            <a:endParaRPr lang="es-CO" sz="1350" noProof="0" dirty="0"/>
          </a:p>
        </p:txBody>
      </p:sp>
      <p:sp>
        <p:nvSpPr>
          <p:cNvPr id="26" name="Shape 24"/>
          <p:cNvSpPr/>
          <p:nvPr/>
        </p:nvSpPr>
        <p:spPr>
          <a:xfrm>
            <a:off x="16725900" y="9410700"/>
            <a:ext cx="419100" cy="419100"/>
          </a:xfrm>
          <a:prstGeom prst="ellipse">
            <a:avLst/>
          </a:prstGeom>
          <a:solidFill>
            <a:srgbClr val="7E2C8C"/>
          </a:solidFill>
          <a:ln/>
        </p:spPr>
        <p:txBody>
          <a:bodyPr/>
          <a:lstStyle/>
          <a:p>
            <a:endParaRPr lang="es-CO" noProof="0" dirty="0"/>
          </a:p>
        </p:txBody>
      </p:sp>
      <p:sp>
        <p:nvSpPr>
          <p:cNvPr id="27" name="Text 25"/>
          <p:cNvSpPr/>
          <p:nvPr/>
        </p:nvSpPr>
        <p:spPr>
          <a:xfrm>
            <a:off x="16687800" y="9410700"/>
            <a:ext cx="495300" cy="457200"/>
          </a:xfrm>
          <a:prstGeom prst="rect">
            <a:avLst/>
          </a:prstGeom>
          <a:noFill/>
          <a:ln/>
        </p:spPr>
        <p:txBody>
          <a:bodyPr wrap="square" lIns="25400" tIns="25400" rIns="25400" bIns="25400" rtlCol="0" anchor="ctr">
            <a:normAutofit/>
          </a:bodyPr>
          <a:lstStyle/>
          <a:p>
            <a:pPr marL="0" indent="0" algn="ctr">
              <a:buNone/>
            </a:pPr>
            <a:r>
              <a:rPr lang="es-CO" sz="1500" b="1" noProof="0" dirty="0">
                <a:solidFill>
                  <a:srgbClr val="FFFFFF"/>
                </a:solidFill>
                <a:latin typeface="Segoe UI" pitchFamily="34" charset="0"/>
                <a:cs typeface="Segoe UI" pitchFamily="34" charset="-120"/>
              </a:rPr>
              <a:t>10</a:t>
            </a:r>
            <a:endParaRPr lang="es-CO" sz="1500" noProof="0" dirty="0"/>
          </a:p>
        </p:txBody>
      </p:sp>
      <p:sp>
        <p:nvSpPr>
          <p:cNvPr id="29" name="Shape 0">
            <a:extLst>
              <a:ext uri="{FF2B5EF4-FFF2-40B4-BE49-F238E27FC236}">
                <a16:creationId xmlns:a16="http://schemas.microsoft.com/office/drawing/2014/main" id="{CDCB599A-E388-854B-2329-75DD8597A3F5}"/>
              </a:ext>
            </a:extLst>
          </p:cNvPr>
          <p:cNvSpPr/>
          <p:nvPr/>
        </p:nvSpPr>
        <p:spPr>
          <a:xfrm>
            <a:off x="1143000" y="838200"/>
            <a:ext cx="3914974" cy="419100"/>
          </a:xfrm>
          <a:prstGeom prst="roundRect">
            <a:avLst>
              <a:gd name="adj" fmla="val 50000"/>
            </a:avLst>
          </a:prstGeom>
          <a:solidFill>
            <a:srgbClr val="F4FADF"/>
          </a:solidFill>
          <a:ln/>
        </p:spPr>
        <p:txBody>
          <a:bodyPr/>
          <a:lstStyle/>
          <a:p>
            <a:endParaRPr lang="es-CO" noProof="0" dirty="0"/>
          </a:p>
        </p:txBody>
      </p:sp>
      <p:sp>
        <p:nvSpPr>
          <p:cNvPr id="31" name="Text 1">
            <a:extLst>
              <a:ext uri="{FF2B5EF4-FFF2-40B4-BE49-F238E27FC236}">
                <a16:creationId xmlns:a16="http://schemas.microsoft.com/office/drawing/2014/main" id="{97056D27-7ECB-8F13-027B-D46ADFF3A1AF}"/>
              </a:ext>
            </a:extLst>
          </p:cNvPr>
          <p:cNvSpPr/>
          <p:nvPr/>
        </p:nvSpPr>
        <p:spPr>
          <a:xfrm>
            <a:off x="1352550" y="933450"/>
            <a:ext cx="3613323" cy="266700"/>
          </a:xfrm>
          <a:prstGeom prst="rect">
            <a:avLst/>
          </a:prstGeom>
          <a:noFill/>
          <a:ln/>
        </p:spPr>
        <p:txBody>
          <a:bodyPr wrap="square" lIns="25400" tIns="25400" rIns="25400" bIns="25400" rtlCol="0" anchor="ctr">
            <a:normAutofit fontScale="77500" lnSpcReduction="20000"/>
          </a:bodyPr>
          <a:lstStyle/>
          <a:p>
            <a:pPr marL="0" indent="0" algn="l">
              <a:buNone/>
            </a:pPr>
            <a:r>
              <a:rPr lang="es-CO" sz="1350" b="1" kern="0" spc="81" noProof="0" dirty="0">
                <a:solidFill>
                  <a:srgbClr val="7E2C8C"/>
                </a:solidFill>
                <a:latin typeface="Segoe UI" pitchFamily="34" charset="0"/>
                <a:ea typeface="Segoe UI" pitchFamily="34" charset="-122"/>
                <a:cs typeface="Segoe UI" pitchFamily="34" charset="-120"/>
              </a:rPr>
              <a:t>FASE 1 · DISEÑO DEL ENTORNO DE SIMULACIÓN</a:t>
            </a:r>
            <a:endParaRPr lang="es-CO" sz="1350" noProof="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143000" y="838200"/>
            <a:ext cx="3914974" cy="419100"/>
          </a:xfrm>
          <a:prstGeom prst="roundRect">
            <a:avLst>
              <a:gd name="adj" fmla="val 50000"/>
            </a:avLst>
          </a:prstGeom>
          <a:solidFill>
            <a:srgbClr val="F4FADF"/>
          </a:solidFill>
          <a:ln/>
        </p:spPr>
        <p:txBody>
          <a:bodyPr/>
          <a:lstStyle/>
          <a:p>
            <a:endParaRPr lang="es-CO" noProof="0" dirty="0"/>
          </a:p>
        </p:txBody>
      </p:sp>
      <p:sp>
        <p:nvSpPr>
          <p:cNvPr id="3" name="Text 1"/>
          <p:cNvSpPr/>
          <p:nvPr/>
        </p:nvSpPr>
        <p:spPr>
          <a:xfrm>
            <a:off x="1352550" y="933450"/>
            <a:ext cx="3613323" cy="266700"/>
          </a:xfrm>
          <a:prstGeom prst="rect">
            <a:avLst/>
          </a:prstGeom>
          <a:noFill/>
          <a:ln/>
        </p:spPr>
        <p:txBody>
          <a:bodyPr wrap="square" lIns="25400" tIns="25400" rIns="25400" bIns="25400" rtlCol="0" anchor="ctr">
            <a:normAutofit fontScale="77500" lnSpcReduction="20000"/>
          </a:bodyPr>
          <a:lstStyle/>
          <a:p>
            <a:pPr marL="0" indent="0" algn="l">
              <a:buNone/>
            </a:pPr>
            <a:r>
              <a:rPr lang="es-CO" sz="1350" b="1" kern="0" spc="81" noProof="0" dirty="0">
                <a:solidFill>
                  <a:srgbClr val="7E2C8C"/>
                </a:solidFill>
                <a:latin typeface="Segoe UI" pitchFamily="34" charset="0"/>
                <a:ea typeface="Segoe UI" pitchFamily="34" charset="-122"/>
                <a:cs typeface="Segoe UI" pitchFamily="34" charset="-120"/>
              </a:rPr>
              <a:t>FASE 2 · CONSTRUCCIÓN DEL DATASET SINTÉTICO</a:t>
            </a:r>
            <a:endParaRPr lang="es-CO" sz="1350" noProof="0" dirty="0"/>
          </a:p>
        </p:txBody>
      </p:sp>
      <p:sp>
        <p:nvSpPr>
          <p:cNvPr id="4" name="Text 2"/>
          <p:cNvSpPr/>
          <p:nvPr/>
        </p:nvSpPr>
        <p:spPr>
          <a:xfrm>
            <a:off x="1143000" y="1619250"/>
            <a:ext cx="13620750" cy="698500"/>
          </a:xfrm>
          <a:prstGeom prst="rect">
            <a:avLst/>
          </a:prstGeom>
          <a:noFill/>
          <a:ln/>
        </p:spPr>
        <p:txBody>
          <a:bodyPr wrap="square" lIns="25400" tIns="25400" rIns="25400" bIns="25400" rtlCol="0" anchor="t">
            <a:normAutofit/>
          </a:bodyPr>
          <a:lstStyle/>
          <a:p>
            <a:pPr marL="0" indent="0" algn="l">
              <a:buNone/>
            </a:pPr>
            <a:r>
              <a:rPr lang="es-CO" sz="3900" b="1" noProof="0" dirty="0">
                <a:solidFill>
                  <a:srgbClr val="3D3D3D"/>
                </a:solidFill>
                <a:latin typeface="Segoe UI" pitchFamily="34" charset="0"/>
                <a:ea typeface="Segoe UI" pitchFamily="34" charset="-122"/>
                <a:cs typeface="Segoe UI" pitchFamily="34" charset="-120"/>
              </a:rPr>
              <a:t>Script: </a:t>
            </a:r>
            <a:r>
              <a:rPr lang="es-CO" sz="3900" b="1" noProof="0" dirty="0" err="1">
                <a:solidFill>
                  <a:srgbClr val="3D3D3D"/>
                </a:solidFill>
                <a:latin typeface="Segoe UI" pitchFamily="34" charset="0"/>
                <a:ea typeface="Segoe UI" pitchFamily="34" charset="-122"/>
                <a:cs typeface="Segoe UI" pitchFamily="34" charset="-120"/>
              </a:rPr>
              <a:t>generar_dataset_inventarios.R</a:t>
            </a:r>
            <a:endParaRPr lang="es-CO" sz="3900" noProof="0" dirty="0"/>
          </a:p>
        </p:txBody>
      </p:sp>
      <p:sp>
        <p:nvSpPr>
          <p:cNvPr id="5" name="Shape 3"/>
          <p:cNvSpPr/>
          <p:nvPr/>
        </p:nvSpPr>
        <p:spPr>
          <a:xfrm>
            <a:off x="1143000" y="3238500"/>
            <a:ext cx="10287000" cy="5715000"/>
          </a:xfrm>
          <a:prstGeom prst="roundRect">
            <a:avLst>
              <a:gd name="adj" fmla="val 4000"/>
            </a:avLst>
          </a:prstGeom>
          <a:solidFill>
            <a:srgbClr val="2B2B33"/>
          </a:solidFill>
          <a:ln/>
        </p:spPr>
        <p:txBody>
          <a:bodyPr/>
          <a:lstStyle/>
          <a:p>
            <a:endParaRPr lang="es-CO" noProof="0" dirty="0"/>
          </a:p>
        </p:txBody>
      </p:sp>
      <p:sp>
        <p:nvSpPr>
          <p:cNvPr id="6" name="Shape 4"/>
          <p:cNvSpPr/>
          <p:nvPr/>
        </p:nvSpPr>
        <p:spPr>
          <a:xfrm>
            <a:off x="1143000" y="3238500"/>
            <a:ext cx="10287000" cy="533400"/>
          </a:xfrm>
          <a:prstGeom prst="rect">
            <a:avLst/>
          </a:prstGeom>
          <a:solidFill>
            <a:srgbClr val="1E1E24"/>
          </a:solidFill>
          <a:ln/>
        </p:spPr>
        <p:txBody>
          <a:bodyPr/>
          <a:lstStyle/>
          <a:p>
            <a:endParaRPr lang="es-CO" noProof="0" dirty="0"/>
          </a:p>
        </p:txBody>
      </p:sp>
      <p:sp>
        <p:nvSpPr>
          <p:cNvPr id="7" name="Shape 5"/>
          <p:cNvSpPr/>
          <p:nvPr/>
        </p:nvSpPr>
        <p:spPr>
          <a:xfrm>
            <a:off x="1409700" y="3438525"/>
            <a:ext cx="133350" cy="133350"/>
          </a:xfrm>
          <a:prstGeom prst="ellipse">
            <a:avLst/>
          </a:prstGeom>
          <a:solidFill>
            <a:srgbClr val="7E2C8C"/>
          </a:solidFill>
          <a:ln/>
        </p:spPr>
        <p:txBody>
          <a:bodyPr/>
          <a:lstStyle/>
          <a:p>
            <a:endParaRPr lang="es-CO" noProof="0" dirty="0"/>
          </a:p>
        </p:txBody>
      </p:sp>
      <p:sp>
        <p:nvSpPr>
          <p:cNvPr id="8" name="Shape 6"/>
          <p:cNvSpPr/>
          <p:nvPr/>
        </p:nvSpPr>
        <p:spPr>
          <a:xfrm>
            <a:off x="1657350" y="3438525"/>
            <a:ext cx="133350" cy="133350"/>
          </a:xfrm>
          <a:prstGeom prst="ellipse">
            <a:avLst/>
          </a:prstGeom>
          <a:solidFill>
            <a:srgbClr val="B7D81A"/>
          </a:solidFill>
          <a:ln/>
        </p:spPr>
        <p:txBody>
          <a:bodyPr/>
          <a:lstStyle/>
          <a:p>
            <a:endParaRPr lang="es-CO" noProof="0" dirty="0"/>
          </a:p>
        </p:txBody>
      </p:sp>
      <p:sp>
        <p:nvSpPr>
          <p:cNvPr id="9" name="Shape 7"/>
          <p:cNvSpPr/>
          <p:nvPr/>
        </p:nvSpPr>
        <p:spPr>
          <a:xfrm>
            <a:off x="1905000" y="3438525"/>
            <a:ext cx="133350" cy="133350"/>
          </a:xfrm>
          <a:prstGeom prst="ellipse">
            <a:avLst/>
          </a:prstGeom>
          <a:solidFill>
            <a:srgbClr val="A867B5"/>
          </a:solidFill>
          <a:ln/>
        </p:spPr>
        <p:txBody>
          <a:bodyPr/>
          <a:lstStyle/>
          <a:p>
            <a:endParaRPr lang="es-CO" noProof="0" dirty="0"/>
          </a:p>
        </p:txBody>
      </p:sp>
      <p:sp>
        <p:nvSpPr>
          <p:cNvPr id="10" name="Text 8"/>
          <p:cNvSpPr/>
          <p:nvPr/>
        </p:nvSpPr>
        <p:spPr>
          <a:xfrm>
            <a:off x="2305049" y="3322928"/>
            <a:ext cx="4997271" cy="609600"/>
          </a:xfrm>
          <a:prstGeom prst="rect">
            <a:avLst/>
          </a:prstGeom>
          <a:noFill/>
          <a:ln/>
        </p:spPr>
        <p:txBody>
          <a:bodyPr wrap="square" lIns="25400" tIns="25400" rIns="25400" bIns="25400" rtlCol="0" anchor="t">
            <a:normAutofit/>
          </a:bodyPr>
          <a:lstStyle/>
          <a:p>
            <a:pPr marL="0" indent="0" algn="l">
              <a:buNone/>
            </a:pPr>
            <a:r>
              <a:rPr lang="es-CO" sz="1600" noProof="0" dirty="0" err="1">
                <a:solidFill>
                  <a:srgbClr val="E9E9E9"/>
                </a:solidFill>
                <a:latin typeface="Courier New" pitchFamily="34" charset="0"/>
                <a:ea typeface="Courier New" pitchFamily="34" charset="-122"/>
                <a:cs typeface="Courier New" pitchFamily="34" charset="-120"/>
              </a:rPr>
              <a:t>generar_dataset_inventarios.R</a:t>
            </a:r>
            <a:endParaRPr lang="es-CO" sz="1600" noProof="0" dirty="0"/>
          </a:p>
        </p:txBody>
      </p:sp>
      <p:sp>
        <p:nvSpPr>
          <p:cNvPr id="11" name="Text 9"/>
          <p:cNvSpPr/>
          <p:nvPr/>
        </p:nvSpPr>
        <p:spPr>
          <a:xfrm>
            <a:off x="1485900" y="4076700"/>
            <a:ext cx="9889236" cy="418108"/>
          </a:xfrm>
          <a:prstGeom prst="rect">
            <a:avLst/>
          </a:prstGeom>
          <a:noFill/>
          <a:ln/>
        </p:spPr>
        <p:txBody>
          <a:bodyPr wrap="square" lIns="25400" tIns="25400" rIns="25400" bIns="25400" rtlCol="0" anchor="t">
            <a:normAutofit lnSpcReduction="10000"/>
          </a:bodyPr>
          <a:lstStyle/>
          <a:p>
            <a:pPr marL="0" indent="0" algn="l">
              <a:lnSpc>
                <a:spcPct val="171000"/>
              </a:lnSpc>
              <a:buNone/>
            </a:pPr>
            <a:r>
              <a:rPr lang="es-CO" sz="1575" noProof="0" dirty="0">
                <a:solidFill>
                  <a:srgbClr val="6F6F6F"/>
                </a:solidFill>
                <a:latin typeface="Courier New" pitchFamily="34" charset="0"/>
                <a:ea typeface="Courier New" pitchFamily="34" charset="-122"/>
                <a:cs typeface="Courier New" pitchFamily="34" charset="-120"/>
              </a:rPr>
              <a:t>01 </a:t>
            </a:r>
            <a:r>
              <a:rPr lang="es-CO" sz="1575" noProof="0" dirty="0" err="1">
                <a:solidFill>
                  <a:srgbClr val="B7D81A"/>
                </a:solidFill>
                <a:latin typeface="Courier New" pitchFamily="34" charset="0"/>
                <a:ea typeface="Courier New" pitchFamily="34" charset="-122"/>
                <a:cs typeface="Courier New" pitchFamily="34" charset="-120"/>
              </a:rPr>
              <a:t>set.seed</a:t>
            </a:r>
            <a:r>
              <a:rPr lang="es-CO" sz="1575" noProof="0" dirty="0">
                <a:solidFill>
                  <a:srgbClr val="E9E9E9"/>
                </a:solidFill>
                <a:latin typeface="Courier New" pitchFamily="34" charset="0"/>
                <a:ea typeface="Courier New" pitchFamily="34" charset="-122"/>
                <a:cs typeface="Courier New" pitchFamily="34" charset="-120"/>
              </a:rPr>
              <a:t>(123)  # semilla oficial</a:t>
            </a:r>
            <a:endParaRPr lang="es-CO" sz="1575" noProof="0" dirty="0"/>
          </a:p>
        </p:txBody>
      </p:sp>
      <p:sp>
        <p:nvSpPr>
          <p:cNvPr id="12" name="Text 10"/>
          <p:cNvSpPr/>
          <p:nvPr/>
        </p:nvSpPr>
        <p:spPr>
          <a:xfrm>
            <a:off x="1485900" y="4456708"/>
            <a:ext cx="9889236" cy="418108"/>
          </a:xfrm>
          <a:prstGeom prst="rect">
            <a:avLst/>
          </a:prstGeom>
          <a:noFill/>
          <a:ln/>
        </p:spPr>
        <p:txBody>
          <a:bodyPr wrap="square" lIns="25400" tIns="25400" rIns="25400" bIns="25400" rtlCol="0" anchor="t">
            <a:normAutofit lnSpcReduction="10000"/>
          </a:bodyPr>
          <a:lstStyle/>
          <a:p>
            <a:pPr marL="0" indent="0" algn="l">
              <a:lnSpc>
                <a:spcPct val="171000"/>
              </a:lnSpc>
              <a:buNone/>
            </a:pPr>
            <a:r>
              <a:rPr lang="es-CO" sz="1575" noProof="0" dirty="0">
                <a:solidFill>
                  <a:srgbClr val="6F6F6F"/>
                </a:solidFill>
                <a:latin typeface="Courier New" pitchFamily="34" charset="0"/>
                <a:ea typeface="Courier New" pitchFamily="34" charset="-122"/>
                <a:cs typeface="Courier New" pitchFamily="34" charset="-120"/>
              </a:rPr>
              <a:t>02 </a:t>
            </a:r>
            <a:r>
              <a:rPr lang="es-CO" sz="1575" noProof="0" dirty="0" err="1">
                <a:solidFill>
                  <a:srgbClr val="B7D81A"/>
                </a:solidFill>
                <a:latin typeface="Courier New" pitchFamily="34" charset="0"/>
                <a:ea typeface="Courier New" pitchFamily="34" charset="-122"/>
                <a:cs typeface="Courier New" pitchFamily="34" charset="-120"/>
              </a:rPr>
              <a:t>lambda_sku</a:t>
            </a:r>
            <a:r>
              <a:rPr lang="es-CO" sz="1575" noProof="0" dirty="0">
                <a:solidFill>
                  <a:srgbClr val="E9E9E9"/>
                </a:solidFill>
                <a:latin typeface="Courier New" pitchFamily="34" charset="0"/>
                <a:ea typeface="Courier New" pitchFamily="34" charset="-122"/>
                <a:cs typeface="Courier New" pitchFamily="34" charset="-120"/>
              </a:rPr>
              <a:t> &lt;- </a:t>
            </a:r>
            <a:r>
              <a:rPr lang="es-CO" sz="1575" noProof="0" dirty="0" err="1">
                <a:solidFill>
                  <a:srgbClr val="E9E9E9"/>
                </a:solidFill>
                <a:latin typeface="Courier New" pitchFamily="34" charset="0"/>
                <a:ea typeface="Courier New" pitchFamily="34" charset="-122"/>
                <a:cs typeface="Courier New" pitchFamily="34" charset="-120"/>
              </a:rPr>
              <a:t>rgamma</a:t>
            </a:r>
            <a:r>
              <a:rPr lang="es-CO" sz="1575" noProof="0" dirty="0">
                <a:solidFill>
                  <a:srgbClr val="E9E9E9"/>
                </a:solidFill>
                <a:latin typeface="Courier New" pitchFamily="34" charset="0"/>
                <a:ea typeface="Courier New" pitchFamily="34" charset="-122"/>
                <a:cs typeface="Courier New" pitchFamily="34" charset="-120"/>
              </a:rPr>
              <a:t>(1, </a:t>
            </a:r>
            <a:r>
              <a:rPr lang="es-CO" sz="1575" noProof="0" dirty="0" err="1">
                <a:solidFill>
                  <a:srgbClr val="E9E9E9"/>
                </a:solidFill>
                <a:latin typeface="Courier New" pitchFamily="34" charset="0"/>
                <a:ea typeface="Courier New" pitchFamily="34" charset="-122"/>
                <a:cs typeface="Courier New" pitchFamily="34" charset="-120"/>
              </a:rPr>
              <a:t>shape</a:t>
            </a:r>
            <a:r>
              <a:rPr lang="es-CO" sz="1575" noProof="0" dirty="0">
                <a:solidFill>
                  <a:srgbClr val="E9E9E9"/>
                </a:solidFill>
                <a:latin typeface="Courier New" pitchFamily="34" charset="0"/>
                <a:ea typeface="Courier New" pitchFamily="34" charset="-122"/>
                <a:cs typeface="Courier New" pitchFamily="34" charset="-120"/>
              </a:rPr>
              <a:t>, </a:t>
            </a:r>
            <a:r>
              <a:rPr lang="es-CO" sz="1575" noProof="0" dirty="0" err="1">
                <a:solidFill>
                  <a:srgbClr val="E9E9E9"/>
                </a:solidFill>
                <a:latin typeface="Courier New" pitchFamily="34" charset="0"/>
                <a:ea typeface="Courier New" pitchFamily="34" charset="-122"/>
                <a:cs typeface="Courier New" pitchFamily="34" charset="-120"/>
              </a:rPr>
              <a:t>scale</a:t>
            </a:r>
            <a:r>
              <a:rPr lang="es-CO" sz="1575" noProof="0" dirty="0">
                <a:solidFill>
                  <a:srgbClr val="E9E9E9"/>
                </a:solidFill>
                <a:latin typeface="Courier New" pitchFamily="34" charset="0"/>
                <a:ea typeface="Courier New" pitchFamily="34" charset="-122"/>
                <a:cs typeface="Courier New" pitchFamily="34" charset="-120"/>
              </a:rPr>
              <a:t>)</a:t>
            </a:r>
            <a:endParaRPr lang="es-CO" sz="1575" noProof="0" dirty="0"/>
          </a:p>
        </p:txBody>
      </p:sp>
      <p:sp>
        <p:nvSpPr>
          <p:cNvPr id="13" name="Text 11"/>
          <p:cNvSpPr/>
          <p:nvPr/>
        </p:nvSpPr>
        <p:spPr>
          <a:xfrm>
            <a:off x="1485900" y="4836716"/>
            <a:ext cx="9889236" cy="418108"/>
          </a:xfrm>
          <a:prstGeom prst="rect">
            <a:avLst/>
          </a:prstGeom>
          <a:noFill/>
          <a:ln/>
        </p:spPr>
        <p:txBody>
          <a:bodyPr wrap="square" lIns="25400" tIns="25400" rIns="25400" bIns="25400" rtlCol="0" anchor="t">
            <a:normAutofit lnSpcReduction="10000"/>
          </a:bodyPr>
          <a:lstStyle/>
          <a:p>
            <a:pPr marL="0" indent="0" algn="l">
              <a:lnSpc>
                <a:spcPct val="171000"/>
              </a:lnSpc>
              <a:buNone/>
            </a:pPr>
            <a:r>
              <a:rPr lang="es-CO" sz="1575" noProof="0" dirty="0">
                <a:solidFill>
                  <a:srgbClr val="6F6F6F"/>
                </a:solidFill>
                <a:latin typeface="Courier New" pitchFamily="34" charset="0"/>
                <a:ea typeface="Courier New" pitchFamily="34" charset="-122"/>
                <a:cs typeface="Courier New" pitchFamily="34" charset="-120"/>
              </a:rPr>
              <a:t>03</a:t>
            </a:r>
            <a:endParaRPr lang="es-CO" sz="1575" noProof="0" dirty="0"/>
          </a:p>
        </p:txBody>
      </p:sp>
      <p:sp>
        <p:nvSpPr>
          <p:cNvPr id="14" name="Text 12"/>
          <p:cNvSpPr/>
          <p:nvPr/>
        </p:nvSpPr>
        <p:spPr>
          <a:xfrm>
            <a:off x="1485900" y="5216723"/>
            <a:ext cx="9889236" cy="418108"/>
          </a:xfrm>
          <a:prstGeom prst="rect">
            <a:avLst/>
          </a:prstGeom>
          <a:noFill/>
          <a:ln/>
        </p:spPr>
        <p:txBody>
          <a:bodyPr wrap="square" lIns="25400" tIns="25400" rIns="25400" bIns="25400" rtlCol="0" anchor="t">
            <a:normAutofit lnSpcReduction="10000"/>
          </a:bodyPr>
          <a:lstStyle/>
          <a:p>
            <a:pPr marL="0" indent="0" algn="l">
              <a:lnSpc>
                <a:spcPct val="171000"/>
              </a:lnSpc>
              <a:buNone/>
            </a:pPr>
            <a:r>
              <a:rPr lang="es-CO" sz="1575" noProof="0" dirty="0">
                <a:solidFill>
                  <a:srgbClr val="6F6F6F"/>
                </a:solidFill>
                <a:latin typeface="Courier New" pitchFamily="34" charset="0"/>
                <a:ea typeface="Courier New" pitchFamily="34" charset="-122"/>
                <a:cs typeface="Courier New" pitchFamily="34" charset="-120"/>
              </a:rPr>
              <a:t>04 </a:t>
            </a:r>
            <a:r>
              <a:rPr lang="es-CO" sz="1575" noProof="0" dirty="0">
                <a:solidFill>
                  <a:srgbClr val="E9E9E9"/>
                </a:solidFill>
                <a:latin typeface="Courier New" pitchFamily="34" charset="0"/>
                <a:ea typeface="Courier New" pitchFamily="34" charset="-122"/>
                <a:cs typeface="Courier New" pitchFamily="34" charset="-120"/>
              </a:rPr>
              <a:t>demanda &lt;- </a:t>
            </a:r>
            <a:r>
              <a:rPr lang="es-CO" sz="1575" noProof="0" dirty="0" err="1">
                <a:solidFill>
                  <a:srgbClr val="B7D81A"/>
                </a:solidFill>
                <a:latin typeface="Courier New" pitchFamily="34" charset="0"/>
                <a:ea typeface="Courier New" pitchFamily="34" charset="-122"/>
                <a:cs typeface="Courier New" pitchFamily="34" charset="-120"/>
              </a:rPr>
              <a:t>rnbinom</a:t>
            </a:r>
            <a:r>
              <a:rPr lang="es-CO" sz="1575" noProof="0" dirty="0">
                <a:solidFill>
                  <a:srgbClr val="E9E9E9"/>
                </a:solidFill>
                <a:latin typeface="Courier New" pitchFamily="34" charset="0"/>
                <a:ea typeface="Courier New" pitchFamily="34" charset="-122"/>
                <a:cs typeface="Courier New" pitchFamily="34" charset="-120"/>
              </a:rPr>
              <a:t>(</a:t>
            </a:r>
            <a:r>
              <a:rPr lang="es-CO" sz="1575" noProof="0" dirty="0">
                <a:solidFill>
                  <a:srgbClr val="DDF28A"/>
                </a:solidFill>
                <a:latin typeface="Courier New" pitchFamily="34" charset="0"/>
                <a:ea typeface="Courier New" pitchFamily="34" charset="-122"/>
                <a:cs typeface="Courier New" pitchFamily="34" charset="-120"/>
              </a:rPr>
              <a:t>1, </a:t>
            </a:r>
            <a:r>
              <a:rPr lang="es-CO" sz="1575" noProof="0" dirty="0" err="1">
                <a:solidFill>
                  <a:srgbClr val="DDF28A"/>
                </a:solidFill>
                <a:latin typeface="Courier New" pitchFamily="34" charset="0"/>
                <a:ea typeface="Courier New" pitchFamily="34" charset="-122"/>
                <a:cs typeface="Courier New" pitchFamily="34" charset="-120"/>
              </a:rPr>
              <a:t>size</a:t>
            </a:r>
            <a:r>
              <a:rPr lang="es-CO" sz="1575" noProof="0" dirty="0">
                <a:solidFill>
                  <a:srgbClr val="DDF28A"/>
                </a:solidFill>
                <a:latin typeface="Courier New" pitchFamily="34" charset="0"/>
                <a:ea typeface="Courier New" pitchFamily="34" charset="-122"/>
                <a:cs typeface="Courier New" pitchFamily="34" charset="-120"/>
              </a:rPr>
              <a:t> = k, mu = lambda*</a:t>
            </a:r>
            <a:r>
              <a:rPr lang="es-CO" sz="1575" noProof="0" dirty="0" err="1">
                <a:solidFill>
                  <a:srgbClr val="DDF28A"/>
                </a:solidFill>
                <a:latin typeface="Courier New" pitchFamily="34" charset="0"/>
                <a:ea typeface="Courier New" pitchFamily="34" charset="-122"/>
                <a:cs typeface="Courier New" pitchFamily="34" charset="-120"/>
              </a:rPr>
              <a:t>est</a:t>
            </a:r>
            <a:r>
              <a:rPr lang="es-CO" sz="1575" noProof="0" dirty="0">
                <a:solidFill>
                  <a:srgbClr val="E9E9E9"/>
                </a:solidFill>
                <a:latin typeface="Courier New" pitchFamily="34" charset="0"/>
                <a:ea typeface="Courier New" pitchFamily="34" charset="-122"/>
                <a:cs typeface="Courier New" pitchFamily="34" charset="-120"/>
              </a:rPr>
              <a:t>)</a:t>
            </a:r>
            <a:endParaRPr lang="es-CO" sz="1575" noProof="0" dirty="0"/>
          </a:p>
        </p:txBody>
      </p:sp>
      <p:sp>
        <p:nvSpPr>
          <p:cNvPr id="15" name="Text 13"/>
          <p:cNvSpPr/>
          <p:nvPr/>
        </p:nvSpPr>
        <p:spPr>
          <a:xfrm>
            <a:off x="1485900" y="5596732"/>
            <a:ext cx="9889236" cy="418108"/>
          </a:xfrm>
          <a:prstGeom prst="rect">
            <a:avLst/>
          </a:prstGeom>
          <a:noFill/>
          <a:ln/>
        </p:spPr>
        <p:txBody>
          <a:bodyPr wrap="square" lIns="25400" tIns="25400" rIns="25400" bIns="25400" rtlCol="0" anchor="t">
            <a:normAutofit lnSpcReduction="10000"/>
          </a:bodyPr>
          <a:lstStyle/>
          <a:p>
            <a:pPr marL="0" indent="0" algn="l">
              <a:lnSpc>
                <a:spcPct val="171000"/>
              </a:lnSpc>
              <a:buNone/>
            </a:pPr>
            <a:r>
              <a:rPr lang="es-CO" sz="1575" noProof="0" dirty="0">
                <a:solidFill>
                  <a:srgbClr val="6F6F6F"/>
                </a:solidFill>
                <a:latin typeface="Courier New" pitchFamily="34" charset="0"/>
                <a:ea typeface="Courier New" pitchFamily="34" charset="-122"/>
                <a:cs typeface="Courier New" pitchFamily="34" charset="-120"/>
              </a:rPr>
              <a:t>05 </a:t>
            </a:r>
            <a:r>
              <a:rPr lang="es-CO" sz="1575" noProof="0" dirty="0">
                <a:solidFill>
                  <a:srgbClr val="E9E9E9"/>
                </a:solidFill>
                <a:latin typeface="Courier New" pitchFamily="34" charset="0"/>
                <a:ea typeface="Courier New" pitchFamily="34" charset="-122"/>
                <a:cs typeface="Courier New" pitchFamily="34" charset="-120"/>
              </a:rPr>
              <a:t>SS &lt;- </a:t>
            </a:r>
            <a:r>
              <a:rPr lang="es-CO" sz="1575" noProof="0" dirty="0" err="1">
                <a:solidFill>
                  <a:srgbClr val="B7D81A"/>
                </a:solidFill>
                <a:latin typeface="Courier New" pitchFamily="34" charset="0"/>
                <a:ea typeface="Courier New" pitchFamily="34" charset="-122"/>
                <a:cs typeface="Courier New" pitchFamily="34" charset="-120"/>
              </a:rPr>
              <a:t>z_abc</a:t>
            </a:r>
            <a:r>
              <a:rPr lang="es-CO" sz="1575" noProof="0" dirty="0">
                <a:solidFill>
                  <a:srgbClr val="B7D81A"/>
                </a:solidFill>
                <a:latin typeface="Courier New" pitchFamily="34" charset="0"/>
                <a:ea typeface="Courier New" pitchFamily="34" charset="-122"/>
                <a:cs typeface="Courier New" pitchFamily="34" charset="-120"/>
              </a:rPr>
              <a:t>[clase]</a:t>
            </a:r>
            <a:r>
              <a:rPr lang="es-CO" sz="1575" noProof="0" dirty="0">
                <a:solidFill>
                  <a:srgbClr val="E9E9E9"/>
                </a:solidFill>
                <a:latin typeface="Courier New" pitchFamily="34" charset="0"/>
                <a:ea typeface="Courier New" pitchFamily="34" charset="-122"/>
                <a:cs typeface="Courier New" pitchFamily="34" charset="-120"/>
              </a:rPr>
              <a:t> * </a:t>
            </a:r>
            <a:r>
              <a:rPr lang="es-CO" sz="1575" noProof="0" dirty="0" err="1">
                <a:solidFill>
                  <a:srgbClr val="E9E9E9"/>
                </a:solidFill>
                <a:latin typeface="Courier New" pitchFamily="34" charset="0"/>
                <a:ea typeface="Courier New" pitchFamily="34" charset="-122"/>
                <a:cs typeface="Courier New" pitchFamily="34" charset="-120"/>
              </a:rPr>
              <a:t>sigma_LTD</a:t>
            </a:r>
            <a:endParaRPr lang="es-CO" sz="1575" noProof="0" dirty="0"/>
          </a:p>
        </p:txBody>
      </p:sp>
      <p:sp>
        <p:nvSpPr>
          <p:cNvPr id="16" name="Text 14"/>
          <p:cNvSpPr/>
          <p:nvPr/>
        </p:nvSpPr>
        <p:spPr>
          <a:xfrm>
            <a:off x="1485900" y="5976739"/>
            <a:ext cx="9889236" cy="418108"/>
          </a:xfrm>
          <a:prstGeom prst="rect">
            <a:avLst/>
          </a:prstGeom>
          <a:noFill/>
          <a:ln/>
        </p:spPr>
        <p:txBody>
          <a:bodyPr wrap="square" lIns="25400" tIns="25400" rIns="25400" bIns="25400" rtlCol="0" anchor="t">
            <a:normAutofit lnSpcReduction="10000"/>
          </a:bodyPr>
          <a:lstStyle/>
          <a:p>
            <a:pPr marL="0" indent="0" algn="l">
              <a:lnSpc>
                <a:spcPct val="171000"/>
              </a:lnSpc>
              <a:buNone/>
            </a:pPr>
            <a:r>
              <a:rPr lang="es-CO" sz="1575" noProof="0" dirty="0">
                <a:solidFill>
                  <a:srgbClr val="6F6F6F"/>
                </a:solidFill>
                <a:latin typeface="Courier New" pitchFamily="34" charset="0"/>
                <a:ea typeface="Courier New" pitchFamily="34" charset="-122"/>
                <a:cs typeface="Courier New" pitchFamily="34" charset="-120"/>
              </a:rPr>
              <a:t>06</a:t>
            </a:r>
            <a:endParaRPr lang="es-CO" sz="1575" noProof="0" dirty="0"/>
          </a:p>
        </p:txBody>
      </p:sp>
      <p:sp>
        <p:nvSpPr>
          <p:cNvPr id="17" name="Text 15"/>
          <p:cNvSpPr/>
          <p:nvPr/>
        </p:nvSpPr>
        <p:spPr>
          <a:xfrm>
            <a:off x="1485900" y="6356747"/>
            <a:ext cx="9889236" cy="418108"/>
          </a:xfrm>
          <a:prstGeom prst="rect">
            <a:avLst/>
          </a:prstGeom>
          <a:noFill/>
          <a:ln/>
        </p:spPr>
        <p:txBody>
          <a:bodyPr wrap="square" lIns="25400" tIns="25400" rIns="25400" bIns="25400" rtlCol="0" anchor="t">
            <a:normAutofit lnSpcReduction="10000"/>
          </a:bodyPr>
          <a:lstStyle/>
          <a:p>
            <a:pPr marL="0" indent="0" algn="l">
              <a:lnSpc>
                <a:spcPct val="171000"/>
              </a:lnSpc>
              <a:buNone/>
            </a:pPr>
            <a:r>
              <a:rPr lang="es-CO" sz="1575" noProof="0" dirty="0">
                <a:solidFill>
                  <a:srgbClr val="6F6F6F"/>
                </a:solidFill>
                <a:latin typeface="Courier New" pitchFamily="34" charset="0"/>
                <a:ea typeface="Courier New" pitchFamily="34" charset="-122"/>
                <a:cs typeface="Courier New" pitchFamily="34" charset="-120"/>
              </a:rPr>
              <a:t>07 </a:t>
            </a:r>
            <a:r>
              <a:rPr lang="es-CO" sz="1575" noProof="0" dirty="0">
                <a:solidFill>
                  <a:srgbClr val="E9E9E9"/>
                </a:solidFill>
                <a:latin typeface="Courier New" pitchFamily="34" charset="0"/>
                <a:ea typeface="Courier New" pitchFamily="34" charset="-122"/>
                <a:cs typeface="Courier New" pitchFamily="34" charset="-120"/>
              </a:rPr>
              <a:t>ROP &lt;- </a:t>
            </a:r>
            <a:r>
              <a:rPr lang="es-CO" sz="1575" noProof="0" dirty="0">
                <a:solidFill>
                  <a:srgbClr val="B7D81A"/>
                </a:solidFill>
                <a:latin typeface="Courier New" pitchFamily="34" charset="0"/>
                <a:ea typeface="Courier New" pitchFamily="34" charset="-122"/>
                <a:cs typeface="Courier New" pitchFamily="34" charset="-120"/>
              </a:rPr>
              <a:t>lambda*E_LT</a:t>
            </a:r>
            <a:r>
              <a:rPr lang="es-CO" sz="1575" noProof="0" dirty="0">
                <a:solidFill>
                  <a:srgbClr val="E9E9E9"/>
                </a:solidFill>
                <a:latin typeface="Courier New" pitchFamily="34" charset="0"/>
                <a:ea typeface="Courier New" pitchFamily="34" charset="-122"/>
                <a:cs typeface="Courier New" pitchFamily="34" charset="-120"/>
              </a:rPr>
              <a:t> + SS</a:t>
            </a:r>
            <a:endParaRPr lang="es-CO" sz="1575" noProof="0" dirty="0"/>
          </a:p>
        </p:txBody>
      </p:sp>
      <p:sp>
        <p:nvSpPr>
          <p:cNvPr id="18" name="Text 16"/>
          <p:cNvSpPr/>
          <p:nvPr/>
        </p:nvSpPr>
        <p:spPr>
          <a:xfrm>
            <a:off x="1485900" y="6736755"/>
            <a:ext cx="9889236" cy="418108"/>
          </a:xfrm>
          <a:prstGeom prst="rect">
            <a:avLst/>
          </a:prstGeom>
          <a:noFill/>
          <a:ln/>
        </p:spPr>
        <p:txBody>
          <a:bodyPr wrap="square" lIns="25400" tIns="25400" rIns="25400" bIns="25400" rtlCol="0" anchor="t">
            <a:normAutofit lnSpcReduction="10000"/>
          </a:bodyPr>
          <a:lstStyle/>
          <a:p>
            <a:pPr marL="0" indent="0" algn="l">
              <a:lnSpc>
                <a:spcPct val="171000"/>
              </a:lnSpc>
              <a:buNone/>
            </a:pPr>
            <a:r>
              <a:rPr lang="es-CO" sz="1575" noProof="0" dirty="0">
                <a:solidFill>
                  <a:srgbClr val="6F6F6F"/>
                </a:solidFill>
                <a:latin typeface="Courier New" pitchFamily="34" charset="0"/>
                <a:ea typeface="Courier New" pitchFamily="34" charset="-122"/>
                <a:cs typeface="Courier New" pitchFamily="34" charset="-120"/>
              </a:rPr>
              <a:t>08 </a:t>
            </a:r>
            <a:r>
              <a:rPr lang="es-CO" sz="1575" noProof="0" dirty="0" err="1">
                <a:solidFill>
                  <a:srgbClr val="E9E9E9"/>
                </a:solidFill>
                <a:latin typeface="Courier New" pitchFamily="34" charset="0"/>
                <a:ea typeface="Courier New" pitchFamily="34" charset="-122"/>
                <a:cs typeface="Courier New" pitchFamily="34" charset="-120"/>
              </a:rPr>
              <a:t>if</a:t>
            </a:r>
            <a:r>
              <a:rPr lang="es-CO" sz="1575" noProof="0" dirty="0">
                <a:solidFill>
                  <a:srgbClr val="E9E9E9"/>
                </a:solidFill>
                <a:latin typeface="Courier New" pitchFamily="34" charset="0"/>
                <a:ea typeface="Courier New" pitchFamily="34" charset="-122"/>
                <a:cs typeface="Courier New" pitchFamily="34" charset="-120"/>
              </a:rPr>
              <a:t> (</a:t>
            </a:r>
            <a:r>
              <a:rPr lang="es-CO" sz="1575" noProof="0" dirty="0" err="1">
                <a:solidFill>
                  <a:srgbClr val="E9E9E9"/>
                </a:solidFill>
                <a:latin typeface="Courier New" pitchFamily="34" charset="0"/>
                <a:ea typeface="Courier New" pitchFamily="34" charset="-122"/>
                <a:cs typeface="Courier New" pitchFamily="34" charset="-120"/>
              </a:rPr>
              <a:t>posicion</a:t>
            </a:r>
            <a:r>
              <a:rPr lang="es-CO" sz="1575" noProof="0" dirty="0">
                <a:solidFill>
                  <a:srgbClr val="E9E9E9"/>
                </a:solidFill>
                <a:latin typeface="Courier New" pitchFamily="34" charset="0"/>
                <a:ea typeface="Courier New" pitchFamily="34" charset="-122"/>
                <a:cs typeface="Courier New" pitchFamily="34" charset="-120"/>
              </a:rPr>
              <a:t> &lt;= ROP) </a:t>
            </a:r>
            <a:r>
              <a:rPr lang="es-CO" sz="1575" noProof="0" dirty="0">
                <a:solidFill>
                  <a:srgbClr val="B7D81A"/>
                </a:solidFill>
                <a:latin typeface="Courier New" pitchFamily="34" charset="0"/>
                <a:ea typeface="Courier New" pitchFamily="34" charset="-122"/>
                <a:cs typeface="Courier New" pitchFamily="34" charset="-120"/>
              </a:rPr>
              <a:t>pedir</a:t>
            </a:r>
            <a:r>
              <a:rPr lang="es-CO" sz="1575" noProof="0" dirty="0">
                <a:solidFill>
                  <a:srgbClr val="E9E9E9"/>
                </a:solidFill>
                <a:latin typeface="Courier New" pitchFamily="34" charset="0"/>
                <a:ea typeface="Courier New" pitchFamily="34" charset="-122"/>
                <a:cs typeface="Courier New" pitchFamily="34" charset="-120"/>
              </a:rPr>
              <a:t>(hasta = S)</a:t>
            </a:r>
            <a:endParaRPr lang="es-CO" sz="1575" noProof="0" dirty="0"/>
          </a:p>
        </p:txBody>
      </p:sp>
      <p:sp>
        <p:nvSpPr>
          <p:cNvPr id="19" name="Text 17"/>
          <p:cNvSpPr/>
          <p:nvPr/>
        </p:nvSpPr>
        <p:spPr>
          <a:xfrm>
            <a:off x="1485900" y="7116763"/>
            <a:ext cx="9889236" cy="418108"/>
          </a:xfrm>
          <a:prstGeom prst="rect">
            <a:avLst/>
          </a:prstGeom>
          <a:noFill/>
          <a:ln/>
        </p:spPr>
        <p:txBody>
          <a:bodyPr wrap="square" lIns="25400" tIns="25400" rIns="25400" bIns="25400" rtlCol="0" anchor="t">
            <a:normAutofit lnSpcReduction="10000"/>
          </a:bodyPr>
          <a:lstStyle/>
          <a:p>
            <a:pPr marL="0" indent="0" algn="l">
              <a:lnSpc>
                <a:spcPct val="171000"/>
              </a:lnSpc>
              <a:buNone/>
            </a:pPr>
            <a:r>
              <a:rPr lang="es-CO" sz="1575" noProof="0" dirty="0">
                <a:solidFill>
                  <a:srgbClr val="6F6F6F"/>
                </a:solidFill>
                <a:latin typeface="Courier New" pitchFamily="34" charset="0"/>
                <a:ea typeface="Courier New" pitchFamily="34" charset="-122"/>
                <a:cs typeface="Courier New" pitchFamily="34" charset="-120"/>
              </a:rPr>
              <a:t>09 </a:t>
            </a:r>
            <a:r>
              <a:rPr lang="es-CO" sz="1575" noProof="0" dirty="0">
                <a:solidFill>
                  <a:srgbClr val="B7D81A"/>
                </a:solidFill>
                <a:latin typeface="Courier New" pitchFamily="34" charset="0"/>
                <a:ea typeface="Courier New" pitchFamily="34" charset="-122"/>
                <a:cs typeface="Courier New" pitchFamily="34" charset="-120"/>
              </a:rPr>
              <a:t>write.csv</a:t>
            </a:r>
            <a:r>
              <a:rPr lang="es-CO" sz="1575" noProof="0" dirty="0">
                <a:solidFill>
                  <a:srgbClr val="E9E9E9"/>
                </a:solidFill>
                <a:latin typeface="Courier New" pitchFamily="34" charset="0"/>
                <a:ea typeface="Courier New" pitchFamily="34" charset="-122"/>
                <a:cs typeface="Courier New" pitchFamily="34" charset="-120"/>
              </a:rPr>
              <a:t>(</a:t>
            </a:r>
            <a:r>
              <a:rPr lang="es-CO" sz="1575" noProof="0" dirty="0" err="1">
                <a:solidFill>
                  <a:srgbClr val="E9E9E9"/>
                </a:solidFill>
                <a:latin typeface="Courier New" pitchFamily="34" charset="0"/>
                <a:ea typeface="Courier New" pitchFamily="34" charset="-122"/>
                <a:cs typeface="Courier New" pitchFamily="34" charset="-120"/>
              </a:rPr>
              <a:t>out</a:t>
            </a:r>
            <a:r>
              <a:rPr lang="es-CO" sz="1575" noProof="0" dirty="0">
                <a:solidFill>
                  <a:srgbClr val="E9E9E9"/>
                </a:solidFill>
                <a:latin typeface="Courier New" pitchFamily="34" charset="0"/>
                <a:ea typeface="Courier New" pitchFamily="34" charset="-122"/>
                <a:cs typeface="Courier New" pitchFamily="34" charset="-120"/>
              </a:rPr>
              <a:t>, "dataset_inventarios_ferreteria.csv")</a:t>
            </a:r>
            <a:endParaRPr lang="es-CO" sz="1575" noProof="0" dirty="0"/>
          </a:p>
        </p:txBody>
      </p:sp>
      <p:sp>
        <p:nvSpPr>
          <p:cNvPr id="20" name="Shape 18"/>
          <p:cNvSpPr/>
          <p:nvPr/>
        </p:nvSpPr>
        <p:spPr>
          <a:xfrm>
            <a:off x="12458700" y="3238500"/>
            <a:ext cx="4686300" cy="3498255"/>
          </a:xfrm>
          <a:prstGeom prst="roundRect">
            <a:avLst>
              <a:gd name="adj" fmla="val 9293"/>
            </a:avLst>
          </a:prstGeom>
          <a:solidFill>
            <a:srgbClr val="F4FADF"/>
          </a:solidFill>
          <a:ln/>
        </p:spPr>
        <p:txBody>
          <a:bodyPr/>
          <a:lstStyle/>
          <a:p>
            <a:endParaRPr lang="es-CO" noProof="0" dirty="0"/>
          </a:p>
        </p:txBody>
      </p:sp>
      <p:sp>
        <p:nvSpPr>
          <p:cNvPr id="21" name="Text 19"/>
          <p:cNvSpPr/>
          <p:nvPr/>
        </p:nvSpPr>
        <p:spPr>
          <a:xfrm>
            <a:off x="12801600" y="3581400"/>
            <a:ext cx="4400550" cy="317500"/>
          </a:xfrm>
          <a:prstGeom prst="rect">
            <a:avLst/>
          </a:prstGeom>
          <a:noFill/>
          <a:ln/>
        </p:spPr>
        <p:txBody>
          <a:bodyPr wrap="square" lIns="25400" tIns="25400" rIns="25400" bIns="25400" rtlCol="0" anchor="t">
            <a:normAutofit/>
          </a:bodyPr>
          <a:lstStyle/>
          <a:p>
            <a:pPr marL="0" indent="0" algn="l">
              <a:buNone/>
            </a:pPr>
            <a:r>
              <a:rPr lang="es-CO" sz="1650" b="1" noProof="0" dirty="0">
                <a:solidFill>
                  <a:srgbClr val="7E2C8C"/>
                </a:solidFill>
                <a:latin typeface="Segoe UI" pitchFamily="34" charset="0"/>
                <a:ea typeface="Segoe UI" pitchFamily="34" charset="-122"/>
                <a:cs typeface="Segoe UI" pitchFamily="34" charset="-120"/>
              </a:rPr>
              <a:t>Cómo leerlo</a:t>
            </a:r>
            <a:endParaRPr lang="es-CO" sz="1650" noProof="0" dirty="0"/>
          </a:p>
        </p:txBody>
      </p:sp>
      <p:sp>
        <p:nvSpPr>
          <p:cNvPr id="22" name="Text 20"/>
          <p:cNvSpPr/>
          <p:nvPr/>
        </p:nvSpPr>
        <p:spPr>
          <a:xfrm>
            <a:off x="12801600" y="4013200"/>
            <a:ext cx="4120515" cy="1790303"/>
          </a:xfrm>
          <a:prstGeom prst="rect">
            <a:avLst/>
          </a:prstGeom>
          <a:noFill/>
          <a:ln/>
        </p:spPr>
        <p:txBody>
          <a:bodyPr wrap="square" lIns="25400" tIns="25400" rIns="25400" bIns="25400" rtlCol="0" anchor="t">
            <a:normAutofit fontScale="92500"/>
          </a:bodyPr>
          <a:lstStyle/>
          <a:p>
            <a:pPr marL="0" indent="0" algn="l">
              <a:lnSpc>
                <a:spcPct val="120000"/>
              </a:lnSpc>
              <a:buNone/>
            </a:pPr>
            <a:r>
              <a:rPr lang="es-CO" sz="1725" noProof="0" dirty="0">
                <a:solidFill>
                  <a:srgbClr val="3D3D3D"/>
                </a:solidFill>
                <a:latin typeface="Segoe UI" pitchFamily="34" charset="0"/>
                <a:ea typeface="Segoe UI" pitchFamily="34" charset="-122"/>
                <a:cs typeface="Segoe UI" pitchFamily="34" charset="-120"/>
              </a:rPr>
              <a:t>El generador fija la semilla 123 para asegurar reproducibilidad exacta; cada SKU obtiene sus atributos por muestreo de las distribuciones definidas, y la política (s, S) se recalcula cada semana a partir del punto de reorden (ROP) y el stock de seguridad (SS).</a:t>
            </a:r>
            <a:endParaRPr lang="es-CO" sz="1725" noProof="0" dirty="0"/>
          </a:p>
        </p:txBody>
      </p:sp>
      <p:sp>
        <p:nvSpPr>
          <p:cNvPr id="23" name="Text 21"/>
          <p:cNvSpPr/>
          <p:nvPr/>
        </p:nvSpPr>
        <p:spPr>
          <a:xfrm>
            <a:off x="1143000" y="9525000"/>
            <a:ext cx="5412720" cy="266700"/>
          </a:xfrm>
          <a:prstGeom prst="rect">
            <a:avLst/>
          </a:prstGeom>
          <a:noFill/>
          <a:ln/>
        </p:spPr>
        <p:txBody>
          <a:bodyPr wrap="square" lIns="25400" tIns="25400" rIns="25400" bIns="25400" rtlCol="0" anchor="t">
            <a:normAutofit/>
          </a:bodyPr>
          <a:lstStyle/>
          <a:p>
            <a:pPr marL="0" indent="0" algn="l">
              <a:buNone/>
            </a:pPr>
            <a:r>
              <a:rPr lang="es-CO" sz="1350" noProof="0" dirty="0">
                <a:solidFill>
                  <a:srgbClr val="6F6F6F"/>
                </a:solidFill>
                <a:latin typeface="Segoe UI" pitchFamily="34" charset="0"/>
                <a:ea typeface="Segoe UI" pitchFamily="34" charset="-122"/>
                <a:cs typeface="Segoe UI" pitchFamily="34" charset="-120"/>
              </a:rPr>
              <a:t>UTS · Cartilla de aprendizaje — Gestión Inteligente de Inventarios</a:t>
            </a:r>
            <a:endParaRPr lang="es-CO" sz="1350" noProof="0" dirty="0"/>
          </a:p>
        </p:txBody>
      </p:sp>
      <p:sp>
        <p:nvSpPr>
          <p:cNvPr id="24" name="Shape 22"/>
          <p:cNvSpPr/>
          <p:nvPr/>
        </p:nvSpPr>
        <p:spPr>
          <a:xfrm>
            <a:off x="16725900" y="9410700"/>
            <a:ext cx="419100" cy="419100"/>
          </a:xfrm>
          <a:prstGeom prst="ellipse">
            <a:avLst/>
          </a:prstGeom>
          <a:solidFill>
            <a:srgbClr val="7E2C8C"/>
          </a:solidFill>
          <a:ln/>
        </p:spPr>
        <p:txBody>
          <a:bodyPr/>
          <a:lstStyle/>
          <a:p>
            <a:endParaRPr lang="es-CO" noProof="0" dirty="0"/>
          </a:p>
        </p:txBody>
      </p:sp>
      <p:sp>
        <p:nvSpPr>
          <p:cNvPr id="25" name="Text 23"/>
          <p:cNvSpPr/>
          <p:nvPr/>
        </p:nvSpPr>
        <p:spPr>
          <a:xfrm>
            <a:off x="16687800" y="9410700"/>
            <a:ext cx="495300" cy="457200"/>
          </a:xfrm>
          <a:prstGeom prst="rect">
            <a:avLst/>
          </a:prstGeom>
          <a:noFill/>
          <a:ln/>
        </p:spPr>
        <p:txBody>
          <a:bodyPr wrap="square" lIns="25400" tIns="25400" rIns="25400" bIns="25400" rtlCol="0" anchor="ctr">
            <a:normAutofit/>
          </a:bodyPr>
          <a:lstStyle/>
          <a:p>
            <a:pPr marL="0" indent="0" algn="ctr">
              <a:buNone/>
            </a:pPr>
            <a:r>
              <a:rPr lang="es-CO" sz="1500" b="1" noProof="0" dirty="0">
                <a:solidFill>
                  <a:srgbClr val="FFFFFF"/>
                </a:solidFill>
                <a:latin typeface="Segoe UI" pitchFamily="34" charset="0"/>
                <a:cs typeface="Segoe UI" pitchFamily="34" charset="-120"/>
              </a:rPr>
              <a:t>11</a:t>
            </a:r>
            <a:endParaRPr lang="es-CO" sz="1500" noProof="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143000" y="838200"/>
            <a:ext cx="3807421" cy="419100"/>
          </a:xfrm>
          <a:prstGeom prst="roundRect">
            <a:avLst>
              <a:gd name="adj" fmla="val 50000"/>
            </a:avLst>
          </a:prstGeom>
          <a:solidFill>
            <a:srgbClr val="FFFFFF">
              <a:alpha val="14000"/>
            </a:srgbClr>
          </a:solidFill>
          <a:ln/>
        </p:spPr>
        <p:txBody>
          <a:bodyPr/>
          <a:lstStyle/>
          <a:p>
            <a:endParaRPr lang="es-CO" noProof="0" dirty="0"/>
          </a:p>
        </p:txBody>
      </p:sp>
      <p:sp>
        <p:nvSpPr>
          <p:cNvPr id="4" name="Text 2"/>
          <p:cNvSpPr/>
          <p:nvPr/>
        </p:nvSpPr>
        <p:spPr>
          <a:xfrm>
            <a:off x="1143000" y="1619250"/>
            <a:ext cx="13620750" cy="698500"/>
          </a:xfrm>
          <a:prstGeom prst="rect">
            <a:avLst/>
          </a:prstGeom>
          <a:noFill/>
          <a:ln/>
        </p:spPr>
        <p:txBody>
          <a:bodyPr wrap="square" lIns="25400" tIns="25400" rIns="25400" bIns="25400" rtlCol="0" anchor="t">
            <a:normAutofit/>
          </a:bodyPr>
          <a:lstStyle/>
          <a:p>
            <a:pPr marL="0" indent="0" algn="l">
              <a:buNone/>
            </a:pPr>
            <a:r>
              <a:rPr lang="es-CO" sz="3900" b="1" noProof="0" dirty="0">
                <a:latin typeface="Segoe UI" pitchFamily="34" charset="0"/>
                <a:ea typeface="Segoe UI" pitchFamily="34" charset="-122"/>
                <a:cs typeface="Segoe UI" pitchFamily="34" charset="-120"/>
              </a:rPr>
              <a:t>Output esperado: dataset_inventarios_ferreteria.csv</a:t>
            </a:r>
            <a:endParaRPr lang="es-CO" sz="3900" noProof="0" dirty="0"/>
          </a:p>
        </p:txBody>
      </p:sp>
      <p:sp>
        <p:nvSpPr>
          <p:cNvPr id="5" name="Shape 3"/>
          <p:cNvSpPr/>
          <p:nvPr/>
        </p:nvSpPr>
        <p:spPr>
          <a:xfrm>
            <a:off x="1143000" y="3619500"/>
            <a:ext cx="4381500" cy="4000500"/>
          </a:xfrm>
          <a:prstGeom prst="roundRect">
            <a:avLst>
              <a:gd name="adj" fmla="val 7619"/>
            </a:avLst>
          </a:prstGeom>
          <a:solidFill>
            <a:srgbClr val="8F3B9C"/>
          </a:solidFill>
          <a:ln/>
        </p:spPr>
        <p:txBody>
          <a:bodyPr/>
          <a:lstStyle/>
          <a:p>
            <a:endParaRPr lang="es-CO" noProof="0" dirty="0"/>
          </a:p>
        </p:txBody>
      </p:sp>
      <p:sp>
        <p:nvSpPr>
          <p:cNvPr id="6" name="Shape 4"/>
          <p:cNvSpPr/>
          <p:nvPr/>
        </p:nvSpPr>
        <p:spPr>
          <a:xfrm>
            <a:off x="1523999" y="4000500"/>
            <a:ext cx="1296473" cy="1143000"/>
          </a:xfrm>
          <a:prstGeom prst="roundRect">
            <a:avLst>
              <a:gd name="adj" fmla="val 27273"/>
            </a:avLst>
          </a:prstGeom>
          <a:solidFill>
            <a:srgbClr val="B7D81A"/>
          </a:solidFill>
          <a:ln/>
        </p:spPr>
        <p:txBody>
          <a:bodyPr/>
          <a:lstStyle/>
          <a:p>
            <a:endParaRPr lang="es-CO" noProof="0" dirty="0"/>
          </a:p>
        </p:txBody>
      </p:sp>
      <p:sp>
        <p:nvSpPr>
          <p:cNvPr id="7" name="Text 5"/>
          <p:cNvSpPr/>
          <p:nvPr/>
        </p:nvSpPr>
        <p:spPr>
          <a:xfrm>
            <a:off x="1524000" y="6146800"/>
            <a:ext cx="3981450" cy="850900"/>
          </a:xfrm>
          <a:prstGeom prst="rect">
            <a:avLst/>
          </a:prstGeom>
          <a:noFill/>
          <a:ln/>
        </p:spPr>
        <p:txBody>
          <a:bodyPr wrap="square" lIns="25400" tIns="25400" rIns="25400" bIns="25400" rtlCol="0" anchor="t">
            <a:normAutofit/>
          </a:bodyPr>
          <a:lstStyle/>
          <a:p>
            <a:pPr marL="0" indent="0" algn="l">
              <a:buNone/>
            </a:pPr>
            <a:r>
              <a:rPr lang="es-CO" sz="4800" b="1" noProof="0" dirty="0">
                <a:solidFill>
                  <a:srgbClr val="FFFFFF"/>
                </a:solidFill>
                <a:latin typeface="Segoe UI" pitchFamily="34" charset="0"/>
                <a:ea typeface="Segoe UI" pitchFamily="34" charset="-122"/>
                <a:cs typeface="Segoe UI" pitchFamily="34" charset="-120"/>
              </a:rPr>
              <a:t>120</a:t>
            </a:r>
            <a:endParaRPr lang="es-CO" sz="4800" noProof="0" dirty="0"/>
          </a:p>
        </p:txBody>
      </p:sp>
      <p:sp>
        <p:nvSpPr>
          <p:cNvPr id="8" name="Text 6"/>
          <p:cNvSpPr/>
          <p:nvPr/>
        </p:nvSpPr>
        <p:spPr>
          <a:xfrm>
            <a:off x="1524000" y="6959600"/>
            <a:ext cx="3981450" cy="317500"/>
          </a:xfrm>
          <a:prstGeom prst="rect">
            <a:avLst/>
          </a:prstGeom>
          <a:noFill/>
          <a:ln/>
        </p:spPr>
        <p:txBody>
          <a:bodyPr wrap="square" lIns="25400" tIns="25400" rIns="25400" bIns="25400" rtlCol="0" anchor="t">
            <a:normAutofit/>
          </a:bodyPr>
          <a:lstStyle/>
          <a:p>
            <a:pPr marL="0" indent="0" algn="l">
              <a:buNone/>
            </a:pPr>
            <a:r>
              <a:rPr lang="es-CO" sz="1650" noProof="0" dirty="0">
                <a:solidFill>
                  <a:srgbClr val="DDF28A"/>
                </a:solidFill>
                <a:latin typeface="Segoe UI" pitchFamily="34" charset="0"/>
                <a:ea typeface="Segoe UI" pitchFamily="34" charset="-122"/>
                <a:cs typeface="Segoe UI" pitchFamily="34" charset="-120"/>
              </a:rPr>
              <a:t>SKU en el catálogo maestro</a:t>
            </a:r>
            <a:endParaRPr lang="es-CO" sz="1650" noProof="0" dirty="0"/>
          </a:p>
        </p:txBody>
      </p:sp>
      <p:sp>
        <p:nvSpPr>
          <p:cNvPr id="9" name="Shape 7"/>
          <p:cNvSpPr/>
          <p:nvPr/>
        </p:nvSpPr>
        <p:spPr>
          <a:xfrm>
            <a:off x="5143500" y="3619500"/>
            <a:ext cx="4381500" cy="4000500"/>
          </a:xfrm>
          <a:prstGeom prst="roundRect">
            <a:avLst>
              <a:gd name="adj" fmla="val 7619"/>
            </a:avLst>
          </a:prstGeom>
          <a:solidFill>
            <a:srgbClr val="8F3B9C"/>
          </a:solidFill>
          <a:ln/>
        </p:spPr>
        <p:txBody>
          <a:bodyPr/>
          <a:lstStyle/>
          <a:p>
            <a:endParaRPr lang="es-CO" noProof="0" dirty="0"/>
          </a:p>
        </p:txBody>
      </p:sp>
      <p:sp>
        <p:nvSpPr>
          <p:cNvPr id="10" name="Shape 8"/>
          <p:cNvSpPr/>
          <p:nvPr/>
        </p:nvSpPr>
        <p:spPr>
          <a:xfrm>
            <a:off x="5524500" y="4000500"/>
            <a:ext cx="1296472" cy="1143000"/>
          </a:xfrm>
          <a:prstGeom prst="roundRect">
            <a:avLst>
              <a:gd name="adj" fmla="val 27273"/>
            </a:avLst>
          </a:prstGeom>
          <a:solidFill>
            <a:srgbClr val="A867B5"/>
          </a:solidFill>
          <a:ln/>
        </p:spPr>
        <p:txBody>
          <a:bodyPr/>
          <a:lstStyle/>
          <a:p>
            <a:endParaRPr lang="es-CO" noProof="0" dirty="0"/>
          </a:p>
        </p:txBody>
      </p:sp>
      <p:sp>
        <p:nvSpPr>
          <p:cNvPr id="11" name="Text 9"/>
          <p:cNvSpPr/>
          <p:nvPr/>
        </p:nvSpPr>
        <p:spPr>
          <a:xfrm>
            <a:off x="5524500" y="6146800"/>
            <a:ext cx="3981450" cy="850900"/>
          </a:xfrm>
          <a:prstGeom prst="rect">
            <a:avLst/>
          </a:prstGeom>
          <a:noFill/>
          <a:ln/>
        </p:spPr>
        <p:txBody>
          <a:bodyPr wrap="square" lIns="25400" tIns="25400" rIns="25400" bIns="25400" rtlCol="0" anchor="t">
            <a:normAutofit/>
          </a:bodyPr>
          <a:lstStyle/>
          <a:p>
            <a:pPr marL="0" indent="0" algn="l">
              <a:buNone/>
            </a:pPr>
            <a:r>
              <a:rPr lang="es-CO" sz="4800" b="1" noProof="0" dirty="0">
                <a:solidFill>
                  <a:srgbClr val="FFFFFF"/>
                </a:solidFill>
                <a:latin typeface="Segoe UI" pitchFamily="34" charset="0"/>
                <a:ea typeface="Segoe UI" pitchFamily="34" charset="-122"/>
                <a:cs typeface="Segoe UI" pitchFamily="34" charset="-120"/>
              </a:rPr>
              <a:t>6.240</a:t>
            </a:r>
            <a:endParaRPr lang="es-CO" sz="4800" noProof="0" dirty="0"/>
          </a:p>
        </p:txBody>
      </p:sp>
      <p:sp>
        <p:nvSpPr>
          <p:cNvPr id="12" name="Text 10"/>
          <p:cNvSpPr/>
          <p:nvPr/>
        </p:nvSpPr>
        <p:spPr>
          <a:xfrm>
            <a:off x="5524500" y="6959600"/>
            <a:ext cx="3981450" cy="317500"/>
          </a:xfrm>
          <a:prstGeom prst="rect">
            <a:avLst/>
          </a:prstGeom>
          <a:noFill/>
          <a:ln/>
        </p:spPr>
        <p:txBody>
          <a:bodyPr wrap="square" lIns="25400" tIns="25400" rIns="25400" bIns="25400" rtlCol="0" anchor="t">
            <a:normAutofit/>
          </a:bodyPr>
          <a:lstStyle/>
          <a:p>
            <a:pPr marL="0" indent="0" algn="l">
              <a:buNone/>
            </a:pPr>
            <a:r>
              <a:rPr lang="es-CO" sz="1650" noProof="0" dirty="0">
                <a:solidFill>
                  <a:srgbClr val="DDF28A"/>
                </a:solidFill>
                <a:latin typeface="Segoe UI" pitchFamily="34" charset="0"/>
                <a:ea typeface="Segoe UI" pitchFamily="34" charset="-122"/>
                <a:cs typeface="Segoe UI" pitchFamily="34" charset="-120"/>
              </a:rPr>
              <a:t>registros (120 SKU × 52 semanas)</a:t>
            </a:r>
            <a:endParaRPr lang="es-CO" sz="1650" noProof="0" dirty="0"/>
          </a:p>
        </p:txBody>
      </p:sp>
      <p:sp>
        <p:nvSpPr>
          <p:cNvPr id="13" name="Shape 11"/>
          <p:cNvSpPr/>
          <p:nvPr/>
        </p:nvSpPr>
        <p:spPr>
          <a:xfrm>
            <a:off x="9144000" y="3619500"/>
            <a:ext cx="4381500" cy="4000500"/>
          </a:xfrm>
          <a:prstGeom prst="roundRect">
            <a:avLst>
              <a:gd name="adj" fmla="val 7619"/>
            </a:avLst>
          </a:prstGeom>
          <a:solidFill>
            <a:srgbClr val="8F3B9C"/>
          </a:solidFill>
          <a:ln/>
        </p:spPr>
        <p:txBody>
          <a:bodyPr/>
          <a:lstStyle/>
          <a:p>
            <a:endParaRPr lang="es-CO" noProof="0" dirty="0"/>
          </a:p>
        </p:txBody>
      </p:sp>
      <p:sp>
        <p:nvSpPr>
          <p:cNvPr id="14" name="Shape 12"/>
          <p:cNvSpPr/>
          <p:nvPr/>
        </p:nvSpPr>
        <p:spPr>
          <a:xfrm>
            <a:off x="9525000" y="4000500"/>
            <a:ext cx="1293254" cy="1143000"/>
          </a:xfrm>
          <a:prstGeom prst="roundRect">
            <a:avLst>
              <a:gd name="adj" fmla="val 27273"/>
            </a:avLst>
          </a:prstGeom>
          <a:solidFill>
            <a:srgbClr val="DDF28A"/>
          </a:solidFill>
          <a:ln/>
        </p:spPr>
        <p:txBody>
          <a:bodyPr/>
          <a:lstStyle/>
          <a:p>
            <a:endParaRPr lang="es-CO" noProof="0" dirty="0"/>
          </a:p>
        </p:txBody>
      </p:sp>
      <p:sp>
        <p:nvSpPr>
          <p:cNvPr id="15" name="Text 13"/>
          <p:cNvSpPr/>
          <p:nvPr/>
        </p:nvSpPr>
        <p:spPr>
          <a:xfrm>
            <a:off x="9525000" y="6146800"/>
            <a:ext cx="3981450" cy="850900"/>
          </a:xfrm>
          <a:prstGeom prst="rect">
            <a:avLst/>
          </a:prstGeom>
          <a:noFill/>
          <a:ln/>
        </p:spPr>
        <p:txBody>
          <a:bodyPr wrap="square" lIns="25400" tIns="25400" rIns="25400" bIns="25400" rtlCol="0" anchor="t">
            <a:normAutofit/>
          </a:bodyPr>
          <a:lstStyle/>
          <a:p>
            <a:pPr marL="0" indent="0" algn="l">
              <a:buNone/>
            </a:pPr>
            <a:r>
              <a:rPr lang="es-CO" sz="4800" b="1" noProof="0" dirty="0">
                <a:solidFill>
                  <a:srgbClr val="FFFFFF"/>
                </a:solidFill>
                <a:latin typeface="Segoe UI" pitchFamily="34" charset="0"/>
                <a:ea typeface="Segoe UI" pitchFamily="34" charset="-122"/>
                <a:cs typeface="Segoe UI" pitchFamily="34" charset="-120"/>
              </a:rPr>
              <a:t>32</a:t>
            </a:r>
            <a:endParaRPr lang="es-CO" sz="4800" noProof="0" dirty="0"/>
          </a:p>
        </p:txBody>
      </p:sp>
      <p:sp>
        <p:nvSpPr>
          <p:cNvPr id="16" name="Text 14"/>
          <p:cNvSpPr/>
          <p:nvPr/>
        </p:nvSpPr>
        <p:spPr>
          <a:xfrm>
            <a:off x="9525000" y="6959600"/>
            <a:ext cx="3981450" cy="317500"/>
          </a:xfrm>
          <a:prstGeom prst="rect">
            <a:avLst/>
          </a:prstGeom>
          <a:noFill/>
          <a:ln/>
        </p:spPr>
        <p:txBody>
          <a:bodyPr wrap="square" lIns="25400" tIns="25400" rIns="25400" bIns="25400" rtlCol="0" anchor="t">
            <a:normAutofit/>
          </a:bodyPr>
          <a:lstStyle/>
          <a:p>
            <a:pPr marL="0" indent="0" algn="l">
              <a:buNone/>
            </a:pPr>
            <a:r>
              <a:rPr lang="es-CO" sz="1650" noProof="0" dirty="0">
                <a:solidFill>
                  <a:srgbClr val="DDF28A"/>
                </a:solidFill>
                <a:latin typeface="Segoe UI" pitchFamily="34" charset="0"/>
                <a:ea typeface="Segoe UI" pitchFamily="34" charset="-122"/>
                <a:cs typeface="Segoe UI" pitchFamily="34" charset="-120"/>
              </a:rPr>
              <a:t>variables por registro</a:t>
            </a:r>
            <a:endParaRPr lang="es-CO" sz="1650" noProof="0" dirty="0"/>
          </a:p>
        </p:txBody>
      </p:sp>
      <p:sp>
        <p:nvSpPr>
          <p:cNvPr id="17" name="Shape 15"/>
          <p:cNvSpPr/>
          <p:nvPr/>
        </p:nvSpPr>
        <p:spPr>
          <a:xfrm>
            <a:off x="13144500" y="3619500"/>
            <a:ext cx="4762500" cy="4000500"/>
          </a:xfrm>
          <a:prstGeom prst="roundRect">
            <a:avLst>
              <a:gd name="adj" fmla="val 7619"/>
            </a:avLst>
          </a:prstGeom>
          <a:solidFill>
            <a:srgbClr val="B7D81A"/>
          </a:solidFill>
          <a:ln/>
        </p:spPr>
        <p:txBody>
          <a:bodyPr/>
          <a:lstStyle/>
          <a:p>
            <a:endParaRPr lang="es-CO" noProof="0" dirty="0"/>
          </a:p>
        </p:txBody>
      </p:sp>
      <p:sp>
        <p:nvSpPr>
          <p:cNvPr id="18" name="Shape 16"/>
          <p:cNvSpPr/>
          <p:nvPr/>
        </p:nvSpPr>
        <p:spPr>
          <a:xfrm>
            <a:off x="13525500" y="4000500"/>
            <a:ext cx="1238250" cy="1143000"/>
          </a:xfrm>
          <a:prstGeom prst="roundRect">
            <a:avLst>
              <a:gd name="adj" fmla="val 27273"/>
            </a:avLst>
          </a:prstGeom>
          <a:solidFill>
            <a:srgbClr val="FFFFFF"/>
          </a:solidFill>
          <a:ln/>
        </p:spPr>
        <p:txBody>
          <a:bodyPr/>
          <a:lstStyle/>
          <a:p>
            <a:endParaRPr lang="es-CO" noProof="0" dirty="0"/>
          </a:p>
        </p:txBody>
      </p:sp>
      <p:sp>
        <p:nvSpPr>
          <p:cNvPr id="19" name="Text 17"/>
          <p:cNvSpPr/>
          <p:nvPr/>
        </p:nvSpPr>
        <p:spPr>
          <a:xfrm>
            <a:off x="13525500" y="6146800"/>
            <a:ext cx="4400550" cy="850900"/>
          </a:xfrm>
          <a:prstGeom prst="rect">
            <a:avLst/>
          </a:prstGeom>
          <a:noFill/>
          <a:ln/>
        </p:spPr>
        <p:txBody>
          <a:bodyPr wrap="square" lIns="25400" tIns="25400" rIns="25400" bIns="25400" rtlCol="0" anchor="t">
            <a:normAutofit/>
          </a:bodyPr>
          <a:lstStyle/>
          <a:p>
            <a:pPr marL="0" indent="0" algn="l">
              <a:buNone/>
            </a:pPr>
            <a:r>
              <a:rPr lang="es-CO" sz="4800" b="1" noProof="0" dirty="0">
                <a:solidFill>
                  <a:srgbClr val="3D3D3D"/>
                </a:solidFill>
                <a:latin typeface="Segoe UI" pitchFamily="34" charset="0"/>
                <a:ea typeface="Segoe UI" pitchFamily="34" charset="-122"/>
                <a:cs typeface="Segoe UI" pitchFamily="34" charset="-120"/>
              </a:rPr>
              <a:t>123</a:t>
            </a:r>
            <a:endParaRPr lang="es-CO" sz="4800" noProof="0" dirty="0"/>
          </a:p>
        </p:txBody>
      </p:sp>
      <p:sp>
        <p:nvSpPr>
          <p:cNvPr id="20" name="Text 18"/>
          <p:cNvSpPr/>
          <p:nvPr/>
        </p:nvSpPr>
        <p:spPr>
          <a:xfrm>
            <a:off x="13525500" y="6959600"/>
            <a:ext cx="4400550" cy="317500"/>
          </a:xfrm>
          <a:prstGeom prst="rect">
            <a:avLst/>
          </a:prstGeom>
          <a:noFill/>
          <a:ln/>
        </p:spPr>
        <p:txBody>
          <a:bodyPr wrap="square" lIns="25400" tIns="25400" rIns="25400" bIns="25400" rtlCol="0" anchor="t">
            <a:normAutofit/>
          </a:bodyPr>
          <a:lstStyle/>
          <a:p>
            <a:pPr marL="0" indent="0" algn="l">
              <a:buNone/>
            </a:pPr>
            <a:r>
              <a:rPr lang="es-CO" sz="1650" noProof="0" dirty="0">
                <a:solidFill>
                  <a:srgbClr val="3D3D3D"/>
                </a:solidFill>
                <a:latin typeface="Segoe UI" pitchFamily="34" charset="0"/>
                <a:ea typeface="Segoe UI" pitchFamily="34" charset="-122"/>
                <a:cs typeface="Segoe UI" pitchFamily="34" charset="-120"/>
              </a:rPr>
              <a:t>semilla oficial (reproducibilidad exacta)</a:t>
            </a:r>
            <a:endParaRPr lang="es-CO" sz="1650" noProof="0" dirty="0"/>
          </a:p>
        </p:txBody>
      </p:sp>
      <p:sp>
        <p:nvSpPr>
          <p:cNvPr id="21" name="Text 19"/>
          <p:cNvSpPr/>
          <p:nvPr/>
        </p:nvSpPr>
        <p:spPr>
          <a:xfrm>
            <a:off x="1143000" y="9525000"/>
            <a:ext cx="5412720" cy="266700"/>
          </a:xfrm>
          <a:prstGeom prst="rect">
            <a:avLst/>
          </a:prstGeom>
          <a:noFill/>
          <a:ln/>
        </p:spPr>
        <p:txBody>
          <a:bodyPr wrap="square" lIns="25400" tIns="25400" rIns="25400" bIns="25400" rtlCol="0" anchor="t">
            <a:normAutofit/>
          </a:bodyPr>
          <a:lstStyle/>
          <a:p>
            <a:pPr marL="0" indent="0" algn="l">
              <a:buNone/>
            </a:pPr>
            <a:r>
              <a:rPr lang="es-CO" sz="1350" noProof="0" dirty="0">
                <a:solidFill>
                  <a:srgbClr val="DDF28A"/>
                </a:solidFill>
                <a:latin typeface="Segoe UI" pitchFamily="34" charset="0"/>
                <a:ea typeface="Segoe UI" pitchFamily="34" charset="-122"/>
                <a:cs typeface="Segoe UI" pitchFamily="34" charset="-120"/>
              </a:rPr>
              <a:t>UTS · Cartilla de aprendizaje — Gestión Inteligente de Inventarios</a:t>
            </a:r>
            <a:endParaRPr lang="es-CO" sz="1350" noProof="0" dirty="0"/>
          </a:p>
        </p:txBody>
      </p:sp>
      <p:sp>
        <p:nvSpPr>
          <p:cNvPr id="22" name="Shape 20"/>
          <p:cNvSpPr/>
          <p:nvPr/>
        </p:nvSpPr>
        <p:spPr>
          <a:xfrm>
            <a:off x="16725900" y="9410700"/>
            <a:ext cx="419100" cy="419100"/>
          </a:xfrm>
          <a:prstGeom prst="ellipse">
            <a:avLst/>
          </a:prstGeom>
          <a:solidFill>
            <a:srgbClr val="FFFFFF"/>
          </a:solidFill>
          <a:ln/>
        </p:spPr>
        <p:txBody>
          <a:bodyPr/>
          <a:lstStyle/>
          <a:p>
            <a:endParaRPr lang="es-CO" noProof="0" dirty="0"/>
          </a:p>
        </p:txBody>
      </p:sp>
      <p:sp>
        <p:nvSpPr>
          <p:cNvPr id="23" name="Text 21"/>
          <p:cNvSpPr/>
          <p:nvPr/>
        </p:nvSpPr>
        <p:spPr>
          <a:xfrm>
            <a:off x="16687800" y="9410700"/>
            <a:ext cx="495300" cy="457200"/>
          </a:xfrm>
          <a:prstGeom prst="rect">
            <a:avLst/>
          </a:prstGeom>
          <a:noFill/>
          <a:ln/>
        </p:spPr>
        <p:txBody>
          <a:bodyPr wrap="square" lIns="25400" tIns="25400" rIns="25400" bIns="25400" rtlCol="0" anchor="ctr">
            <a:normAutofit/>
          </a:bodyPr>
          <a:lstStyle/>
          <a:p>
            <a:pPr marL="0" indent="0" algn="ctr">
              <a:buNone/>
            </a:pPr>
            <a:r>
              <a:rPr lang="es-CO" sz="1500" b="1" noProof="0" dirty="0">
                <a:solidFill>
                  <a:srgbClr val="7E2C8C"/>
                </a:solidFill>
                <a:latin typeface="Segoe UI" pitchFamily="34" charset="0"/>
                <a:cs typeface="Segoe UI" pitchFamily="34" charset="-120"/>
              </a:rPr>
              <a:t>12</a:t>
            </a:r>
            <a:endParaRPr lang="es-CO" sz="1500" noProof="0" dirty="0"/>
          </a:p>
        </p:txBody>
      </p:sp>
      <p:sp>
        <p:nvSpPr>
          <p:cNvPr id="25" name="Shape 0">
            <a:extLst>
              <a:ext uri="{FF2B5EF4-FFF2-40B4-BE49-F238E27FC236}">
                <a16:creationId xmlns:a16="http://schemas.microsoft.com/office/drawing/2014/main" id="{D1147FE3-DA6B-158D-B4D0-A012639B77AF}"/>
              </a:ext>
            </a:extLst>
          </p:cNvPr>
          <p:cNvSpPr/>
          <p:nvPr/>
        </p:nvSpPr>
        <p:spPr>
          <a:xfrm>
            <a:off x="1143000" y="838200"/>
            <a:ext cx="3914974" cy="419100"/>
          </a:xfrm>
          <a:prstGeom prst="roundRect">
            <a:avLst>
              <a:gd name="adj" fmla="val 50000"/>
            </a:avLst>
          </a:prstGeom>
          <a:solidFill>
            <a:srgbClr val="F4FADF"/>
          </a:solidFill>
          <a:ln/>
        </p:spPr>
        <p:txBody>
          <a:bodyPr/>
          <a:lstStyle/>
          <a:p>
            <a:endParaRPr lang="es-CO" noProof="0" dirty="0"/>
          </a:p>
        </p:txBody>
      </p:sp>
      <p:sp>
        <p:nvSpPr>
          <p:cNvPr id="27" name="Text 1">
            <a:extLst>
              <a:ext uri="{FF2B5EF4-FFF2-40B4-BE49-F238E27FC236}">
                <a16:creationId xmlns:a16="http://schemas.microsoft.com/office/drawing/2014/main" id="{7D5D6BE9-DD02-644A-BBEA-297F23F617F2}"/>
              </a:ext>
            </a:extLst>
          </p:cNvPr>
          <p:cNvSpPr/>
          <p:nvPr/>
        </p:nvSpPr>
        <p:spPr>
          <a:xfrm>
            <a:off x="1352550" y="933450"/>
            <a:ext cx="3613323" cy="266700"/>
          </a:xfrm>
          <a:prstGeom prst="rect">
            <a:avLst/>
          </a:prstGeom>
          <a:noFill/>
          <a:ln/>
        </p:spPr>
        <p:txBody>
          <a:bodyPr wrap="square" lIns="25400" tIns="25400" rIns="25400" bIns="25400" rtlCol="0" anchor="ctr">
            <a:normAutofit fontScale="77500" lnSpcReduction="20000"/>
          </a:bodyPr>
          <a:lstStyle/>
          <a:p>
            <a:pPr marL="0" indent="0" algn="l">
              <a:buNone/>
            </a:pPr>
            <a:r>
              <a:rPr lang="es-CO" sz="1350" b="1" kern="0" spc="81" noProof="0" dirty="0">
                <a:solidFill>
                  <a:srgbClr val="7E2C8C"/>
                </a:solidFill>
                <a:latin typeface="Segoe UI" pitchFamily="34" charset="0"/>
                <a:ea typeface="Segoe UI" pitchFamily="34" charset="-122"/>
                <a:cs typeface="Segoe UI" pitchFamily="34" charset="-120"/>
              </a:rPr>
              <a:t>FASE 2 · CONSTRUCCIÓN DEL DATASET SINTÉTICO</a:t>
            </a:r>
            <a:endParaRPr lang="es-CO" sz="1350" noProof="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Shape 22">
            <a:extLst>
              <a:ext uri="{FF2B5EF4-FFF2-40B4-BE49-F238E27FC236}">
                <a16:creationId xmlns:a16="http://schemas.microsoft.com/office/drawing/2014/main" id="{88B74DED-791B-3451-FFC8-0F018F7E8411}"/>
              </a:ext>
            </a:extLst>
          </p:cNvPr>
          <p:cNvSpPr/>
          <p:nvPr/>
        </p:nvSpPr>
        <p:spPr>
          <a:xfrm>
            <a:off x="-400318" y="8667750"/>
            <a:ext cx="2071352" cy="2053644"/>
          </a:xfrm>
          <a:prstGeom prst="ellipse">
            <a:avLst/>
          </a:prstGeom>
          <a:solidFill>
            <a:srgbClr val="A867B5"/>
          </a:solidFill>
          <a:ln/>
        </p:spPr>
        <p:txBody>
          <a:bodyPr/>
          <a:lstStyle/>
          <a:p>
            <a:endParaRPr lang="es-CO" noProof="0" dirty="0"/>
          </a:p>
        </p:txBody>
      </p:sp>
      <p:sp>
        <p:nvSpPr>
          <p:cNvPr id="4" name="Text 2"/>
          <p:cNvSpPr/>
          <p:nvPr/>
        </p:nvSpPr>
        <p:spPr>
          <a:xfrm>
            <a:off x="1143000" y="1619250"/>
            <a:ext cx="10791825" cy="1358900"/>
          </a:xfrm>
          <a:prstGeom prst="rect">
            <a:avLst/>
          </a:prstGeom>
          <a:noFill/>
          <a:ln/>
        </p:spPr>
        <p:txBody>
          <a:bodyPr wrap="square" lIns="25400" tIns="25400" rIns="25400" bIns="25400" rtlCol="0" anchor="t">
            <a:normAutofit/>
          </a:bodyPr>
          <a:lstStyle/>
          <a:p>
            <a:pPr marL="0" indent="0" algn="l">
              <a:buNone/>
            </a:pPr>
            <a:r>
              <a:rPr lang="es-CO" sz="3900" b="1" noProof="0" dirty="0">
                <a:solidFill>
                  <a:srgbClr val="3D3D3D"/>
                </a:solidFill>
                <a:latin typeface="Segoe UI" pitchFamily="34" charset="0"/>
                <a:ea typeface="Segoe UI" pitchFamily="34" charset="-122"/>
                <a:cs typeface="Segoe UI" pitchFamily="34" charset="-120"/>
              </a:rPr>
              <a:t>Ejercicio 1 : Justificar las distribuciones del simulador</a:t>
            </a:r>
            <a:endParaRPr lang="es-CO" sz="3900" noProof="0" dirty="0"/>
          </a:p>
        </p:txBody>
      </p:sp>
      <p:sp>
        <p:nvSpPr>
          <p:cNvPr id="5" name="Text 3"/>
          <p:cNvSpPr/>
          <p:nvPr/>
        </p:nvSpPr>
        <p:spPr>
          <a:xfrm>
            <a:off x="1143000" y="3048000"/>
            <a:ext cx="11478296" cy="2781300"/>
          </a:xfrm>
          <a:prstGeom prst="rect">
            <a:avLst/>
          </a:prstGeom>
          <a:noFill/>
          <a:ln/>
        </p:spPr>
        <p:txBody>
          <a:bodyPr wrap="square" lIns="25400" tIns="25400" rIns="25400" bIns="25400" rtlCol="0" anchor="t">
            <a:normAutofit/>
          </a:bodyPr>
          <a:lstStyle/>
          <a:p>
            <a:pPr marL="0" indent="0" algn="l">
              <a:lnSpc>
                <a:spcPct val="120000"/>
              </a:lnSpc>
              <a:buNone/>
            </a:pPr>
            <a:r>
              <a:rPr lang="es-CO" sz="2250" noProof="0" dirty="0">
                <a:solidFill>
                  <a:srgbClr val="3D3D3D"/>
                </a:solidFill>
                <a:latin typeface="Segoe UI" pitchFamily="34" charset="0"/>
                <a:ea typeface="Segoe UI" pitchFamily="34" charset="-122"/>
                <a:cs typeface="Segoe UI" pitchFamily="34" charset="-120"/>
              </a:rPr>
              <a:t>Para cada componente del simulador (demanda, lead time, margen, costo unitario), identifique la distribución de probabilidad empleada y argumente por qué es más adecuada que una alternativa simple (por ejemplo, Normal o Uniforme).</a:t>
            </a:r>
            <a:endParaRPr lang="es-CO" sz="2250" noProof="0" dirty="0"/>
          </a:p>
        </p:txBody>
      </p:sp>
      <p:sp>
        <p:nvSpPr>
          <p:cNvPr id="6" name="Shape 4"/>
          <p:cNvSpPr/>
          <p:nvPr/>
        </p:nvSpPr>
        <p:spPr>
          <a:xfrm>
            <a:off x="1175734" y="6045524"/>
            <a:ext cx="9569768" cy="2027350"/>
          </a:xfrm>
          <a:prstGeom prst="roundRect">
            <a:avLst>
              <a:gd name="adj" fmla="val 10180"/>
            </a:avLst>
          </a:prstGeom>
          <a:solidFill>
            <a:srgbClr val="F4FADF"/>
          </a:solidFill>
          <a:ln/>
        </p:spPr>
        <p:txBody>
          <a:bodyPr/>
          <a:lstStyle/>
          <a:p>
            <a:endParaRPr lang="es-CO" noProof="0" dirty="0"/>
          </a:p>
        </p:txBody>
      </p:sp>
      <p:sp>
        <p:nvSpPr>
          <p:cNvPr id="7" name="Shape 5"/>
          <p:cNvSpPr/>
          <p:nvPr/>
        </p:nvSpPr>
        <p:spPr>
          <a:xfrm>
            <a:off x="1175734" y="5157497"/>
            <a:ext cx="495300" cy="495300"/>
          </a:xfrm>
          <a:prstGeom prst="roundRect">
            <a:avLst>
              <a:gd name="adj" fmla="val 30769"/>
            </a:avLst>
          </a:prstGeom>
          <a:solidFill>
            <a:srgbClr val="B7D81A"/>
          </a:solidFill>
          <a:ln/>
        </p:spPr>
        <p:txBody>
          <a:bodyPr/>
          <a:lstStyle/>
          <a:p>
            <a:endParaRPr lang="es-CO" noProof="0" dirty="0"/>
          </a:p>
        </p:txBody>
      </p:sp>
      <p:sp>
        <p:nvSpPr>
          <p:cNvPr id="8" name="Text 6"/>
          <p:cNvSpPr/>
          <p:nvPr/>
        </p:nvSpPr>
        <p:spPr>
          <a:xfrm>
            <a:off x="1813734" y="5335297"/>
            <a:ext cx="4400550" cy="317500"/>
          </a:xfrm>
          <a:prstGeom prst="rect">
            <a:avLst/>
          </a:prstGeom>
          <a:noFill/>
          <a:ln/>
        </p:spPr>
        <p:txBody>
          <a:bodyPr wrap="square" lIns="25400" tIns="25400" rIns="25400" bIns="25400" rtlCol="0" anchor="t">
            <a:normAutofit fontScale="92500" lnSpcReduction="10000"/>
          </a:bodyPr>
          <a:lstStyle/>
          <a:p>
            <a:pPr marL="0" indent="0" algn="l">
              <a:buNone/>
            </a:pPr>
            <a:r>
              <a:rPr lang="es-CO" sz="2000" b="1" noProof="0" dirty="0">
                <a:solidFill>
                  <a:srgbClr val="7E2C8C"/>
                </a:solidFill>
                <a:latin typeface="Segoe UI" pitchFamily="34" charset="0"/>
                <a:ea typeface="Segoe UI" pitchFamily="34" charset="-122"/>
                <a:cs typeface="Segoe UI" pitchFamily="34" charset="-120"/>
              </a:rPr>
              <a:t>Pista</a:t>
            </a:r>
            <a:endParaRPr lang="es-CO" sz="2000" noProof="0" dirty="0"/>
          </a:p>
        </p:txBody>
      </p:sp>
      <p:sp>
        <p:nvSpPr>
          <p:cNvPr id="9" name="Text 7"/>
          <p:cNvSpPr/>
          <p:nvPr/>
        </p:nvSpPr>
        <p:spPr>
          <a:xfrm>
            <a:off x="1352550" y="6305830"/>
            <a:ext cx="8931230" cy="1723868"/>
          </a:xfrm>
          <a:prstGeom prst="rect">
            <a:avLst/>
          </a:prstGeom>
          <a:noFill/>
          <a:ln/>
        </p:spPr>
        <p:txBody>
          <a:bodyPr wrap="square" lIns="25400" tIns="25400" rIns="25400" bIns="25400" rtlCol="0" anchor="t">
            <a:normAutofit/>
          </a:bodyPr>
          <a:lstStyle/>
          <a:p>
            <a:pPr marL="0" indent="0" algn="l">
              <a:lnSpc>
                <a:spcPct val="112500"/>
              </a:lnSpc>
              <a:buNone/>
            </a:pPr>
            <a:r>
              <a:rPr lang="es-CO" sz="1950" noProof="0" dirty="0">
                <a:solidFill>
                  <a:srgbClr val="3D3D3D"/>
                </a:solidFill>
                <a:latin typeface="Segoe UI" pitchFamily="34" charset="0"/>
                <a:ea typeface="Segoe UI" pitchFamily="34" charset="-122"/>
                <a:cs typeface="Segoe UI" pitchFamily="34" charset="-120"/>
              </a:rPr>
              <a:t>La demanda usa Binomial Negativa por su </a:t>
            </a:r>
            <a:r>
              <a:rPr lang="es-CO" sz="1950" noProof="0" dirty="0" err="1">
                <a:solidFill>
                  <a:srgbClr val="3D3D3D"/>
                </a:solidFill>
                <a:latin typeface="Segoe UI" pitchFamily="34" charset="0"/>
                <a:ea typeface="Segoe UI" pitchFamily="34" charset="-122"/>
                <a:cs typeface="Segoe UI" pitchFamily="34" charset="-120"/>
              </a:rPr>
              <a:t>sobredispersión</a:t>
            </a:r>
            <a:r>
              <a:rPr lang="es-CO" sz="1950" noProof="0" dirty="0">
                <a:solidFill>
                  <a:srgbClr val="3D3D3D"/>
                </a:solidFill>
                <a:latin typeface="Segoe UI" pitchFamily="34" charset="0"/>
                <a:ea typeface="Segoe UI" pitchFamily="34" charset="-122"/>
                <a:cs typeface="Segoe UI" pitchFamily="34" charset="-120"/>
              </a:rPr>
              <a:t> (Var &gt; media); el lead time usa Gamma por su soporte positivo; el margen usa Beta por estar acotado en (0,1); el costo usa Triangular por aprovechar mínimo, moda y máximo del catálogo.</a:t>
            </a:r>
            <a:endParaRPr lang="es-CO" sz="1950" noProof="0" dirty="0"/>
          </a:p>
        </p:txBody>
      </p:sp>
      <p:sp>
        <p:nvSpPr>
          <p:cNvPr id="10" name="Text 8"/>
          <p:cNvSpPr/>
          <p:nvPr/>
        </p:nvSpPr>
        <p:spPr>
          <a:xfrm>
            <a:off x="1143000" y="9525000"/>
            <a:ext cx="5412720" cy="266700"/>
          </a:xfrm>
          <a:prstGeom prst="rect">
            <a:avLst/>
          </a:prstGeom>
          <a:noFill/>
          <a:ln/>
        </p:spPr>
        <p:txBody>
          <a:bodyPr wrap="square" lIns="25400" tIns="25400" rIns="25400" bIns="25400" rtlCol="0" anchor="t">
            <a:normAutofit/>
          </a:bodyPr>
          <a:lstStyle/>
          <a:p>
            <a:pPr marL="0" indent="0" algn="l">
              <a:buNone/>
            </a:pPr>
            <a:r>
              <a:rPr lang="es-CO" sz="1350" noProof="0" dirty="0">
                <a:solidFill>
                  <a:srgbClr val="6F6F6F"/>
                </a:solidFill>
                <a:latin typeface="Segoe UI" pitchFamily="34" charset="0"/>
                <a:ea typeface="Segoe UI" pitchFamily="34" charset="-122"/>
                <a:cs typeface="Segoe UI" pitchFamily="34" charset="-120"/>
              </a:rPr>
              <a:t>UTS · Cartilla de aprendizaje — Gestión Inteligente de Inventarios</a:t>
            </a:r>
            <a:endParaRPr lang="es-CO" sz="1350" noProof="0" dirty="0"/>
          </a:p>
        </p:txBody>
      </p:sp>
      <p:sp>
        <p:nvSpPr>
          <p:cNvPr id="11" name="Shape 9"/>
          <p:cNvSpPr/>
          <p:nvPr/>
        </p:nvSpPr>
        <p:spPr>
          <a:xfrm>
            <a:off x="16725900" y="9410700"/>
            <a:ext cx="419100" cy="419100"/>
          </a:xfrm>
          <a:prstGeom prst="ellipse">
            <a:avLst/>
          </a:prstGeom>
          <a:solidFill>
            <a:srgbClr val="7E2C8C"/>
          </a:solidFill>
          <a:ln/>
        </p:spPr>
        <p:txBody>
          <a:bodyPr/>
          <a:lstStyle/>
          <a:p>
            <a:endParaRPr lang="es-CO" noProof="0" dirty="0"/>
          </a:p>
        </p:txBody>
      </p:sp>
      <p:sp>
        <p:nvSpPr>
          <p:cNvPr id="12" name="Text 10"/>
          <p:cNvSpPr/>
          <p:nvPr/>
        </p:nvSpPr>
        <p:spPr>
          <a:xfrm>
            <a:off x="16687800" y="9410700"/>
            <a:ext cx="495300" cy="457200"/>
          </a:xfrm>
          <a:prstGeom prst="rect">
            <a:avLst/>
          </a:prstGeom>
          <a:noFill/>
          <a:ln/>
        </p:spPr>
        <p:txBody>
          <a:bodyPr wrap="square" lIns="25400" tIns="25400" rIns="25400" bIns="25400" rtlCol="0" anchor="ctr">
            <a:normAutofit/>
          </a:bodyPr>
          <a:lstStyle/>
          <a:p>
            <a:pPr marL="0" indent="0" algn="ctr">
              <a:buNone/>
            </a:pPr>
            <a:r>
              <a:rPr lang="es-CO" sz="1500" b="1" noProof="0" dirty="0">
                <a:solidFill>
                  <a:srgbClr val="FFFFFF"/>
                </a:solidFill>
                <a:latin typeface="Segoe UI" pitchFamily="34" charset="0"/>
                <a:cs typeface="Segoe UI" pitchFamily="34" charset="-120"/>
              </a:rPr>
              <a:t>13</a:t>
            </a:r>
            <a:endParaRPr lang="es-CO" sz="1500" noProof="0" dirty="0"/>
          </a:p>
        </p:txBody>
      </p:sp>
      <p:sp>
        <p:nvSpPr>
          <p:cNvPr id="15" name="Shape 21">
            <a:extLst>
              <a:ext uri="{FF2B5EF4-FFF2-40B4-BE49-F238E27FC236}">
                <a16:creationId xmlns:a16="http://schemas.microsoft.com/office/drawing/2014/main" id="{AEE02E03-C2D3-E502-CB6A-CBD0AC2F7F47}"/>
              </a:ext>
            </a:extLst>
          </p:cNvPr>
          <p:cNvSpPr/>
          <p:nvPr/>
        </p:nvSpPr>
        <p:spPr>
          <a:xfrm>
            <a:off x="15693980" y="-1215444"/>
            <a:ext cx="4142704" cy="4107287"/>
          </a:xfrm>
          <a:prstGeom prst="roundRect">
            <a:avLst>
              <a:gd name="adj" fmla="val 7692"/>
            </a:avLst>
          </a:prstGeom>
          <a:solidFill>
            <a:srgbClr val="7E2C8C"/>
          </a:solidFill>
          <a:ln/>
        </p:spPr>
        <p:txBody>
          <a:bodyPr/>
          <a:lstStyle/>
          <a:p>
            <a:endParaRPr lang="es-CO" noProof="0" dirty="0"/>
          </a:p>
        </p:txBody>
      </p:sp>
      <p:sp>
        <p:nvSpPr>
          <p:cNvPr id="19" name="Shape 23">
            <a:extLst>
              <a:ext uri="{FF2B5EF4-FFF2-40B4-BE49-F238E27FC236}">
                <a16:creationId xmlns:a16="http://schemas.microsoft.com/office/drawing/2014/main" id="{D9D8919A-BE3D-B96A-5D6C-7405487CED5A}"/>
              </a:ext>
            </a:extLst>
          </p:cNvPr>
          <p:cNvSpPr/>
          <p:nvPr/>
        </p:nvSpPr>
        <p:spPr>
          <a:xfrm>
            <a:off x="14919344" y="1912846"/>
            <a:ext cx="1806556" cy="1731875"/>
          </a:xfrm>
          <a:prstGeom prst="roundRect">
            <a:avLst>
              <a:gd name="adj" fmla="val 17778"/>
            </a:avLst>
          </a:prstGeom>
          <a:solidFill>
            <a:srgbClr val="B7D81A"/>
          </a:solidFill>
          <a:ln/>
        </p:spPr>
        <p:txBody>
          <a:bodyPr/>
          <a:lstStyle/>
          <a:p>
            <a:endParaRPr lang="es-CO" noProof="0" dirty="0"/>
          </a:p>
        </p:txBody>
      </p:sp>
      <p:sp>
        <p:nvSpPr>
          <p:cNvPr id="14" name="Shape 0">
            <a:extLst>
              <a:ext uri="{FF2B5EF4-FFF2-40B4-BE49-F238E27FC236}">
                <a16:creationId xmlns:a16="http://schemas.microsoft.com/office/drawing/2014/main" id="{E78365E8-95F2-B200-BF97-24C527C16D89}"/>
              </a:ext>
            </a:extLst>
          </p:cNvPr>
          <p:cNvSpPr/>
          <p:nvPr/>
        </p:nvSpPr>
        <p:spPr>
          <a:xfrm>
            <a:off x="1143000" y="838200"/>
            <a:ext cx="3914974" cy="419100"/>
          </a:xfrm>
          <a:prstGeom prst="roundRect">
            <a:avLst>
              <a:gd name="adj" fmla="val 50000"/>
            </a:avLst>
          </a:prstGeom>
          <a:solidFill>
            <a:srgbClr val="F4FADF"/>
          </a:solidFill>
          <a:ln/>
        </p:spPr>
        <p:txBody>
          <a:bodyPr/>
          <a:lstStyle/>
          <a:p>
            <a:endParaRPr lang="es-CO" noProof="0" dirty="0"/>
          </a:p>
        </p:txBody>
      </p:sp>
      <p:sp>
        <p:nvSpPr>
          <p:cNvPr id="18" name="Text 1">
            <a:extLst>
              <a:ext uri="{FF2B5EF4-FFF2-40B4-BE49-F238E27FC236}">
                <a16:creationId xmlns:a16="http://schemas.microsoft.com/office/drawing/2014/main" id="{CC8E2627-6E77-6239-214F-437BBE676D12}"/>
              </a:ext>
            </a:extLst>
          </p:cNvPr>
          <p:cNvSpPr/>
          <p:nvPr/>
        </p:nvSpPr>
        <p:spPr>
          <a:xfrm>
            <a:off x="1352550" y="933450"/>
            <a:ext cx="3613323" cy="266700"/>
          </a:xfrm>
          <a:prstGeom prst="rect">
            <a:avLst/>
          </a:prstGeom>
          <a:noFill/>
          <a:ln/>
        </p:spPr>
        <p:txBody>
          <a:bodyPr wrap="square" lIns="25400" tIns="25400" rIns="25400" bIns="25400" rtlCol="0" anchor="ctr">
            <a:normAutofit fontScale="77500" lnSpcReduction="20000"/>
          </a:bodyPr>
          <a:lstStyle/>
          <a:p>
            <a:pPr marL="0" indent="0" algn="l">
              <a:buNone/>
            </a:pPr>
            <a:r>
              <a:rPr lang="es-CO" sz="1350" b="1" kern="0" spc="81" noProof="0" dirty="0">
                <a:solidFill>
                  <a:srgbClr val="7E2C8C"/>
                </a:solidFill>
                <a:latin typeface="Segoe UI" pitchFamily="34" charset="0"/>
                <a:ea typeface="Segoe UI" pitchFamily="34" charset="-122"/>
                <a:cs typeface="Segoe UI" pitchFamily="34" charset="-120"/>
              </a:rPr>
              <a:t>FASE 2 · CONSTRUCCIÓN DEL DATASET SINTÉTICO</a:t>
            </a:r>
            <a:endParaRPr lang="es-CO" sz="1350" noProof="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1143000" y="1619250"/>
            <a:ext cx="10791825" cy="1358900"/>
          </a:xfrm>
          <a:prstGeom prst="rect">
            <a:avLst/>
          </a:prstGeom>
          <a:noFill/>
          <a:ln/>
        </p:spPr>
        <p:txBody>
          <a:bodyPr wrap="square" lIns="25400" tIns="25400" rIns="25400" bIns="25400" rtlCol="0" anchor="t">
            <a:normAutofit/>
          </a:bodyPr>
          <a:lstStyle/>
          <a:p>
            <a:pPr marL="0" indent="0" algn="l">
              <a:buNone/>
            </a:pPr>
            <a:r>
              <a:rPr lang="es-CO" sz="3900" b="1" noProof="0" dirty="0">
                <a:solidFill>
                  <a:srgbClr val="3D3D3D"/>
                </a:solidFill>
                <a:latin typeface="Segoe UI" pitchFamily="34" charset="0"/>
                <a:ea typeface="Segoe UI" pitchFamily="34" charset="-122"/>
                <a:cs typeface="Segoe UI" pitchFamily="34" charset="-120"/>
              </a:rPr>
              <a:t>¿Por qué nunca se debe modelar sin validar?</a:t>
            </a:r>
            <a:endParaRPr lang="es-CO" sz="3900" noProof="0" dirty="0"/>
          </a:p>
        </p:txBody>
      </p:sp>
      <p:sp>
        <p:nvSpPr>
          <p:cNvPr id="5" name="Text 3"/>
          <p:cNvSpPr/>
          <p:nvPr/>
        </p:nvSpPr>
        <p:spPr>
          <a:xfrm>
            <a:off x="1143000" y="3048000"/>
            <a:ext cx="9614535" cy="2781300"/>
          </a:xfrm>
          <a:prstGeom prst="rect">
            <a:avLst/>
          </a:prstGeom>
          <a:noFill/>
          <a:ln/>
        </p:spPr>
        <p:txBody>
          <a:bodyPr wrap="square" lIns="25400" tIns="25400" rIns="25400" bIns="25400" rtlCol="0" anchor="t">
            <a:normAutofit/>
          </a:bodyPr>
          <a:lstStyle/>
          <a:p>
            <a:pPr marL="0" indent="0" algn="l">
              <a:lnSpc>
                <a:spcPct val="120000"/>
              </a:lnSpc>
              <a:buNone/>
            </a:pPr>
            <a:r>
              <a:rPr lang="es-CO" sz="2250" noProof="0" dirty="0">
                <a:solidFill>
                  <a:srgbClr val="3D3D3D"/>
                </a:solidFill>
                <a:latin typeface="Segoe UI" pitchFamily="34" charset="0"/>
                <a:ea typeface="Segoe UI" pitchFamily="34" charset="-122"/>
                <a:cs typeface="Segoe UI" pitchFamily="34" charset="-120"/>
              </a:rPr>
              <a:t>Un conjunto de datos simulado o real puede parecer correcto y aun así violar las reglas del proceso que lo generó. Modelar sin verificar arriesga construir conclusiones sobre errores silenciosos: fuga de información, inconsistencias en la política de inventario o identidades contables rotas.</a:t>
            </a:r>
            <a:endParaRPr lang="es-CO" sz="2250" noProof="0" dirty="0"/>
          </a:p>
        </p:txBody>
      </p:sp>
      <p:sp>
        <p:nvSpPr>
          <p:cNvPr id="6" name="Shape 4"/>
          <p:cNvSpPr/>
          <p:nvPr/>
        </p:nvSpPr>
        <p:spPr>
          <a:xfrm>
            <a:off x="12382500" y="3048000"/>
            <a:ext cx="4762500" cy="4035380"/>
          </a:xfrm>
          <a:prstGeom prst="roundRect">
            <a:avLst>
              <a:gd name="adj" fmla="val 10180"/>
            </a:avLst>
          </a:prstGeom>
          <a:solidFill>
            <a:srgbClr val="F4FADF"/>
          </a:solidFill>
          <a:ln/>
        </p:spPr>
        <p:txBody>
          <a:bodyPr/>
          <a:lstStyle/>
          <a:p>
            <a:endParaRPr lang="es-CO" noProof="0" dirty="0"/>
          </a:p>
        </p:txBody>
      </p:sp>
      <p:sp>
        <p:nvSpPr>
          <p:cNvPr id="7" name="Shape 5"/>
          <p:cNvSpPr/>
          <p:nvPr/>
        </p:nvSpPr>
        <p:spPr>
          <a:xfrm>
            <a:off x="12763500" y="3429000"/>
            <a:ext cx="495300" cy="495300"/>
          </a:xfrm>
          <a:prstGeom prst="roundRect">
            <a:avLst>
              <a:gd name="adj" fmla="val 30769"/>
            </a:avLst>
          </a:prstGeom>
          <a:solidFill>
            <a:srgbClr val="B7D81A"/>
          </a:solidFill>
          <a:ln/>
        </p:spPr>
        <p:txBody>
          <a:bodyPr/>
          <a:lstStyle/>
          <a:p>
            <a:endParaRPr lang="es-CO" noProof="0" dirty="0"/>
          </a:p>
        </p:txBody>
      </p:sp>
      <p:sp>
        <p:nvSpPr>
          <p:cNvPr id="8" name="Text 6"/>
          <p:cNvSpPr/>
          <p:nvPr/>
        </p:nvSpPr>
        <p:spPr>
          <a:xfrm>
            <a:off x="12763500" y="4152900"/>
            <a:ext cx="4400550" cy="317500"/>
          </a:xfrm>
          <a:prstGeom prst="rect">
            <a:avLst/>
          </a:prstGeom>
          <a:noFill/>
          <a:ln/>
        </p:spPr>
        <p:txBody>
          <a:bodyPr wrap="square" lIns="25400" tIns="25400" rIns="25400" bIns="25400" rtlCol="0" anchor="t">
            <a:normAutofit/>
          </a:bodyPr>
          <a:lstStyle/>
          <a:p>
            <a:pPr marL="0" indent="0" algn="l">
              <a:buNone/>
            </a:pPr>
            <a:r>
              <a:rPr lang="es-CO" sz="1650" b="1" noProof="0" dirty="0">
                <a:solidFill>
                  <a:srgbClr val="7E2C8C"/>
                </a:solidFill>
                <a:latin typeface="Segoe UI" pitchFamily="34" charset="0"/>
                <a:ea typeface="Segoe UI" pitchFamily="34" charset="-122"/>
                <a:cs typeface="Segoe UI" pitchFamily="34" charset="-120"/>
              </a:rPr>
              <a:t>Principio metodológico</a:t>
            </a:r>
            <a:endParaRPr lang="es-CO" sz="1650" noProof="0" dirty="0"/>
          </a:p>
        </p:txBody>
      </p:sp>
      <p:sp>
        <p:nvSpPr>
          <p:cNvPr id="9" name="Text 7"/>
          <p:cNvSpPr/>
          <p:nvPr/>
        </p:nvSpPr>
        <p:spPr>
          <a:xfrm>
            <a:off x="12763500" y="4546600"/>
            <a:ext cx="4120515" cy="1152525"/>
          </a:xfrm>
          <a:prstGeom prst="rect">
            <a:avLst/>
          </a:prstGeom>
          <a:noFill/>
          <a:ln/>
        </p:spPr>
        <p:txBody>
          <a:bodyPr wrap="square" lIns="25400" tIns="25400" rIns="25400" bIns="25400" rtlCol="0" anchor="t">
            <a:normAutofit fontScale="77500" lnSpcReduction="20000"/>
          </a:bodyPr>
          <a:lstStyle/>
          <a:p>
            <a:pPr marL="0" indent="0" algn="l">
              <a:lnSpc>
                <a:spcPct val="112500"/>
              </a:lnSpc>
              <a:buNone/>
            </a:pPr>
            <a:r>
              <a:rPr lang="es-CO" sz="1950" noProof="0" dirty="0">
                <a:solidFill>
                  <a:srgbClr val="3D3D3D"/>
                </a:solidFill>
                <a:latin typeface="Segoe UI" pitchFamily="34" charset="0"/>
                <a:ea typeface="Segoe UI" pitchFamily="34" charset="-122"/>
                <a:cs typeface="Segoe UI" pitchFamily="34" charset="-120"/>
              </a:rPr>
              <a:t>La validación no se basa en fórmulas genéricas de inventarios, sino en las identidades contables y de política que el propio algoritmo generador impone: solo así se detectan errores reales y no falsos hallazgos.</a:t>
            </a:r>
            <a:endParaRPr lang="es-CO" sz="1950" noProof="0" dirty="0"/>
          </a:p>
        </p:txBody>
      </p:sp>
      <p:sp>
        <p:nvSpPr>
          <p:cNvPr id="10" name="Text 8"/>
          <p:cNvSpPr/>
          <p:nvPr/>
        </p:nvSpPr>
        <p:spPr>
          <a:xfrm>
            <a:off x="1143000" y="9525000"/>
            <a:ext cx="5412720" cy="266700"/>
          </a:xfrm>
          <a:prstGeom prst="rect">
            <a:avLst/>
          </a:prstGeom>
          <a:noFill/>
          <a:ln/>
        </p:spPr>
        <p:txBody>
          <a:bodyPr wrap="square" lIns="25400" tIns="25400" rIns="25400" bIns="25400" rtlCol="0" anchor="t">
            <a:normAutofit/>
          </a:bodyPr>
          <a:lstStyle/>
          <a:p>
            <a:pPr marL="0" indent="0" algn="l">
              <a:buNone/>
            </a:pPr>
            <a:r>
              <a:rPr lang="es-CO" sz="1350" noProof="0" dirty="0">
                <a:solidFill>
                  <a:srgbClr val="6F6F6F"/>
                </a:solidFill>
                <a:latin typeface="Segoe UI" pitchFamily="34" charset="0"/>
                <a:ea typeface="Segoe UI" pitchFamily="34" charset="-122"/>
                <a:cs typeface="Segoe UI" pitchFamily="34" charset="-120"/>
              </a:rPr>
              <a:t>UTS · Cartilla de aprendizaje — Gestión Inteligente de Inventarios</a:t>
            </a:r>
            <a:endParaRPr lang="es-CO" sz="1350" noProof="0" dirty="0"/>
          </a:p>
        </p:txBody>
      </p:sp>
      <p:sp>
        <p:nvSpPr>
          <p:cNvPr id="11" name="Shape 9"/>
          <p:cNvSpPr/>
          <p:nvPr/>
        </p:nvSpPr>
        <p:spPr>
          <a:xfrm>
            <a:off x="16725900" y="9410700"/>
            <a:ext cx="419100" cy="419100"/>
          </a:xfrm>
          <a:prstGeom prst="ellipse">
            <a:avLst/>
          </a:prstGeom>
          <a:solidFill>
            <a:srgbClr val="7E2C8C"/>
          </a:solidFill>
          <a:ln/>
        </p:spPr>
        <p:txBody>
          <a:bodyPr/>
          <a:lstStyle/>
          <a:p>
            <a:endParaRPr lang="es-CO" noProof="0" dirty="0"/>
          </a:p>
        </p:txBody>
      </p:sp>
      <p:sp>
        <p:nvSpPr>
          <p:cNvPr id="12" name="Text 10"/>
          <p:cNvSpPr/>
          <p:nvPr/>
        </p:nvSpPr>
        <p:spPr>
          <a:xfrm>
            <a:off x="16687800" y="9410700"/>
            <a:ext cx="495300" cy="457200"/>
          </a:xfrm>
          <a:prstGeom prst="rect">
            <a:avLst/>
          </a:prstGeom>
          <a:noFill/>
          <a:ln/>
        </p:spPr>
        <p:txBody>
          <a:bodyPr wrap="square" lIns="25400" tIns="25400" rIns="25400" bIns="25400" rtlCol="0" anchor="ctr">
            <a:normAutofit/>
          </a:bodyPr>
          <a:lstStyle/>
          <a:p>
            <a:pPr marL="0" indent="0" algn="ctr">
              <a:buNone/>
            </a:pPr>
            <a:r>
              <a:rPr lang="es-CO" sz="1500" b="1" noProof="0" dirty="0">
                <a:solidFill>
                  <a:srgbClr val="FFFFFF"/>
                </a:solidFill>
                <a:latin typeface="Segoe UI" pitchFamily="34" charset="0"/>
                <a:cs typeface="Segoe UI" pitchFamily="34" charset="-120"/>
              </a:rPr>
              <a:t>14</a:t>
            </a:r>
            <a:endParaRPr lang="es-CO" sz="1500" noProof="0" dirty="0"/>
          </a:p>
        </p:txBody>
      </p:sp>
      <p:sp>
        <p:nvSpPr>
          <p:cNvPr id="14" name="Shape 0">
            <a:extLst>
              <a:ext uri="{FF2B5EF4-FFF2-40B4-BE49-F238E27FC236}">
                <a16:creationId xmlns:a16="http://schemas.microsoft.com/office/drawing/2014/main" id="{FA17D7FA-415A-7ACF-C97B-8B9F87BB7BF1}"/>
              </a:ext>
            </a:extLst>
          </p:cNvPr>
          <p:cNvSpPr/>
          <p:nvPr/>
        </p:nvSpPr>
        <p:spPr>
          <a:xfrm>
            <a:off x="1143000" y="838200"/>
            <a:ext cx="3914974" cy="419100"/>
          </a:xfrm>
          <a:prstGeom prst="roundRect">
            <a:avLst>
              <a:gd name="adj" fmla="val 50000"/>
            </a:avLst>
          </a:prstGeom>
          <a:solidFill>
            <a:srgbClr val="F4FADF"/>
          </a:solidFill>
          <a:ln/>
        </p:spPr>
        <p:txBody>
          <a:bodyPr/>
          <a:lstStyle/>
          <a:p>
            <a:endParaRPr lang="es-CO" noProof="0" dirty="0"/>
          </a:p>
        </p:txBody>
      </p:sp>
      <p:sp>
        <p:nvSpPr>
          <p:cNvPr id="16" name="Text 1">
            <a:extLst>
              <a:ext uri="{FF2B5EF4-FFF2-40B4-BE49-F238E27FC236}">
                <a16:creationId xmlns:a16="http://schemas.microsoft.com/office/drawing/2014/main" id="{7D7C89AB-36BC-08A7-8282-85B7E54F2535}"/>
              </a:ext>
            </a:extLst>
          </p:cNvPr>
          <p:cNvSpPr/>
          <p:nvPr/>
        </p:nvSpPr>
        <p:spPr>
          <a:xfrm>
            <a:off x="1352550" y="933450"/>
            <a:ext cx="3613323" cy="266700"/>
          </a:xfrm>
          <a:prstGeom prst="rect">
            <a:avLst/>
          </a:prstGeom>
          <a:noFill/>
          <a:ln/>
        </p:spPr>
        <p:txBody>
          <a:bodyPr wrap="square" lIns="25400" tIns="25400" rIns="25400" bIns="25400" rtlCol="0" anchor="ctr">
            <a:normAutofit fontScale="77500" lnSpcReduction="20000"/>
          </a:bodyPr>
          <a:lstStyle/>
          <a:p>
            <a:pPr marL="0" indent="0" algn="l">
              <a:buNone/>
            </a:pPr>
            <a:r>
              <a:rPr lang="es-CO" sz="1350" b="1" kern="0" spc="81" noProof="0" dirty="0">
                <a:solidFill>
                  <a:srgbClr val="7E2C8C"/>
                </a:solidFill>
                <a:latin typeface="Segoe UI" pitchFamily="34" charset="0"/>
                <a:ea typeface="Segoe UI" pitchFamily="34" charset="-122"/>
                <a:cs typeface="Segoe UI" pitchFamily="34" charset="-120"/>
              </a:rPr>
              <a:t>FASE 2 · CONSTRUCCIÓN DEL DATASET SINTÉTICO</a:t>
            </a:r>
            <a:endParaRPr lang="es-CO" sz="1350" noProof="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4C6F5-F790-F4A1-F6B6-9919E155E2C2}"/>
            </a:ext>
          </a:extLst>
        </p:cNvPr>
        <p:cNvGrpSpPr/>
        <p:nvPr/>
      </p:nvGrpSpPr>
      <p:grpSpPr>
        <a:xfrm>
          <a:off x="0" y="0"/>
          <a:ext cx="0" cy="0"/>
          <a:chOff x="0" y="0"/>
          <a:chExt cx="0" cy="0"/>
        </a:xfrm>
      </p:grpSpPr>
      <p:sp>
        <p:nvSpPr>
          <p:cNvPr id="33" name="Shape 4">
            <a:extLst>
              <a:ext uri="{FF2B5EF4-FFF2-40B4-BE49-F238E27FC236}">
                <a16:creationId xmlns:a16="http://schemas.microsoft.com/office/drawing/2014/main" id="{55EF805B-8E62-C430-A2F1-1B32A6D7DD20}"/>
              </a:ext>
            </a:extLst>
          </p:cNvPr>
          <p:cNvSpPr/>
          <p:nvPr/>
        </p:nvSpPr>
        <p:spPr>
          <a:xfrm>
            <a:off x="8934451" y="4817057"/>
            <a:ext cx="8000999" cy="3559946"/>
          </a:xfrm>
          <a:prstGeom prst="roundRect">
            <a:avLst>
              <a:gd name="adj" fmla="val 10180"/>
            </a:avLst>
          </a:prstGeom>
          <a:solidFill>
            <a:schemeClr val="bg1">
              <a:lumMod val="95000"/>
            </a:schemeClr>
          </a:solidFill>
          <a:ln/>
        </p:spPr>
        <p:txBody>
          <a:bodyPr/>
          <a:lstStyle/>
          <a:p>
            <a:endParaRPr lang="es-CO" noProof="0" dirty="0"/>
          </a:p>
        </p:txBody>
      </p:sp>
      <p:sp>
        <p:nvSpPr>
          <p:cNvPr id="31" name="Shape 4">
            <a:extLst>
              <a:ext uri="{FF2B5EF4-FFF2-40B4-BE49-F238E27FC236}">
                <a16:creationId xmlns:a16="http://schemas.microsoft.com/office/drawing/2014/main" id="{39D148DE-7554-9A85-C878-D72F1367129B}"/>
              </a:ext>
            </a:extLst>
          </p:cNvPr>
          <p:cNvSpPr/>
          <p:nvPr/>
        </p:nvSpPr>
        <p:spPr>
          <a:xfrm>
            <a:off x="1226762" y="4817057"/>
            <a:ext cx="5742266" cy="3548835"/>
          </a:xfrm>
          <a:prstGeom prst="roundRect">
            <a:avLst>
              <a:gd name="adj" fmla="val 10180"/>
            </a:avLst>
          </a:prstGeom>
          <a:solidFill>
            <a:srgbClr val="F4FADF"/>
          </a:solidFill>
          <a:ln/>
        </p:spPr>
        <p:txBody>
          <a:bodyPr/>
          <a:lstStyle/>
          <a:p>
            <a:endParaRPr lang="es-CO" noProof="0" dirty="0"/>
          </a:p>
        </p:txBody>
      </p:sp>
      <p:sp>
        <p:nvSpPr>
          <p:cNvPr id="4" name="Text 2">
            <a:extLst>
              <a:ext uri="{FF2B5EF4-FFF2-40B4-BE49-F238E27FC236}">
                <a16:creationId xmlns:a16="http://schemas.microsoft.com/office/drawing/2014/main" id="{C25603CD-40D6-43AD-0DDC-CBAC03046CAA}"/>
              </a:ext>
            </a:extLst>
          </p:cNvPr>
          <p:cNvSpPr/>
          <p:nvPr/>
        </p:nvSpPr>
        <p:spPr>
          <a:xfrm>
            <a:off x="1143000" y="1619250"/>
            <a:ext cx="13525500" cy="1873974"/>
          </a:xfrm>
          <a:prstGeom prst="rect">
            <a:avLst/>
          </a:prstGeom>
          <a:noFill/>
          <a:ln/>
        </p:spPr>
        <p:txBody>
          <a:bodyPr wrap="square" lIns="25400" tIns="25400" rIns="25400" bIns="25400" rtlCol="0" anchor="t">
            <a:normAutofit/>
          </a:bodyPr>
          <a:lstStyle/>
          <a:p>
            <a:pPr marL="0" indent="0" algn="l">
              <a:buNone/>
            </a:pPr>
            <a:r>
              <a:rPr lang="es-CO" sz="3900" b="1" noProof="0" dirty="0">
                <a:solidFill>
                  <a:srgbClr val="3D3D3D"/>
                </a:solidFill>
                <a:latin typeface="Segoe UI" pitchFamily="34" charset="0"/>
                <a:cs typeface="Segoe UI" pitchFamily="34" charset="-120"/>
              </a:rPr>
              <a:t>¿Cómo se validó el conjunto de datos generado?</a:t>
            </a:r>
            <a:endParaRPr lang="es-CO" sz="3900" noProof="0" dirty="0"/>
          </a:p>
        </p:txBody>
      </p:sp>
      <p:sp>
        <p:nvSpPr>
          <p:cNvPr id="15" name="Text 13">
            <a:extLst>
              <a:ext uri="{FF2B5EF4-FFF2-40B4-BE49-F238E27FC236}">
                <a16:creationId xmlns:a16="http://schemas.microsoft.com/office/drawing/2014/main" id="{BDD84F03-01E4-E79E-3E6E-4E70A68623F5}"/>
              </a:ext>
            </a:extLst>
          </p:cNvPr>
          <p:cNvSpPr/>
          <p:nvPr/>
        </p:nvSpPr>
        <p:spPr>
          <a:xfrm>
            <a:off x="1143000" y="9525000"/>
            <a:ext cx="5412720" cy="266700"/>
          </a:xfrm>
          <a:prstGeom prst="rect">
            <a:avLst/>
          </a:prstGeom>
          <a:noFill/>
          <a:ln/>
        </p:spPr>
        <p:txBody>
          <a:bodyPr wrap="square" lIns="25400" tIns="25400" rIns="25400" bIns="25400" rtlCol="0" anchor="t">
            <a:normAutofit/>
          </a:bodyPr>
          <a:lstStyle/>
          <a:p>
            <a:pPr marL="0" indent="0" algn="l">
              <a:buNone/>
            </a:pPr>
            <a:r>
              <a:rPr lang="es-CO" sz="1350" noProof="0" dirty="0">
                <a:solidFill>
                  <a:srgbClr val="6F6F6F"/>
                </a:solidFill>
                <a:latin typeface="Segoe UI" pitchFamily="34" charset="0"/>
                <a:ea typeface="Segoe UI" pitchFamily="34" charset="-122"/>
                <a:cs typeface="Segoe UI" pitchFamily="34" charset="-120"/>
              </a:rPr>
              <a:t>UTS · Cartilla de aprendizaje — Gestión Inteligente de Inventarios</a:t>
            </a:r>
            <a:endParaRPr lang="es-CO" sz="1350" noProof="0" dirty="0"/>
          </a:p>
        </p:txBody>
      </p:sp>
      <p:sp>
        <p:nvSpPr>
          <p:cNvPr id="16" name="Shape 14">
            <a:extLst>
              <a:ext uri="{FF2B5EF4-FFF2-40B4-BE49-F238E27FC236}">
                <a16:creationId xmlns:a16="http://schemas.microsoft.com/office/drawing/2014/main" id="{E1CA6BE6-A6EE-5168-4F97-53B9000FC4E2}"/>
              </a:ext>
            </a:extLst>
          </p:cNvPr>
          <p:cNvSpPr/>
          <p:nvPr/>
        </p:nvSpPr>
        <p:spPr>
          <a:xfrm>
            <a:off x="16725900" y="9410700"/>
            <a:ext cx="419100" cy="419100"/>
          </a:xfrm>
          <a:prstGeom prst="ellipse">
            <a:avLst/>
          </a:prstGeom>
          <a:solidFill>
            <a:srgbClr val="7E2C8C"/>
          </a:solidFill>
          <a:ln/>
        </p:spPr>
        <p:txBody>
          <a:bodyPr/>
          <a:lstStyle/>
          <a:p>
            <a:endParaRPr lang="es-CO" noProof="0" dirty="0"/>
          </a:p>
        </p:txBody>
      </p:sp>
      <p:sp>
        <p:nvSpPr>
          <p:cNvPr id="17" name="Text 15">
            <a:extLst>
              <a:ext uri="{FF2B5EF4-FFF2-40B4-BE49-F238E27FC236}">
                <a16:creationId xmlns:a16="http://schemas.microsoft.com/office/drawing/2014/main" id="{1E88DD64-2A42-86B3-F057-942C08E78423}"/>
              </a:ext>
            </a:extLst>
          </p:cNvPr>
          <p:cNvSpPr/>
          <p:nvPr/>
        </p:nvSpPr>
        <p:spPr>
          <a:xfrm>
            <a:off x="16687800" y="9410700"/>
            <a:ext cx="495300" cy="457200"/>
          </a:xfrm>
          <a:prstGeom prst="rect">
            <a:avLst/>
          </a:prstGeom>
          <a:noFill/>
          <a:ln/>
        </p:spPr>
        <p:txBody>
          <a:bodyPr wrap="square" lIns="25400" tIns="25400" rIns="25400" bIns="25400" rtlCol="0" anchor="ctr">
            <a:normAutofit/>
          </a:bodyPr>
          <a:lstStyle/>
          <a:p>
            <a:pPr marL="0" indent="0" algn="ctr">
              <a:buNone/>
            </a:pPr>
            <a:r>
              <a:rPr lang="es-CO" sz="1500" b="1" noProof="0" dirty="0">
                <a:solidFill>
                  <a:srgbClr val="FFFFFF"/>
                </a:solidFill>
                <a:latin typeface="Segoe UI" pitchFamily="34" charset="0"/>
                <a:ea typeface="Segoe UI" pitchFamily="34" charset="-122"/>
                <a:cs typeface="Segoe UI" pitchFamily="34" charset="-120"/>
              </a:rPr>
              <a:t>15</a:t>
            </a:r>
            <a:endParaRPr lang="es-CO" sz="1500" noProof="0" dirty="0"/>
          </a:p>
        </p:txBody>
      </p:sp>
      <p:sp>
        <p:nvSpPr>
          <p:cNvPr id="3" name="Shape 0">
            <a:extLst>
              <a:ext uri="{FF2B5EF4-FFF2-40B4-BE49-F238E27FC236}">
                <a16:creationId xmlns:a16="http://schemas.microsoft.com/office/drawing/2014/main" id="{C207E3BE-10FA-002E-2675-D62EFE374F68}"/>
              </a:ext>
            </a:extLst>
          </p:cNvPr>
          <p:cNvSpPr/>
          <p:nvPr/>
        </p:nvSpPr>
        <p:spPr>
          <a:xfrm>
            <a:off x="1143000" y="838200"/>
            <a:ext cx="5077496" cy="419100"/>
          </a:xfrm>
          <a:prstGeom prst="roundRect">
            <a:avLst>
              <a:gd name="adj" fmla="val 50000"/>
            </a:avLst>
          </a:prstGeom>
          <a:solidFill>
            <a:srgbClr val="F4FADF"/>
          </a:solidFill>
          <a:ln/>
        </p:spPr>
        <p:txBody>
          <a:bodyPr/>
          <a:lstStyle/>
          <a:p>
            <a:endParaRPr lang="es-CO" noProof="0" dirty="0"/>
          </a:p>
        </p:txBody>
      </p:sp>
      <p:sp>
        <p:nvSpPr>
          <p:cNvPr id="13" name="Text 1">
            <a:extLst>
              <a:ext uri="{FF2B5EF4-FFF2-40B4-BE49-F238E27FC236}">
                <a16:creationId xmlns:a16="http://schemas.microsoft.com/office/drawing/2014/main" id="{02D957CC-3831-CCF2-3741-657338971312}"/>
              </a:ext>
            </a:extLst>
          </p:cNvPr>
          <p:cNvSpPr/>
          <p:nvPr/>
        </p:nvSpPr>
        <p:spPr>
          <a:xfrm>
            <a:off x="1352550" y="933450"/>
            <a:ext cx="5203170" cy="266700"/>
          </a:xfrm>
          <a:prstGeom prst="rect">
            <a:avLst/>
          </a:prstGeom>
          <a:noFill/>
          <a:ln/>
        </p:spPr>
        <p:txBody>
          <a:bodyPr wrap="square" lIns="25400" tIns="25400" rIns="25400" bIns="25400" rtlCol="0" anchor="ctr">
            <a:normAutofit/>
          </a:bodyPr>
          <a:lstStyle/>
          <a:p>
            <a:pPr marL="0" indent="0" algn="l">
              <a:buNone/>
            </a:pPr>
            <a:r>
              <a:rPr lang="es-CO" sz="1350" b="1" kern="0" spc="81" noProof="0" dirty="0">
                <a:solidFill>
                  <a:srgbClr val="7E2C8C"/>
                </a:solidFill>
                <a:latin typeface="Segoe UI" pitchFamily="34" charset="0"/>
                <a:ea typeface="Segoe UI" pitchFamily="34" charset="-122"/>
                <a:cs typeface="Segoe UI" pitchFamily="34" charset="-120"/>
              </a:rPr>
              <a:t>FASE 3 · VALIDACIÓN DEL CONJUNTO DE DATOS</a:t>
            </a:r>
            <a:endParaRPr lang="es-CO" sz="1350" noProof="0" dirty="0"/>
          </a:p>
        </p:txBody>
      </p:sp>
      <p:sp>
        <p:nvSpPr>
          <p:cNvPr id="10" name="Text 3">
            <a:extLst>
              <a:ext uri="{FF2B5EF4-FFF2-40B4-BE49-F238E27FC236}">
                <a16:creationId xmlns:a16="http://schemas.microsoft.com/office/drawing/2014/main" id="{619030D9-AB3B-74A7-2490-F9C094178E8F}"/>
              </a:ext>
            </a:extLst>
          </p:cNvPr>
          <p:cNvSpPr/>
          <p:nvPr/>
        </p:nvSpPr>
        <p:spPr>
          <a:xfrm>
            <a:off x="1122739" y="2705823"/>
            <a:ext cx="14345862" cy="1383577"/>
          </a:xfrm>
          <a:prstGeom prst="rect">
            <a:avLst/>
          </a:prstGeom>
          <a:noFill/>
          <a:ln/>
        </p:spPr>
        <p:txBody>
          <a:bodyPr wrap="square" lIns="25400" tIns="25400" rIns="25400" bIns="25400" rtlCol="0" anchor="t">
            <a:normAutofit/>
          </a:bodyPr>
          <a:lstStyle/>
          <a:p>
            <a:pPr marL="0" indent="0" algn="l">
              <a:lnSpc>
                <a:spcPct val="120000"/>
              </a:lnSpc>
              <a:buNone/>
            </a:pPr>
            <a:r>
              <a:rPr lang="es-CO" sz="2250" noProof="0" dirty="0">
                <a:solidFill>
                  <a:srgbClr val="3D3D3D"/>
                </a:solidFill>
                <a:latin typeface="Segoe UI" pitchFamily="34" charset="0"/>
                <a:ea typeface="Segoe UI" pitchFamily="34" charset="-122"/>
                <a:cs typeface="Segoe UI" pitchFamily="34" charset="-120"/>
              </a:rPr>
              <a:t>Una vez generado el conjunto de datos sintéticos, fue necesario verificar que su estructura y contenido fueran consistentes antes de utilizarlo para el modelado predictivo. Para ello se desarrollaron dos scripts complementarios, cada uno con un propósito específico.</a:t>
            </a:r>
            <a:endParaRPr lang="es-CO" sz="2250" noProof="0" dirty="0"/>
          </a:p>
        </p:txBody>
      </p:sp>
      <p:sp>
        <p:nvSpPr>
          <p:cNvPr id="21" name="Text 1">
            <a:extLst>
              <a:ext uri="{FF2B5EF4-FFF2-40B4-BE49-F238E27FC236}">
                <a16:creationId xmlns:a16="http://schemas.microsoft.com/office/drawing/2014/main" id="{B1196EF5-688B-6540-35E8-8E1CE6D066DC}"/>
              </a:ext>
            </a:extLst>
          </p:cNvPr>
          <p:cNvSpPr/>
          <p:nvPr/>
        </p:nvSpPr>
        <p:spPr>
          <a:xfrm>
            <a:off x="1264304" y="5166154"/>
            <a:ext cx="5412720" cy="555624"/>
          </a:xfrm>
          <a:prstGeom prst="rect">
            <a:avLst/>
          </a:prstGeom>
          <a:noFill/>
          <a:ln>
            <a:noFill/>
          </a:ln>
        </p:spPr>
        <p:style>
          <a:lnRef idx="0">
            <a:scrgbClr r="0" g="0" b="0"/>
          </a:lnRef>
          <a:fillRef idx="0">
            <a:scrgbClr r="0" g="0" b="0"/>
          </a:fillRef>
          <a:effectRef idx="0">
            <a:scrgbClr r="0" g="0" b="0"/>
          </a:effectRef>
          <a:fontRef idx="minor">
            <a:schemeClr val="accent3"/>
          </a:fontRef>
        </p:style>
        <p:txBody>
          <a:bodyPr wrap="square" lIns="25400" tIns="25400" rIns="25400" bIns="25400" rtlCol="0" anchor="ctr">
            <a:noAutofit/>
          </a:bodyPr>
          <a:lstStyle/>
          <a:p>
            <a:pPr marL="0" indent="0" algn="l">
              <a:buNone/>
            </a:pPr>
            <a:r>
              <a:rPr lang="es-CO" sz="2400" b="1" kern="0" spc="81" noProof="0" dirty="0">
                <a:solidFill>
                  <a:srgbClr val="7E2C8C"/>
                </a:solidFill>
                <a:latin typeface="Segoe UI" pitchFamily="34" charset="0"/>
                <a:cs typeface="Segoe UI" pitchFamily="34" charset="-120"/>
              </a:rPr>
              <a:t>Objetivo Script 2: Diagnóstico</a:t>
            </a:r>
            <a:endParaRPr lang="es-CO" sz="2400" noProof="0" dirty="0"/>
          </a:p>
        </p:txBody>
      </p:sp>
      <p:sp>
        <p:nvSpPr>
          <p:cNvPr id="23" name="Text 1">
            <a:extLst>
              <a:ext uri="{FF2B5EF4-FFF2-40B4-BE49-F238E27FC236}">
                <a16:creationId xmlns:a16="http://schemas.microsoft.com/office/drawing/2014/main" id="{115AF95D-DE89-441A-27FA-970CC5B01722}"/>
              </a:ext>
            </a:extLst>
          </p:cNvPr>
          <p:cNvSpPr/>
          <p:nvPr/>
        </p:nvSpPr>
        <p:spPr>
          <a:xfrm>
            <a:off x="9269787" y="5166154"/>
            <a:ext cx="4800675" cy="555624"/>
          </a:xfrm>
          <a:prstGeom prst="rect">
            <a:avLst/>
          </a:prstGeom>
          <a:noFill/>
          <a:ln>
            <a:noFill/>
          </a:ln>
        </p:spPr>
        <p:style>
          <a:lnRef idx="0">
            <a:scrgbClr r="0" g="0" b="0"/>
          </a:lnRef>
          <a:fillRef idx="0">
            <a:scrgbClr r="0" g="0" b="0"/>
          </a:fillRef>
          <a:effectRef idx="0">
            <a:scrgbClr r="0" g="0" b="0"/>
          </a:effectRef>
          <a:fontRef idx="minor">
            <a:schemeClr val="accent3"/>
          </a:fontRef>
        </p:style>
        <p:txBody>
          <a:bodyPr wrap="square" lIns="25400" tIns="25400" rIns="25400" bIns="25400" rtlCol="0" anchor="ctr">
            <a:noAutofit/>
          </a:bodyPr>
          <a:lstStyle/>
          <a:p>
            <a:pPr marL="0" indent="0" algn="l">
              <a:buNone/>
            </a:pPr>
            <a:r>
              <a:rPr lang="es-CO" sz="2400" b="1" kern="0" spc="81" noProof="0" dirty="0">
                <a:solidFill>
                  <a:srgbClr val="7E2C8C"/>
                </a:solidFill>
                <a:latin typeface="Segoe UI" pitchFamily="34" charset="0"/>
                <a:cs typeface="Segoe UI" pitchFamily="34" charset="-120"/>
              </a:rPr>
              <a:t>Objetivo Script 3: Validación</a:t>
            </a:r>
            <a:endParaRPr lang="es-CO" sz="2400" noProof="0" dirty="0"/>
          </a:p>
        </p:txBody>
      </p:sp>
      <p:sp>
        <p:nvSpPr>
          <p:cNvPr id="25" name="CuadroTexto 24">
            <a:extLst>
              <a:ext uri="{FF2B5EF4-FFF2-40B4-BE49-F238E27FC236}">
                <a16:creationId xmlns:a16="http://schemas.microsoft.com/office/drawing/2014/main" id="{9BF76D45-F040-C399-240B-E1C0D8024177}"/>
              </a:ext>
            </a:extLst>
          </p:cNvPr>
          <p:cNvSpPr txBox="1"/>
          <p:nvPr/>
        </p:nvSpPr>
        <p:spPr>
          <a:xfrm>
            <a:off x="1264304" y="5850956"/>
            <a:ext cx="5830512" cy="1938992"/>
          </a:xfrm>
          <a:prstGeom prst="rect">
            <a:avLst/>
          </a:prstGeom>
          <a:noFill/>
        </p:spPr>
        <p:txBody>
          <a:bodyPr wrap="square">
            <a:spAutoFit/>
          </a:bodyPr>
          <a:lstStyle/>
          <a:p>
            <a:r>
              <a:rPr lang="es-CO" sz="2000" noProof="0" dirty="0">
                <a:solidFill>
                  <a:srgbClr val="3D3D3D"/>
                </a:solidFill>
                <a:latin typeface="Segoe UI" pitchFamily="34" charset="0"/>
                <a:cs typeface="Segoe UI" pitchFamily="34" charset="-120"/>
              </a:rPr>
              <a:t>Comprender cómo quedó construido el conjunto de datos después de la simulación. Este script permitió conocer su estructura general, verificando aspectos como el número de SKU, el horizonte de tiempo, las familias de productos y el comportamiento de las principales variables</a:t>
            </a:r>
          </a:p>
        </p:txBody>
      </p:sp>
      <p:sp>
        <p:nvSpPr>
          <p:cNvPr id="29" name="CuadroTexto 28">
            <a:extLst>
              <a:ext uri="{FF2B5EF4-FFF2-40B4-BE49-F238E27FC236}">
                <a16:creationId xmlns:a16="http://schemas.microsoft.com/office/drawing/2014/main" id="{349C7213-F186-1B59-ACEA-8EBFA9B1F869}"/>
              </a:ext>
            </a:extLst>
          </p:cNvPr>
          <p:cNvSpPr txBox="1"/>
          <p:nvPr/>
        </p:nvSpPr>
        <p:spPr>
          <a:xfrm>
            <a:off x="9269787" y="5721778"/>
            <a:ext cx="7531100" cy="2246769"/>
          </a:xfrm>
          <a:prstGeom prst="rect">
            <a:avLst/>
          </a:prstGeom>
          <a:noFill/>
        </p:spPr>
        <p:txBody>
          <a:bodyPr wrap="square">
            <a:spAutoFit/>
          </a:bodyPr>
          <a:lstStyle/>
          <a:p>
            <a:r>
              <a:rPr lang="es-CO" sz="2000" noProof="0" dirty="0">
                <a:solidFill>
                  <a:srgbClr val="3D3D3D"/>
                </a:solidFill>
                <a:latin typeface="Segoe UI" pitchFamily="34" charset="0"/>
                <a:cs typeface="Segoe UI" pitchFamily="34" charset="-120"/>
              </a:rPr>
              <a:t>Comprobar que toda la información generada cumpliera las reglas establecidas para la simulación. Para ello se ejecutaron 84 verificaciones automáticas, orientadas a identificar posibles inconsistencias, errores de estructura o incumplimientos de las condiciones definidas en el modelo. Esta validación garantiza que el conjunto de datos sea confiable y pueda utilizarse en las siguientes etapas del proyecto.</a:t>
            </a:r>
          </a:p>
        </p:txBody>
      </p:sp>
      <p:sp>
        <p:nvSpPr>
          <p:cNvPr id="35" name="Shape 22">
            <a:extLst>
              <a:ext uri="{FF2B5EF4-FFF2-40B4-BE49-F238E27FC236}">
                <a16:creationId xmlns:a16="http://schemas.microsoft.com/office/drawing/2014/main" id="{EFF13CA0-DFC1-C922-F4D9-B66DBA4C7E92}"/>
              </a:ext>
            </a:extLst>
          </p:cNvPr>
          <p:cNvSpPr/>
          <p:nvPr/>
        </p:nvSpPr>
        <p:spPr>
          <a:xfrm>
            <a:off x="16671889" y="-434394"/>
            <a:ext cx="2071352" cy="2053644"/>
          </a:xfrm>
          <a:prstGeom prst="ellipse">
            <a:avLst/>
          </a:prstGeom>
          <a:solidFill>
            <a:srgbClr val="A867B5"/>
          </a:solidFill>
          <a:ln/>
        </p:spPr>
        <p:txBody>
          <a:bodyPr/>
          <a:lstStyle/>
          <a:p>
            <a:endParaRPr lang="es-CO" noProof="0" dirty="0"/>
          </a:p>
        </p:txBody>
      </p:sp>
    </p:spTree>
    <p:extLst>
      <p:ext uri="{BB962C8B-B14F-4D97-AF65-F5344CB8AC3E}">
        <p14:creationId xmlns:p14="http://schemas.microsoft.com/office/powerpoint/2010/main" val="16779611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1143000" y="1583636"/>
            <a:ext cx="7943810" cy="1241431"/>
          </a:xfrm>
          <a:prstGeom prst="rect">
            <a:avLst/>
          </a:prstGeom>
          <a:noFill/>
          <a:ln/>
        </p:spPr>
        <p:txBody>
          <a:bodyPr wrap="square" lIns="25400" tIns="25400" rIns="25400" bIns="25400" rtlCol="0" anchor="t">
            <a:normAutofit/>
          </a:bodyPr>
          <a:lstStyle/>
          <a:p>
            <a:pPr marL="0" indent="0" algn="l">
              <a:buNone/>
            </a:pPr>
            <a:r>
              <a:rPr lang="es-CO" sz="3900" b="1" noProof="0" dirty="0">
                <a:solidFill>
                  <a:srgbClr val="3D3D3D"/>
                </a:solidFill>
                <a:latin typeface="Segoe UI" pitchFamily="34" charset="0"/>
                <a:ea typeface="Segoe UI" pitchFamily="34" charset="-122"/>
                <a:cs typeface="Segoe UI" pitchFamily="34" charset="-120"/>
              </a:rPr>
              <a:t>Diagnóstico del entorno de simulación generado</a:t>
            </a:r>
            <a:endParaRPr lang="es-CO" sz="3900" noProof="0" dirty="0"/>
          </a:p>
        </p:txBody>
      </p:sp>
      <p:sp>
        <p:nvSpPr>
          <p:cNvPr id="5" name="Text 3"/>
          <p:cNvSpPr/>
          <p:nvPr/>
        </p:nvSpPr>
        <p:spPr>
          <a:xfrm>
            <a:off x="1143000" y="3279282"/>
            <a:ext cx="7848600" cy="1226641"/>
          </a:xfrm>
          <a:prstGeom prst="rect">
            <a:avLst/>
          </a:prstGeom>
          <a:noFill/>
          <a:ln/>
        </p:spPr>
        <p:txBody>
          <a:bodyPr wrap="square" lIns="25400" tIns="25400" rIns="25400" bIns="25400" rtlCol="0" anchor="t">
            <a:normAutofit/>
          </a:bodyPr>
          <a:lstStyle/>
          <a:p>
            <a:pPr marL="0" indent="0" algn="l">
              <a:lnSpc>
                <a:spcPct val="120000"/>
              </a:lnSpc>
              <a:buNone/>
            </a:pPr>
            <a:r>
              <a:rPr lang="es-CO" sz="1950" noProof="0" dirty="0">
                <a:solidFill>
                  <a:srgbClr val="3D3D3D"/>
                </a:solidFill>
                <a:latin typeface="Segoe UI" pitchFamily="34" charset="0"/>
                <a:ea typeface="Segoe UI" pitchFamily="34" charset="-122"/>
                <a:cs typeface="Segoe UI" pitchFamily="34" charset="-120"/>
              </a:rPr>
              <a:t>El entorno reproduce una </a:t>
            </a:r>
            <a:r>
              <a:rPr lang="es-CO" sz="1950" noProof="0" dirty="0" err="1">
                <a:solidFill>
                  <a:srgbClr val="3D3D3D"/>
                </a:solidFill>
                <a:latin typeface="Segoe UI" pitchFamily="34" charset="0"/>
                <a:ea typeface="Segoe UI" pitchFamily="34" charset="-122"/>
                <a:cs typeface="Segoe UI" pitchFamily="34" charset="-120"/>
              </a:rPr>
              <a:t>PyME</a:t>
            </a:r>
            <a:r>
              <a:rPr lang="es-CO" sz="1950" noProof="0" dirty="0">
                <a:solidFill>
                  <a:srgbClr val="3D3D3D"/>
                </a:solidFill>
                <a:latin typeface="Segoe UI" pitchFamily="34" charset="0"/>
                <a:ea typeface="Segoe UI" pitchFamily="34" charset="-122"/>
                <a:cs typeface="Segoe UI" pitchFamily="34" charset="-120"/>
              </a:rPr>
              <a:t> ferretera con múltiples SKU, generando series de demanda semanal y niveles de stock a lo largo de un ciclo anual.</a:t>
            </a:r>
            <a:endParaRPr lang="es-CO" sz="1950" noProof="0" dirty="0"/>
          </a:p>
        </p:txBody>
      </p:sp>
      <p:sp>
        <p:nvSpPr>
          <p:cNvPr id="6" name="Shape 4"/>
          <p:cNvSpPr/>
          <p:nvPr/>
        </p:nvSpPr>
        <p:spPr>
          <a:xfrm>
            <a:off x="1184831" y="5227854"/>
            <a:ext cx="139970" cy="238057"/>
          </a:xfrm>
          <a:prstGeom prst="roundRect">
            <a:avLst>
              <a:gd name="adj" fmla="val 28571"/>
            </a:avLst>
          </a:prstGeom>
          <a:solidFill>
            <a:srgbClr val="B7D81A"/>
          </a:solidFill>
          <a:ln/>
        </p:spPr>
        <p:txBody>
          <a:bodyPr/>
          <a:lstStyle/>
          <a:p>
            <a:endParaRPr lang="es-CO" noProof="0" dirty="0"/>
          </a:p>
        </p:txBody>
      </p:sp>
      <p:sp>
        <p:nvSpPr>
          <p:cNvPr id="7" name="Text 5"/>
          <p:cNvSpPr/>
          <p:nvPr/>
        </p:nvSpPr>
        <p:spPr>
          <a:xfrm>
            <a:off x="1489631" y="5142130"/>
            <a:ext cx="4953755" cy="612146"/>
          </a:xfrm>
          <a:prstGeom prst="rect">
            <a:avLst/>
          </a:prstGeom>
          <a:noFill/>
          <a:ln/>
        </p:spPr>
        <p:txBody>
          <a:bodyPr wrap="square" lIns="25400" tIns="25400" rIns="25400" bIns="25400" rtlCol="0" anchor="t">
            <a:normAutofit/>
          </a:bodyPr>
          <a:lstStyle/>
          <a:p>
            <a:pPr marL="0" indent="0" algn="l">
              <a:buNone/>
            </a:pPr>
            <a:r>
              <a:rPr lang="es-CO" sz="1800" noProof="0" dirty="0">
                <a:solidFill>
                  <a:srgbClr val="3D3D3D"/>
                </a:solidFill>
                <a:latin typeface="Segoe UI" pitchFamily="34" charset="0"/>
                <a:ea typeface="Segoe UI" pitchFamily="34" charset="-122"/>
                <a:cs typeface="Segoe UI" pitchFamily="34" charset="-120"/>
              </a:rPr>
              <a:t>120 SKU simulados en el catálogo maestro</a:t>
            </a:r>
            <a:endParaRPr lang="es-CO" sz="1800" noProof="0" dirty="0"/>
          </a:p>
        </p:txBody>
      </p:sp>
      <p:sp>
        <p:nvSpPr>
          <p:cNvPr id="8" name="Shape 6"/>
          <p:cNvSpPr/>
          <p:nvPr/>
        </p:nvSpPr>
        <p:spPr>
          <a:xfrm>
            <a:off x="1184831" y="5939477"/>
            <a:ext cx="139970" cy="238057"/>
          </a:xfrm>
          <a:prstGeom prst="roundRect">
            <a:avLst>
              <a:gd name="adj" fmla="val 28571"/>
            </a:avLst>
          </a:prstGeom>
          <a:solidFill>
            <a:srgbClr val="7E2C8C"/>
          </a:solidFill>
          <a:ln/>
        </p:spPr>
        <p:txBody>
          <a:bodyPr/>
          <a:lstStyle/>
          <a:p>
            <a:endParaRPr lang="es-CO" noProof="0" dirty="0"/>
          </a:p>
        </p:txBody>
      </p:sp>
      <p:sp>
        <p:nvSpPr>
          <p:cNvPr id="9" name="Text 7"/>
          <p:cNvSpPr/>
          <p:nvPr/>
        </p:nvSpPr>
        <p:spPr>
          <a:xfrm>
            <a:off x="1478475" y="5878022"/>
            <a:ext cx="4725751" cy="857648"/>
          </a:xfrm>
          <a:prstGeom prst="rect">
            <a:avLst/>
          </a:prstGeom>
          <a:noFill/>
          <a:ln/>
        </p:spPr>
        <p:txBody>
          <a:bodyPr wrap="square" lIns="25400" tIns="25400" rIns="25400" bIns="25400" rtlCol="0" anchor="t">
            <a:normAutofit/>
          </a:bodyPr>
          <a:lstStyle/>
          <a:p>
            <a:pPr marL="0" indent="0" algn="l">
              <a:buNone/>
            </a:pPr>
            <a:r>
              <a:rPr lang="es-CO" noProof="0" dirty="0">
                <a:solidFill>
                  <a:srgbClr val="3D3D3D"/>
                </a:solidFill>
                <a:latin typeface="Segoe UI" pitchFamily="34" charset="0"/>
                <a:ea typeface="Segoe UI" pitchFamily="34" charset="-122"/>
                <a:cs typeface="Segoe UI" pitchFamily="34" charset="-120"/>
              </a:rPr>
              <a:t>52 </a:t>
            </a:r>
            <a:r>
              <a:rPr lang="es-CO" noProof="0" dirty="0">
                <a:solidFill>
                  <a:srgbClr val="3D3D3D"/>
                </a:solidFill>
                <a:latin typeface="Segoe UI" pitchFamily="34" charset="0"/>
                <a:cs typeface="Segoe UI" pitchFamily="34" charset="-120"/>
              </a:rPr>
              <a:t>semanas</a:t>
            </a:r>
            <a:r>
              <a:rPr lang="es-CO" noProof="0" dirty="0">
                <a:solidFill>
                  <a:srgbClr val="3D3D3D"/>
                </a:solidFill>
                <a:latin typeface="Segoe UI" pitchFamily="34" charset="0"/>
                <a:ea typeface="Segoe UI" pitchFamily="34" charset="-122"/>
                <a:cs typeface="Segoe UI" pitchFamily="34" charset="-120"/>
              </a:rPr>
              <a:t> de historial de demanda (1 año)</a:t>
            </a:r>
            <a:endParaRPr lang="es-CO" sz="1200" noProof="0" dirty="0"/>
          </a:p>
        </p:txBody>
      </p:sp>
      <p:sp>
        <p:nvSpPr>
          <p:cNvPr id="10" name="Shape 8"/>
          <p:cNvSpPr/>
          <p:nvPr/>
        </p:nvSpPr>
        <p:spPr>
          <a:xfrm>
            <a:off x="1195987" y="6661763"/>
            <a:ext cx="139970" cy="238057"/>
          </a:xfrm>
          <a:prstGeom prst="roundRect">
            <a:avLst>
              <a:gd name="adj" fmla="val 28571"/>
            </a:avLst>
          </a:prstGeom>
          <a:solidFill>
            <a:srgbClr val="A867B5"/>
          </a:solidFill>
          <a:ln/>
        </p:spPr>
        <p:txBody>
          <a:bodyPr/>
          <a:lstStyle/>
          <a:p>
            <a:endParaRPr lang="es-CO" noProof="0" dirty="0"/>
          </a:p>
        </p:txBody>
      </p:sp>
      <p:sp>
        <p:nvSpPr>
          <p:cNvPr id="11" name="Text 9"/>
          <p:cNvSpPr/>
          <p:nvPr/>
        </p:nvSpPr>
        <p:spPr>
          <a:xfrm>
            <a:off x="1489631" y="6612247"/>
            <a:ext cx="4833897" cy="908658"/>
          </a:xfrm>
          <a:prstGeom prst="rect">
            <a:avLst/>
          </a:prstGeom>
          <a:noFill/>
          <a:ln/>
        </p:spPr>
        <p:txBody>
          <a:bodyPr wrap="square" lIns="25400" tIns="25400" rIns="25400" bIns="25400" rtlCol="0" anchor="t">
            <a:normAutofit/>
          </a:bodyPr>
          <a:lstStyle/>
          <a:p>
            <a:pPr marL="0" indent="0" algn="l">
              <a:buNone/>
            </a:pPr>
            <a:r>
              <a:rPr lang="es-CO" sz="1800" noProof="0" dirty="0">
                <a:solidFill>
                  <a:srgbClr val="3D3D3D"/>
                </a:solidFill>
                <a:latin typeface="Segoe UI" pitchFamily="34" charset="0"/>
                <a:ea typeface="Segoe UI" pitchFamily="34" charset="-122"/>
                <a:cs typeface="Segoe UI" pitchFamily="34" charset="-120"/>
              </a:rPr>
              <a:t>3 familias con lead times distintos (FER, EPP, HER)</a:t>
            </a:r>
            <a:endParaRPr lang="es-CO" sz="1800" noProof="0" dirty="0"/>
          </a:p>
        </p:txBody>
      </p:sp>
      <p:sp>
        <p:nvSpPr>
          <p:cNvPr id="13" name="Shape 11"/>
          <p:cNvSpPr/>
          <p:nvPr/>
        </p:nvSpPr>
        <p:spPr>
          <a:xfrm>
            <a:off x="11583366" y="4531147"/>
            <a:ext cx="3205627" cy="423731"/>
          </a:xfrm>
          <a:prstGeom prst="roundRect">
            <a:avLst>
              <a:gd name="adj" fmla="val 28571"/>
            </a:avLst>
          </a:prstGeom>
          <a:solidFill>
            <a:srgbClr val="FFFFFF"/>
          </a:solidFill>
          <a:ln/>
        </p:spPr>
        <p:txBody>
          <a:bodyPr/>
          <a:lstStyle/>
          <a:p>
            <a:endParaRPr lang="es-CO" noProof="0" dirty="0"/>
          </a:p>
        </p:txBody>
      </p:sp>
      <p:sp>
        <p:nvSpPr>
          <p:cNvPr id="14" name="Text 12"/>
          <p:cNvSpPr/>
          <p:nvPr/>
        </p:nvSpPr>
        <p:spPr>
          <a:xfrm>
            <a:off x="11850066" y="4628713"/>
            <a:ext cx="2822955" cy="211866"/>
          </a:xfrm>
          <a:prstGeom prst="rect">
            <a:avLst/>
          </a:prstGeom>
          <a:noFill/>
          <a:ln/>
        </p:spPr>
        <p:txBody>
          <a:bodyPr wrap="square" lIns="25400" tIns="25400" rIns="25400" bIns="25400" rtlCol="0" anchor="t">
            <a:normAutofit fontScale="77500" lnSpcReduction="20000"/>
          </a:bodyPr>
          <a:lstStyle/>
          <a:p>
            <a:pPr marL="0" indent="0" algn="l">
              <a:buNone/>
            </a:pPr>
            <a:r>
              <a:rPr lang="es-CO" sz="1500" noProof="0" dirty="0">
                <a:solidFill>
                  <a:srgbClr val="6F6F6F"/>
                </a:solidFill>
                <a:latin typeface="Courier New" pitchFamily="34" charset="0"/>
                <a:ea typeface="Courier New" pitchFamily="34" charset="-122"/>
                <a:cs typeface="Courier New" pitchFamily="34" charset="-120"/>
              </a:rPr>
              <a:t>captura · panel de simulación</a:t>
            </a:r>
            <a:endParaRPr lang="es-CO" sz="1500" noProof="0" dirty="0"/>
          </a:p>
        </p:txBody>
      </p:sp>
      <p:sp>
        <p:nvSpPr>
          <p:cNvPr id="15" name="Text 13"/>
          <p:cNvSpPr/>
          <p:nvPr/>
        </p:nvSpPr>
        <p:spPr>
          <a:xfrm>
            <a:off x="1143000" y="9525000"/>
            <a:ext cx="5412720" cy="266700"/>
          </a:xfrm>
          <a:prstGeom prst="rect">
            <a:avLst/>
          </a:prstGeom>
          <a:noFill/>
          <a:ln/>
        </p:spPr>
        <p:txBody>
          <a:bodyPr wrap="square" lIns="25400" tIns="25400" rIns="25400" bIns="25400" rtlCol="0" anchor="t">
            <a:normAutofit/>
          </a:bodyPr>
          <a:lstStyle/>
          <a:p>
            <a:pPr marL="0" indent="0" algn="l">
              <a:buNone/>
            </a:pPr>
            <a:r>
              <a:rPr lang="es-CO" sz="1350" noProof="0" dirty="0">
                <a:solidFill>
                  <a:srgbClr val="6F6F6F"/>
                </a:solidFill>
                <a:latin typeface="Segoe UI" pitchFamily="34" charset="0"/>
                <a:ea typeface="Segoe UI" pitchFamily="34" charset="-122"/>
                <a:cs typeface="Segoe UI" pitchFamily="34" charset="-120"/>
              </a:rPr>
              <a:t>UTS · Cartilla de aprendizaje — Gestión Inteligente de Inventarios</a:t>
            </a:r>
            <a:endParaRPr lang="es-CO" sz="1350" noProof="0" dirty="0"/>
          </a:p>
        </p:txBody>
      </p:sp>
      <p:sp>
        <p:nvSpPr>
          <p:cNvPr id="16" name="Shape 14"/>
          <p:cNvSpPr/>
          <p:nvPr/>
        </p:nvSpPr>
        <p:spPr>
          <a:xfrm>
            <a:off x="16725900" y="9410700"/>
            <a:ext cx="419100" cy="419100"/>
          </a:xfrm>
          <a:prstGeom prst="ellipse">
            <a:avLst/>
          </a:prstGeom>
          <a:solidFill>
            <a:srgbClr val="7E2C8C"/>
          </a:solidFill>
          <a:ln/>
        </p:spPr>
        <p:txBody>
          <a:bodyPr/>
          <a:lstStyle/>
          <a:p>
            <a:endParaRPr lang="es-CO" noProof="0" dirty="0"/>
          </a:p>
        </p:txBody>
      </p:sp>
      <p:sp>
        <p:nvSpPr>
          <p:cNvPr id="17" name="Text 15"/>
          <p:cNvSpPr/>
          <p:nvPr/>
        </p:nvSpPr>
        <p:spPr>
          <a:xfrm>
            <a:off x="16687800" y="9410700"/>
            <a:ext cx="495300" cy="457200"/>
          </a:xfrm>
          <a:prstGeom prst="rect">
            <a:avLst/>
          </a:prstGeom>
          <a:noFill/>
          <a:ln/>
        </p:spPr>
        <p:txBody>
          <a:bodyPr wrap="square" lIns="25400" tIns="25400" rIns="25400" bIns="25400" rtlCol="0" anchor="ctr">
            <a:normAutofit/>
          </a:bodyPr>
          <a:lstStyle/>
          <a:p>
            <a:pPr marL="0" indent="0" algn="ctr">
              <a:buNone/>
            </a:pPr>
            <a:r>
              <a:rPr lang="es-CO" sz="1500" b="1" noProof="0" dirty="0">
                <a:solidFill>
                  <a:srgbClr val="FFFFFF"/>
                </a:solidFill>
                <a:latin typeface="Segoe UI" pitchFamily="34" charset="0"/>
                <a:ea typeface="Segoe UI" pitchFamily="34" charset="-122"/>
                <a:cs typeface="Segoe UI" pitchFamily="34" charset="-120"/>
              </a:rPr>
              <a:t>16</a:t>
            </a:r>
            <a:endParaRPr lang="es-CO" sz="1500" noProof="0" dirty="0"/>
          </a:p>
        </p:txBody>
      </p:sp>
      <p:sp>
        <p:nvSpPr>
          <p:cNvPr id="21" name="Rectángulo 20">
            <a:extLst>
              <a:ext uri="{FF2B5EF4-FFF2-40B4-BE49-F238E27FC236}">
                <a16:creationId xmlns:a16="http://schemas.microsoft.com/office/drawing/2014/main" id="{AD6A347F-200A-7869-24A4-05B02646D5C4}"/>
              </a:ext>
            </a:extLst>
          </p:cNvPr>
          <p:cNvSpPr/>
          <p:nvPr/>
        </p:nvSpPr>
        <p:spPr>
          <a:xfrm>
            <a:off x="9974151" y="2317750"/>
            <a:ext cx="6291865" cy="5124507"/>
          </a:xfrm>
          <a:prstGeom prst="rect">
            <a:avLst/>
          </a:prstGeom>
          <a:solidFill>
            <a:schemeClr val="bg1">
              <a:lumMod val="95000"/>
            </a:schemeClr>
          </a:solidFill>
          <a:ln>
            <a:solidFill>
              <a:schemeClr val="bg1">
                <a:lumMod val="85000"/>
              </a:schemeClr>
            </a:solid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s-CO" noProof="0" dirty="0"/>
          </a:p>
        </p:txBody>
      </p:sp>
      <p:pic>
        <p:nvPicPr>
          <p:cNvPr id="19" name="Imagen 18">
            <a:extLst>
              <a:ext uri="{FF2B5EF4-FFF2-40B4-BE49-F238E27FC236}">
                <a16:creationId xmlns:a16="http://schemas.microsoft.com/office/drawing/2014/main" id="{ACE4B7FE-4A3D-8DB7-136C-4358AFA82FBA}"/>
              </a:ext>
            </a:extLst>
          </p:cNvPr>
          <p:cNvPicPr>
            <a:picLocks noChangeAspect="1"/>
          </p:cNvPicPr>
          <p:nvPr/>
        </p:nvPicPr>
        <p:blipFill>
          <a:blip r:embed="rId3"/>
          <a:srcRect t="7038"/>
          <a:stretch>
            <a:fillRect/>
          </a:stretch>
        </p:blipFill>
        <p:spPr>
          <a:xfrm>
            <a:off x="10356338" y="2728862"/>
            <a:ext cx="5337367" cy="4465548"/>
          </a:xfrm>
          <a:prstGeom prst="rect">
            <a:avLst/>
          </a:prstGeom>
        </p:spPr>
      </p:pic>
      <p:sp>
        <p:nvSpPr>
          <p:cNvPr id="22" name="CuadroTexto 21">
            <a:extLst>
              <a:ext uri="{FF2B5EF4-FFF2-40B4-BE49-F238E27FC236}">
                <a16:creationId xmlns:a16="http://schemas.microsoft.com/office/drawing/2014/main" id="{D61A07C8-8219-5CD0-2905-3FB8899E228D}"/>
              </a:ext>
            </a:extLst>
          </p:cNvPr>
          <p:cNvSpPr txBox="1"/>
          <p:nvPr/>
        </p:nvSpPr>
        <p:spPr>
          <a:xfrm>
            <a:off x="10861490" y="2316216"/>
            <a:ext cx="4517185" cy="369332"/>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r>
              <a:rPr lang="es-CO" noProof="0" dirty="0"/>
              <a:t>Entorno de simulación para SKU FER-ABR-001</a:t>
            </a:r>
          </a:p>
        </p:txBody>
      </p:sp>
      <p:sp>
        <p:nvSpPr>
          <p:cNvPr id="24" name="CuadroTexto 23">
            <a:extLst>
              <a:ext uri="{FF2B5EF4-FFF2-40B4-BE49-F238E27FC236}">
                <a16:creationId xmlns:a16="http://schemas.microsoft.com/office/drawing/2014/main" id="{AC626C89-C387-A9DF-56A2-DFDC806E6FC7}"/>
              </a:ext>
            </a:extLst>
          </p:cNvPr>
          <p:cNvSpPr txBox="1"/>
          <p:nvPr/>
        </p:nvSpPr>
        <p:spPr>
          <a:xfrm>
            <a:off x="9265275" y="7748063"/>
            <a:ext cx="8033198" cy="1323439"/>
          </a:xfrm>
          <a:prstGeom prst="rect">
            <a:avLst/>
          </a:prstGeom>
          <a:noFill/>
        </p:spPr>
        <p:txBody>
          <a:bodyPr wrap="square">
            <a:spAutoFit/>
          </a:bodyPr>
          <a:lstStyle/>
          <a:p>
            <a:pPr algn="just"/>
            <a:r>
              <a:rPr lang="es-CO" sz="1600" b="1" noProof="0" dirty="0">
                <a:solidFill>
                  <a:srgbClr val="3D3D3D"/>
                </a:solidFill>
                <a:latin typeface="Segoe UI" pitchFamily="34" charset="0"/>
                <a:cs typeface="Segoe UI" pitchFamily="34" charset="-120"/>
              </a:rPr>
              <a:t>Descripción: </a:t>
            </a:r>
            <a:r>
              <a:rPr lang="es-CO" sz="1600" noProof="0" dirty="0">
                <a:solidFill>
                  <a:srgbClr val="3D3D3D"/>
                </a:solidFill>
                <a:latin typeface="Segoe UI" pitchFamily="34" charset="0"/>
                <a:cs typeface="Segoe UI" pitchFamily="34" charset="-120"/>
              </a:rPr>
              <a:t>Entorno de simulación de inventario para el SKU FER-ABR-001 a lo largo de 52 semanas. La línea morada representa el inventario final de cada semana, que desciende con la demanda (barras grises) y se repone al emitirse un pedido; la línea verde punteada marca el punto de reorden que dispara cada reabastecimiento. El comportamiento reproduce la dinámica real de una política de revisión periódica (s, S).</a:t>
            </a:r>
          </a:p>
        </p:txBody>
      </p:sp>
      <p:sp>
        <p:nvSpPr>
          <p:cNvPr id="18" name="Text 9">
            <a:extLst>
              <a:ext uri="{FF2B5EF4-FFF2-40B4-BE49-F238E27FC236}">
                <a16:creationId xmlns:a16="http://schemas.microsoft.com/office/drawing/2014/main" id="{15F4752B-3912-E1C1-3412-659D863F8FB2}"/>
              </a:ext>
            </a:extLst>
          </p:cNvPr>
          <p:cNvSpPr/>
          <p:nvPr/>
        </p:nvSpPr>
        <p:spPr>
          <a:xfrm>
            <a:off x="1500787" y="7531280"/>
            <a:ext cx="4833897" cy="908658"/>
          </a:xfrm>
          <a:prstGeom prst="rect">
            <a:avLst/>
          </a:prstGeom>
          <a:noFill/>
          <a:ln/>
        </p:spPr>
        <p:txBody>
          <a:bodyPr wrap="square" lIns="25400" tIns="25400" rIns="25400" bIns="25400" rtlCol="0" anchor="t">
            <a:normAutofit/>
          </a:bodyPr>
          <a:lstStyle/>
          <a:p>
            <a:pPr marL="0" indent="0" algn="l">
              <a:buNone/>
            </a:pPr>
            <a:r>
              <a:rPr lang="es-CO" sz="1800" noProof="0" dirty="0">
                <a:solidFill>
                  <a:srgbClr val="3D3D3D"/>
                </a:solidFill>
                <a:latin typeface="Segoe UI" pitchFamily="34" charset="0"/>
                <a:ea typeface="Segoe UI" pitchFamily="34" charset="-122"/>
                <a:cs typeface="Segoe UI" pitchFamily="34" charset="-120"/>
              </a:rPr>
              <a:t>6240 Registros </a:t>
            </a:r>
            <a:endParaRPr lang="es-CO" sz="1800" noProof="0" dirty="0"/>
          </a:p>
        </p:txBody>
      </p:sp>
      <p:sp>
        <p:nvSpPr>
          <p:cNvPr id="23" name="Shape 4">
            <a:extLst>
              <a:ext uri="{FF2B5EF4-FFF2-40B4-BE49-F238E27FC236}">
                <a16:creationId xmlns:a16="http://schemas.microsoft.com/office/drawing/2014/main" id="{B8220D0A-C6CB-D5F8-4742-D2549C08D4D3}"/>
              </a:ext>
            </a:extLst>
          </p:cNvPr>
          <p:cNvSpPr/>
          <p:nvPr/>
        </p:nvSpPr>
        <p:spPr>
          <a:xfrm>
            <a:off x="1197261" y="7531280"/>
            <a:ext cx="139970" cy="238057"/>
          </a:xfrm>
          <a:prstGeom prst="roundRect">
            <a:avLst>
              <a:gd name="adj" fmla="val 28571"/>
            </a:avLst>
          </a:prstGeom>
          <a:solidFill>
            <a:srgbClr val="B7D81A"/>
          </a:solidFill>
          <a:ln/>
        </p:spPr>
        <p:txBody>
          <a:bodyPr/>
          <a:lstStyle/>
          <a:p>
            <a:endParaRPr lang="es-CO" noProof="0" dirty="0"/>
          </a:p>
        </p:txBody>
      </p:sp>
      <p:sp>
        <p:nvSpPr>
          <p:cNvPr id="30" name="Shape 6">
            <a:extLst>
              <a:ext uri="{FF2B5EF4-FFF2-40B4-BE49-F238E27FC236}">
                <a16:creationId xmlns:a16="http://schemas.microsoft.com/office/drawing/2014/main" id="{80876B7C-F3EE-3053-A68F-7161A16F7F44}"/>
              </a:ext>
            </a:extLst>
          </p:cNvPr>
          <p:cNvSpPr/>
          <p:nvPr/>
        </p:nvSpPr>
        <p:spPr>
          <a:xfrm>
            <a:off x="1216448" y="8095673"/>
            <a:ext cx="139970" cy="238057"/>
          </a:xfrm>
          <a:prstGeom prst="roundRect">
            <a:avLst>
              <a:gd name="adj" fmla="val 28571"/>
            </a:avLst>
          </a:prstGeom>
          <a:solidFill>
            <a:srgbClr val="7E2C8C"/>
          </a:solidFill>
          <a:ln/>
        </p:spPr>
        <p:txBody>
          <a:bodyPr/>
          <a:lstStyle/>
          <a:p>
            <a:endParaRPr lang="es-CO" noProof="0" dirty="0"/>
          </a:p>
        </p:txBody>
      </p:sp>
      <p:sp>
        <p:nvSpPr>
          <p:cNvPr id="32" name="Text 9">
            <a:extLst>
              <a:ext uri="{FF2B5EF4-FFF2-40B4-BE49-F238E27FC236}">
                <a16:creationId xmlns:a16="http://schemas.microsoft.com/office/drawing/2014/main" id="{C84345DE-9DB8-6F60-6113-2E7980A1CD7D}"/>
              </a:ext>
            </a:extLst>
          </p:cNvPr>
          <p:cNvSpPr/>
          <p:nvPr/>
        </p:nvSpPr>
        <p:spPr>
          <a:xfrm>
            <a:off x="1488032" y="8045365"/>
            <a:ext cx="4833897" cy="908658"/>
          </a:xfrm>
          <a:prstGeom prst="rect">
            <a:avLst/>
          </a:prstGeom>
          <a:noFill/>
          <a:ln/>
        </p:spPr>
        <p:txBody>
          <a:bodyPr wrap="square" lIns="25400" tIns="25400" rIns="25400" bIns="25400" rtlCol="0" anchor="t">
            <a:normAutofit/>
          </a:bodyPr>
          <a:lstStyle/>
          <a:p>
            <a:pPr marL="0" indent="0" algn="l">
              <a:buNone/>
            </a:pPr>
            <a:r>
              <a:rPr lang="es-CO" sz="1800" noProof="0" dirty="0">
                <a:solidFill>
                  <a:srgbClr val="3D3D3D"/>
                </a:solidFill>
                <a:latin typeface="Segoe UI" pitchFamily="34" charset="0"/>
                <a:ea typeface="Segoe UI" pitchFamily="34" charset="-122"/>
                <a:cs typeface="Segoe UI" pitchFamily="34" charset="-120"/>
              </a:rPr>
              <a:t>Archivo CSV</a:t>
            </a:r>
            <a:endParaRPr lang="es-CO" sz="1800" noProof="0" dirty="0"/>
          </a:p>
        </p:txBody>
      </p:sp>
      <p:sp>
        <p:nvSpPr>
          <p:cNvPr id="34" name="Shape 0">
            <a:extLst>
              <a:ext uri="{FF2B5EF4-FFF2-40B4-BE49-F238E27FC236}">
                <a16:creationId xmlns:a16="http://schemas.microsoft.com/office/drawing/2014/main" id="{0EAF3507-4FD6-9FAB-5F16-F018204AB126}"/>
              </a:ext>
            </a:extLst>
          </p:cNvPr>
          <p:cNvSpPr/>
          <p:nvPr/>
        </p:nvSpPr>
        <p:spPr>
          <a:xfrm>
            <a:off x="1143000" y="838200"/>
            <a:ext cx="5077496" cy="419100"/>
          </a:xfrm>
          <a:prstGeom prst="roundRect">
            <a:avLst>
              <a:gd name="adj" fmla="val 50000"/>
            </a:avLst>
          </a:prstGeom>
          <a:solidFill>
            <a:srgbClr val="F4FADF"/>
          </a:solidFill>
          <a:ln/>
        </p:spPr>
        <p:txBody>
          <a:bodyPr/>
          <a:lstStyle/>
          <a:p>
            <a:endParaRPr lang="es-CO" noProof="0" dirty="0"/>
          </a:p>
        </p:txBody>
      </p:sp>
      <p:sp>
        <p:nvSpPr>
          <p:cNvPr id="36" name="Text 1">
            <a:extLst>
              <a:ext uri="{FF2B5EF4-FFF2-40B4-BE49-F238E27FC236}">
                <a16:creationId xmlns:a16="http://schemas.microsoft.com/office/drawing/2014/main" id="{597A1718-A466-0F4D-D7EC-BB3B3973D3BF}"/>
              </a:ext>
            </a:extLst>
          </p:cNvPr>
          <p:cNvSpPr/>
          <p:nvPr/>
        </p:nvSpPr>
        <p:spPr>
          <a:xfrm>
            <a:off x="1352550" y="933450"/>
            <a:ext cx="5203170" cy="266700"/>
          </a:xfrm>
          <a:prstGeom prst="rect">
            <a:avLst/>
          </a:prstGeom>
          <a:noFill/>
          <a:ln/>
        </p:spPr>
        <p:txBody>
          <a:bodyPr wrap="square" lIns="25400" tIns="25400" rIns="25400" bIns="25400" rtlCol="0" anchor="ctr">
            <a:normAutofit/>
          </a:bodyPr>
          <a:lstStyle/>
          <a:p>
            <a:pPr marL="0" indent="0" algn="l">
              <a:buNone/>
            </a:pPr>
            <a:r>
              <a:rPr lang="es-CO" sz="1350" b="1" kern="0" spc="81" noProof="0" dirty="0">
                <a:solidFill>
                  <a:srgbClr val="7E2C8C"/>
                </a:solidFill>
                <a:latin typeface="Segoe UI" pitchFamily="34" charset="0"/>
                <a:ea typeface="Segoe UI" pitchFamily="34" charset="-122"/>
                <a:cs typeface="Segoe UI" pitchFamily="34" charset="-120"/>
              </a:rPr>
              <a:t>FASE 3 · VALIDACIÓN DEL CONJUNTO DE DATOS</a:t>
            </a:r>
            <a:endParaRPr lang="es-CO" sz="1350" noProof="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1143000" y="1619250"/>
            <a:ext cx="9594273" cy="1873974"/>
          </a:xfrm>
          <a:prstGeom prst="rect">
            <a:avLst/>
          </a:prstGeom>
          <a:noFill/>
          <a:ln/>
        </p:spPr>
        <p:txBody>
          <a:bodyPr wrap="square" lIns="25400" tIns="25400" rIns="25400" bIns="25400" rtlCol="0" anchor="t">
            <a:normAutofit/>
          </a:bodyPr>
          <a:lstStyle/>
          <a:p>
            <a:pPr marL="0" indent="0" algn="l">
              <a:buNone/>
            </a:pPr>
            <a:r>
              <a:rPr lang="es-CO" sz="3900" b="1" noProof="0" dirty="0">
                <a:solidFill>
                  <a:srgbClr val="3D3D3D"/>
                </a:solidFill>
                <a:latin typeface="Segoe UI" pitchFamily="34" charset="0"/>
                <a:ea typeface="Segoe UI" pitchFamily="34" charset="-122"/>
                <a:cs typeface="Segoe UI" pitchFamily="34" charset="-120"/>
              </a:rPr>
              <a:t>Distribución de la demanda por familia</a:t>
            </a:r>
            <a:endParaRPr lang="es-CO" sz="3900" noProof="0" dirty="0"/>
          </a:p>
        </p:txBody>
      </p:sp>
      <p:sp>
        <p:nvSpPr>
          <p:cNvPr id="5" name="Text 3"/>
          <p:cNvSpPr/>
          <p:nvPr/>
        </p:nvSpPr>
        <p:spPr>
          <a:xfrm>
            <a:off x="1166977" y="3177446"/>
            <a:ext cx="7848600" cy="1226641"/>
          </a:xfrm>
          <a:prstGeom prst="rect">
            <a:avLst/>
          </a:prstGeom>
          <a:noFill/>
          <a:ln/>
        </p:spPr>
        <p:txBody>
          <a:bodyPr wrap="square" lIns="25400" tIns="25400" rIns="25400" bIns="25400" rtlCol="0" anchor="t">
            <a:normAutofit fontScale="92500"/>
          </a:bodyPr>
          <a:lstStyle/>
          <a:p>
            <a:pPr marL="0" indent="0" algn="l">
              <a:lnSpc>
                <a:spcPct val="120000"/>
              </a:lnSpc>
              <a:buNone/>
            </a:pPr>
            <a:r>
              <a:rPr lang="es-CO" sz="1950" noProof="0" dirty="0">
                <a:solidFill>
                  <a:srgbClr val="3D3D3D"/>
                </a:solidFill>
                <a:latin typeface="Segoe UI" pitchFamily="34" charset="0"/>
                <a:ea typeface="Segoe UI" pitchFamily="34" charset="-122"/>
                <a:cs typeface="Segoe UI" pitchFamily="34" charset="-120"/>
              </a:rPr>
              <a:t>La caracterización estadística confirma visualmente la coherencia del </a:t>
            </a:r>
            <a:r>
              <a:rPr lang="es-CO" sz="1950" noProof="0" dirty="0" err="1">
                <a:solidFill>
                  <a:srgbClr val="3D3D3D"/>
                </a:solidFill>
                <a:latin typeface="Segoe UI" pitchFamily="34" charset="0"/>
                <a:ea typeface="Segoe UI" pitchFamily="34" charset="-122"/>
                <a:cs typeface="Segoe UI" pitchFamily="34" charset="-120"/>
              </a:rPr>
              <a:t>dataset</a:t>
            </a:r>
            <a:r>
              <a:rPr lang="es-CO" sz="1950" noProof="0" dirty="0">
                <a:solidFill>
                  <a:srgbClr val="3D3D3D"/>
                </a:solidFill>
                <a:latin typeface="Segoe UI" pitchFamily="34" charset="0"/>
                <a:ea typeface="Segoe UI" pitchFamily="34" charset="-122"/>
                <a:cs typeface="Segoe UI" pitchFamily="34" charset="-120"/>
              </a:rPr>
              <a:t>: FER concentra los mayores volúmenes de rotación, EPP presenta demanda moderada y HER exhibe un patrón intermitente de bienes de alta inversión.</a:t>
            </a:r>
            <a:endParaRPr lang="es-CO" sz="1950" noProof="0" dirty="0"/>
          </a:p>
        </p:txBody>
      </p:sp>
      <p:sp>
        <p:nvSpPr>
          <p:cNvPr id="6" name="Shape 4"/>
          <p:cNvSpPr/>
          <p:nvPr/>
        </p:nvSpPr>
        <p:spPr>
          <a:xfrm>
            <a:off x="1142061" y="6599984"/>
            <a:ext cx="133350" cy="133350"/>
          </a:xfrm>
          <a:prstGeom prst="roundRect">
            <a:avLst>
              <a:gd name="adj" fmla="val 28571"/>
            </a:avLst>
          </a:prstGeom>
          <a:solidFill>
            <a:srgbClr val="B7D81A"/>
          </a:solidFill>
          <a:ln/>
        </p:spPr>
        <p:txBody>
          <a:bodyPr/>
          <a:lstStyle/>
          <a:p>
            <a:endParaRPr lang="es-CO" noProof="0" dirty="0"/>
          </a:p>
        </p:txBody>
      </p:sp>
      <p:sp>
        <p:nvSpPr>
          <p:cNvPr id="7" name="Text 5"/>
          <p:cNvSpPr/>
          <p:nvPr/>
        </p:nvSpPr>
        <p:spPr>
          <a:xfrm>
            <a:off x="1447800" y="5353050"/>
            <a:ext cx="5107920" cy="931840"/>
          </a:xfrm>
          <a:prstGeom prst="rect">
            <a:avLst/>
          </a:prstGeom>
          <a:noFill/>
          <a:ln/>
        </p:spPr>
        <p:txBody>
          <a:bodyPr wrap="square" lIns="25400" tIns="25400" rIns="25400" bIns="25400" rtlCol="0" anchor="t">
            <a:normAutofit/>
          </a:bodyPr>
          <a:lstStyle/>
          <a:p>
            <a:pPr marL="0" indent="0" algn="l">
              <a:buNone/>
            </a:pPr>
            <a:r>
              <a:rPr lang="es-CO" sz="1800" noProof="0" dirty="0">
                <a:solidFill>
                  <a:srgbClr val="3D3D3D"/>
                </a:solidFill>
                <a:latin typeface="Segoe UI" pitchFamily="34" charset="0"/>
                <a:ea typeface="Segoe UI" pitchFamily="34" charset="-122"/>
                <a:cs typeface="Segoe UI" pitchFamily="34" charset="-120"/>
              </a:rPr>
              <a:t>Índice de dispersión (Var/media): 8,95 en FER, 3,85 en EPP y 1,39 en HER</a:t>
            </a:r>
            <a:endParaRPr lang="es-CO" sz="1800" noProof="0" dirty="0"/>
          </a:p>
        </p:txBody>
      </p:sp>
      <p:sp>
        <p:nvSpPr>
          <p:cNvPr id="8" name="Shape 6"/>
          <p:cNvSpPr/>
          <p:nvPr/>
        </p:nvSpPr>
        <p:spPr>
          <a:xfrm>
            <a:off x="1143000" y="5391150"/>
            <a:ext cx="133350" cy="133350"/>
          </a:xfrm>
          <a:prstGeom prst="roundRect">
            <a:avLst>
              <a:gd name="adj" fmla="val 28571"/>
            </a:avLst>
          </a:prstGeom>
          <a:solidFill>
            <a:srgbClr val="7E2C8C"/>
          </a:solidFill>
          <a:ln/>
        </p:spPr>
        <p:txBody>
          <a:bodyPr/>
          <a:lstStyle/>
          <a:p>
            <a:endParaRPr lang="es-CO" noProof="0" dirty="0"/>
          </a:p>
        </p:txBody>
      </p:sp>
      <p:sp>
        <p:nvSpPr>
          <p:cNvPr id="9" name="Text 7"/>
          <p:cNvSpPr/>
          <p:nvPr/>
        </p:nvSpPr>
        <p:spPr>
          <a:xfrm>
            <a:off x="1447800" y="6284890"/>
            <a:ext cx="4412087" cy="770210"/>
          </a:xfrm>
          <a:prstGeom prst="rect">
            <a:avLst/>
          </a:prstGeom>
          <a:noFill/>
          <a:ln/>
        </p:spPr>
        <p:txBody>
          <a:bodyPr wrap="square" lIns="25400" tIns="25400" rIns="25400" bIns="25400" rtlCol="0" anchor="t">
            <a:normAutofit/>
          </a:bodyPr>
          <a:lstStyle/>
          <a:p>
            <a:pPr marL="0" indent="0" algn="l">
              <a:buNone/>
            </a:pPr>
            <a:r>
              <a:rPr lang="es-CO" sz="1800" noProof="0" dirty="0">
                <a:solidFill>
                  <a:srgbClr val="3D3D3D"/>
                </a:solidFill>
                <a:latin typeface="Segoe UI" pitchFamily="34" charset="0"/>
                <a:ea typeface="Segoe UI" pitchFamily="34" charset="-122"/>
                <a:cs typeface="Segoe UI" pitchFamily="34" charset="-120"/>
              </a:rPr>
              <a:t>Las tres familias superan 1: justifica el uso de Binomial Negativa sobre Poisson</a:t>
            </a:r>
            <a:endParaRPr lang="es-CO" sz="1800" noProof="0" dirty="0"/>
          </a:p>
        </p:txBody>
      </p:sp>
      <p:sp>
        <p:nvSpPr>
          <p:cNvPr id="11" name="Text 9"/>
          <p:cNvSpPr/>
          <p:nvPr/>
        </p:nvSpPr>
        <p:spPr>
          <a:xfrm>
            <a:off x="11366425" y="8724900"/>
            <a:ext cx="4285516" cy="342900"/>
          </a:xfrm>
          <a:prstGeom prst="rect">
            <a:avLst/>
          </a:prstGeom>
          <a:noFill/>
          <a:ln/>
        </p:spPr>
        <p:txBody>
          <a:bodyPr wrap="square" lIns="25400" tIns="25400" rIns="25400" bIns="25400" rtlCol="0" anchor="t">
            <a:normAutofit/>
          </a:bodyPr>
          <a:lstStyle/>
          <a:p>
            <a:pPr marL="0" indent="0" algn="l">
              <a:buNone/>
            </a:pPr>
            <a:r>
              <a:rPr lang="es-CO" sz="1800" noProof="0" dirty="0">
                <a:solidFill>
                  <a:srgbClr val="3D3D3D"/>
                </a:solidFill>
                <a:latin typeface="Segoe UI" pitchFamily="34" charset="0"/>
                <a:ea typeface="Segoe UI" pitchFamily="34" charset="-122"/>
                <a:cs typeface="Segoe UI" pitchFamily="34" charset="-120"/>
              </a:rPr>
              <a:t>Figura generada en R base</a:t>
            </a:r>
            <a:endParaRPr lang="es-CO" sz="1800" noProof="0" dirty="0"/>
          </a:p>
        </p:txBody>
      </p:sp>
      <p:sp>
        <p:nvSpPr>
          <p:cNvPr id="12" name="Shape 10"/>
          <p:cNvSpPr/>
          <p:nvPr/>
        </p:nvSpPr>
        <p:spPr>
          <a:xfrm>
            <a:off x="11049000" y="2667000"/>
            <a:ext cx="6096000" cy="5715000"/>
          </a:xfrm>
          <a:prstGeom prst="roundRect">
            <a:avLst>
              <a:gd name="adj" fmla="val 5333"/>
            </a:avLst>
          </a:prstGeom>
          <a:solidFill>
            <a:srgbClr val="E9E9E9"/>
          </a:solidFill>
          <a:ln/>
        </p:spPr>
        <p:txBody>
          <a:bodyPr/>
          <a:lstStyle/>
          <a:p>
            <a:endParaRPr lang="es-CO" noProof="0" dirty="0"/>
          </a:p>
        </p:txBody>
      </p:sp>
      <p:sp>
        <p:nvSpPr>
          <p:cNvPr id="15" name="Text 13"/>
          <p:cNvSpPr/>
          <p:nvPr/>
        </p:nvSpPr>
        <p:spPr>
          <a:xfrm>
            <a:off x="1143000" y="9525000"/>
            <a:ext cx="5412720" cy="266700"/>
          </a:xfrm>
          <a:prstGeom prst="rect">
            <a:avLst/>
          </a:prstGeom>
          <a:noFill/>
          <a:ln/>
        </p:spPr>
        <p:txBody>
          <a:bodyPr wrap="square" lIns="25400" tIns="25400" rIns="25400" bIns="25400" rtlCol="0" anchor="t">
            <a:normAutofit/>
          </a:bodyPr>
          <a:lstStyle/>
          <a:p>
            <a:pPr marL="0" indent="0" algn="l">
              <a:buNone/>
            </a:pPr>
            <a:r>
              <a:rPr lang="es-CO" sz="1350" noProof="0" dirty="0">
                <a:solidFill>
                  <a:srgbClr val="6F6F6F"/>
                </a:solidFill>
                <a:latin typeface="Segoe UI" pitchFamily="34" charset="0"/>
                <a:ea typeface="Segoe UI" pitchFamily="34" charset="-122"/>
                <a:cs typeface="Segoe UI" pitchFamily="34" charset="-120"/>
              </a:rPr>
              <a:t>UTS · Cartilla de aprendizaje — Gestión Inteligente de Inventarios</a:t>
            </a:r>
            <a:endParaRPr lang="es-CO" sz="1350" noProof="0" dirty="0"/>
          </a:p>
        </p:txBody>
      </p:sp>
      <p:sp>
        <p:nvSpPr>
          <p:cNvPr id="16" name="Shape 14"/>
          <p:cNvSpPr/>
          <p:nvPr/>
        </p:nvSpPr>
        <p:spPr>
          <a:xfrm>
            <a:off x="16725900" y="9410700"/>
            <a:ext cx="419100" cy="419100"/>
          </a:xfrm>
          <a:prstGeom prst="ellipse">
            <a:avLst/>
          </a:prstGeom>
          <a:solidFill>
            <a:srgbClr val="7E2C8C"/>
          </a:solidFill>
          <a:ln/>
        </p:spPr>
        <p:txBody>
          <a:bodyPr/>
          <a:lstStyle/>
          <a:p>
            <a:endParaRPr lang="es-CO" noProof="0" dirty="0"/>
          </a:p>
        </p:txBody>
      </p:sp>
      <p:sp>
        <p:nvSpPr>
          <p:cNvPr id="17" name="Text 15"/>
          <p:cNvSpPr/>
          <p:nvPr/>
        </p:nvSpPr>
        <p:spPr>
          <a:xfrm>
            <a:off x="16687800" y="9410700"/>
            <a:ext cx="495300" cy="457200"/>
          </a:xfrm>
          <a:prstGeom prst="rect">
            <a:avLst/>
          </a:prstGeom>
          <a:noFill/>
          <a:ln/>
        </p:spPr>
        <p:txBody>
          <a:bodyPr wrap="square" lIns="25400" tIns="25400" rIns="25400" bIns="25400" rtlCol="0" anchor="ctr">
            <a:normAutofit/>
          </a:bodyPr>
          <a:lstStyle/>
          <a:p>
            <a:pPr marL="0" indent="0" algn="ctr">
              <a:buNone/>
            </a:pPr>
            <a:r>
              <a:rPr lang="es-CO" sz="1500" b="1" noProof="0" dirty="0">
                <a:solidFill>
                  <a:srgbClr val="FFFFFF"/>
                </a:solidFill>
                <a:latin typeface="Segoe UI" pitchFamily="34" charset="0"/>
                <a:ea typeface="Segoe UI" pitchFamily="34" charset="-122"/>
                <a:cs typeface="Segoe UI" pitchFamily="34" charset="-120"/>
              </a:rPr>
              <a:t>17</a:t>
            </a:r>
            <a:endParaRPr lang="es-CO" sz="1500" noProof="0" dirty="0"/>
          </a:p>
        </p:txBody>
      </p:sp>
      <p:pic>
        <p:nvPicPr>
          <p:cNvPr id="18" name="Picture 17" descr="val_demanda_por_familia.png"/>
          <p:cNvPicPr>
            <a:picLocks noChangeAspect="1"/>
          </p:cNvPicPr>
          <p:nvPr/>
        </p:nvPicPr>
        <p:blipFill>
          <a:blip r:embed="rId2"/>
          <a:stretch>
            <a:fillRect/>
          </a:stretch>
        </p:blipFill>
        <p:spPr>
          <a:xfrm>
            <a:off x="11199000" y="3592500"/>
            <a:ext cx="5796000" cy="3864000"/>
          </a:xfrm>
          <a:prstGeom prst="rect">
            <a:avLst/>
          </a:prstGeom>
        </p:spPr>
      </p:pic>
      <p:sp>
        <p:nvSpPr>
          <p:cNvPr id="3" name="Shape 0">
            <a:extLst>
              <a:ext uri="{FF2B5EF4-FFF2-40B4-BE49-F238E27FC236}">
                <a16:creationId xmlns:a16="http://schemas.microsoft.com/office/drawing/2014/main" id="{8D55EA7B-6FFB-8204-2146-458DBCF584FF}"/>
              </a:ext>
            </a:extLst>
          </p:cNvPr>
          <p:cNvSpPr/>
          <p:nvPr/>
        </p:nvSpPr>
        <p:spPr>
          <a:xfrm>
            <a:off x="1143000" y="838200"/>
            <a:ext cx="5077496" cy="419100"/>
          </a:xfrm>
          <a:prstGeom prst="roundRect">
            <a:avLst>
              <a:gd name="adj" fmla="val 50000"/>
            </a:avLst>
          </a:prstGeom>
          <a:solidFill>
            <a:srgbClr val="F4FADF"/>
          </a:solidFill>
          <a:ln/>
        </p:spPr>
        <p:txBody>
          <a:bodyPr/>
          <a:lstStyle/>
          <a:p>
            <a:endParaRPr lang="es-CO" noProof="0" dirty="0"/>
          </a:p>
        </p:txBody>
      </p:sp>
      <p:sp>
        <p:nvSpPr>
          <p:cNvPr id="13" name="Text 1">
            <a:extLst>
              <a:ext uri="{FF2B5EF4-FFF2-40B4-BE49-F238E27FC236}">
                <a16:creationId xmlns:a16="http://schemas.microsoft.com/office/drawing/2014/main" id="{1F3EB8E2-64D7-2BAD-C129-23E76FAA7FD9}"/>
              </a:ext>
            </a:extLst>
          </p:cNvPr>
          <p:cNvSpPr/>
          <p:nvPr/>
        </p:nvSpPr>
        <p:spPr>
          <a:xfrm>
            <a:off x="1352550" y="933450"/>
            <a:ext cx="5203170" cy="266700"/>
          </a:xfrm>
          <a:prstGeom prst="rect">
            <a:avLst/>
          </a:prstGeom>
          <a:noFill/>
          <a:ln/>
        </p:spPr>
        <p:txBody>
          <a:bodyPr wrap="square" lIns="25400" tIns="25400" rIns="25400" bIns="25400" rtlCol="0" anchor="ctr">
            <a:normAutofit/>
          </a:bodyPr>
          <a:lstStyle/>
          <a:p>
            <a:pPr marL="0" indent="0" algn="l">
              <a:buNone/>
            </a:pPr>
            <a:r>
              <a:rPr lang="es-CO" sz="1350" b="1" kern="0" spc="81" noProof="0" dirty="0">
                <a:solidFill>
                  <a:srgbClr val="7E2C8C"/>
                </a:solidFill>
                <a:latin typeface="Segoe UI" pitchFamily="34" charset="0"/>
                <a:ea typeface="Segoe UI" pitchFamily="34" charset="-122"/>
                <a:cs typeface="Segoe UI" pitchFamily="34" charset="-120"/>
              </a:rPr>
              <a:t>FASE 3 · VALIDACIÓN DEL CONJUNTO DE DATOS</a:t>
            </a:r>
            <a:endParaRPr lang="es-CO" sz="1350" noProof="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143000" y="838200"/>
            <a:ext cx="5077496" cy="419100"/>
          </a:xfrm>
          <a:prstGeom prst="roundRect">
            <a:avLst>
              <a:gd name="adj" fmla="val 50000"/>
            </a:avLst>
          </a:prstGeom>
          <a:solidFill>
            <a:srgbClr val="F4FADF"/>
          </a:solidFill>
          <a:ln/>
        </p:spPr>
        <p:txBody>
          <a:bodyPr/>
          <a:lstStyle/>
          <a:p>
            <a:endParaRPr lang="es-CO" noProof="0" dirty="0"/>
          </a:p>
        </p:txBody>
      </p:sp>
      <p:sp>
        <p:nvSpPr>
          <p:cNvPr id="3" name="Text 1"/>
          <p:cNvSpPr/>
          <p:nvPr/>
        </p:nvSpPr>
        <p:spPr>
          <a:xfrm>
            <a:off x="1352550" y="933450"/>
            <a:ext cx="5203170" cy="266700"/>
          </a:xfrm>
          <a:prstGeom prst="rect">
            <a:avLst/>
          </a:prstGeom>
          <a:noFill/>
          <a:ln/>
        </p:spPr>
        <p:txBody>
          <a:bodyPr wrap="square" lIns="25400" tIns="25400" rIns="25400" bIns="25400" rtlCol="0" anchor="ctr">
            <a:normAutofit/>
          </a:bodyPr>
          <a:lstStyle/>
          <a:p>
            <a:pPr marL="0" indent="0" algn="l">
              <a:buNone/>
            </a:pPr>
            <a:r>
              <a:rPr lang="es-CO" sz="1350" b="1" kern="0" spc="81" noProof="0" dirty="0">
                <a:solidFill>
                  <a:srgbClr val="7E2C8C"/>
                </a:solidFill>
                <a:latin typeface="Segoe UI" pitchFamily="34" charset="0"/>
                <a:ea typeface="Segoe UI" pitchFamily="34" charset="-122"/>
                <a:cs typeface="Segoe UI" pitchFamily="34" charset="-120"/>
              </a:rPr>
              <a:t>FASE 3 · VALIDACIÓN DEL CONJUNTO DE DATOS</a:t>
            </a:r>
            <a:endParaRPr lang="es-CO" sz="1350" noProof="0" dirty="0"/>
          </a:p>
        </p:txBody>
      </p:sp>
      <p:sp>
        <p:nvSpPr>
          <p:cNvPr id="4" name="Text 2"/>
          <p:cNvSpPr/>
          <p:nvPr/>
        </p:nvSpPr>
        <p:spPr>
          <a:xfrm>
            <a:off x="1257300" y="1808305"/>
            <a:ext cx="14668500" cy="698500"/>
          </a:xfrm>
          <a:prstGeom prst="rect">
            <a:avLst/>
          </a:prstGeom>
          <a:noFill/>
          <a:ln/>
        </p:spPr>
        <p:txBody>
          <a:bodyPr wrap="square" lIns="25400" tIns="25400" rIns="25400" bIns="25400" rtlCol="0" anchor="t">
            <a:normAutofit/>
          </a:bodyPr>
          <a:lstStyle/>
          <a:p>
            <a:pPr marL="0" indent="0" algn="l">
              <a:buNone/>
            </a:pPr>
            <a:r>
              <a:rPr lang="es-CO" sz="3900" b="1" noProof="0" dirty="0">
                <a:solidFill>
                  <a:srgbClr val="3D3D3D"/>
                </a:solidFill>
                <a:latin typeface="Segoe UI" pitchFamily="34" charset="0"/>
                <a:ea typeface="Segoe UI" pitchFamily="34" charset="-122"/>
                <a:cs typeface="Segoe UI" pitchFamily="34" charset="-120"/>
              </a:rPr>
              <a:t>Resultados del Script de validación: 84 validaciones</a:t>
            </a:r>
            <a:endParaRPr lang="es-CO" sz="3900" noProof="0" dirty="0"/>
          </a:p>
        </p:txBody>
      </p:sp>
      <p:sp>
        <p:nvSpPr>
          <p:cNvPr id="7" name="Text 5"/>
          <p:cNvSpPr/>
          <p:nvPr/>
        </p:nvSpPr>
        <p:spPr>
          <a:xfrm>
            <a:off x="3673178" y="3448050"/>
            <a:ext cx="4079895" cy="292100"/>
          </a:xfrm>
          <a:prstGeom prst="rect">
            <a:avLst/>
          </a:prstGeom>
          <a:noFill/>
          <a:ln/>
        </p:spPr>
        <p:txBody>
          <a:bodyPr wrap="square" lIns="25400" tIns="25400" rIns="25400" bIns="25400" rtlCol="0" anchor="t">
            <a:normAutofit/>
          </a:bodyPr>
          <a:lstStyle/>
          <a:p>
            <a:pPr marL="0" indent="0" algn="l">
              <a:buNone/>
            </a:pPr>
            <a:r>
              <a:rPr lang="es-CO" sz="1500" b="1" noProof="0" dirty="0">
                <a:solidFill>
                  <a:srgbClr val="FFFFFF"/>
                </a:solidFill>
                <a:latin typeface="Segoe UI" pitchFamily="34" charset="0"/>
                <a:ea typeface="Segoe UI" pitchFamily="34" charset="-122"/>
                <a:cs typeface="Segoe UI" pitchFamily="34" charset="-120"/>
              </a:rPr>
              <a:t>Verificaciones</a:t>
            </a:r>
            <a:endParaRPr lang="es-CO" sz="1500" noProof="0" dirty="0"/>
          </a:p>
        </p:txBody>
      </p:sp>
      <p:sp>
        <p:nvSpPr>
          <p:cNvPr id="8" name="Text 6"/>
          <p:cNvSpPr/>
          <p:nvPr/>
        </p:nvSpPr>
        <p:spPr>
          <a:xfrm>
            <a:off x="7382173" y="3448050"/>
            <a:ext cx="2855883" cy="292100"/>
          </a:xfrm>
          <a:prstGeom prst="rect">
            <a:avLst/>
          </a:prstGeom>
          <a:noFill/>
          <a:ln/>
        </p:spPr>
        <p:txBody>
          <a:bodyPr wrap="square" lIns="25400" tIns="25400" rIns="25400" bIns="25400" rtlCol="0" anchor="t">
            <a:normAutofit/>
          </a:bodyPr>
          <a:lstStyle/>
          <a:p>
            <a:pPr marL="0" indent="0" algn="l">
              <a:buNone/>
            </a:pPr>
            <a:r>
              <a:rPr lang="es-CO" sz="1500" b="1" noProof="0" dirty="0">
                <a:solidFill>
                  <a:srgbClr val="FFFFFF"/>
                </a:solidFill>
                <a:latin typeface="Segoe UI" pitchFamily="34" charset="0"/>
                <a:ea typeface="Segoe UI" pitchFamily="34" charset="-122"/>
                <a:cs typeface="Segoe UI" pitchFamily="34" charset="-120"/>
              </a:rPr>
              <a:t>Superadas</a:t>
            </a:r>
            <a:endParaRPr lang="es-CO" sz="1500" noProof="0" dirty="0"/>
          </a:p>
        </p:txBody>
      </p:sp>
      <p:sp>
        <p:nvSpPr>
          <p:cNvPr id="9" name="Text 7"/>
          <p:cNvSpPr/>
          <p:nvPr/>
        </p:nvSpPr>
        <p:spPr>
          <a:xfrm>
            <a:off x="9978430" y="3448050"/>
            <a:ext cx="2652008" cy="292100"/>
          </a:xfrm>
          <a:prstGeom prst="rect">
            <a:avLst/>
          </a:prstGeom>
          <a:noFill/>
          <a:ln/>
        </p:spPr>
        <p:txBody>
          <a:bodyPr wrap="square" lIns="25400" tIns="25400" rIns="25400" bIns="25400" rtlCol="0" anchor="t">
            <a:normAutofit/>
          </a:bodyPr>
          <a:lstStyle/>
          <a:p>
            <a:pPr marL="0" indent="0" algn="l">
              <a:buNone/>
            </a:pPr>
            <a:r>
              <a:rPr lang="es-CO" sz="1500" b="1" noProof="0" dirty="0">
                <a:solidFill>
                  <a:srgbClr val="FFFFFF"/>
                </a:solidFill>
                <a:latin typeface="Segoe UI" pitchFamily="34" charset="0"/>
                <a:ea typeface="Segoe UI" pitchFamily="34" charset="-122"/>
                <a:cs typeface="Segoe UI" pitchFamily="34" charset="-120"/>
              </a:rPr>
              <a:t>Críticos</a:t>
            </a:r>
            <a:endParaRPr lang="es-CO" sz="1500" noProof="0" dirty="0"/>
          </a:p>
        </p:txBody>
      </p:sp>
      <p:sp>
        <p:nvSpPr>
          <p:cNvPr id="10" name="Text 8"/>
          <p:cNvSpPr/>
          <p:nvPr/>
        </p:nvSpPr>
        <p:spPr>
          <a:xfrm>
            <a:off x="12389346" y="3448050"/>
            <a:ext cx="2039947" cy="292100"/>
          </a:xfrm>
          <a:prstGeom prst="rect">
            <a:avLst/>
          </a:prstGeom>
          <a:noFill/>
          <a:ln/>
        </p:spPr>
        <p:txBody>
          <a:bodyPr wrap="square" lIns="25400" tIns="25400" rIns="25400" bIns="25400" rtlCol="0" anchor="t">
            <a:normAutofit/>
          </a:bodyPr>
          <a:lstStyle/>
          <a:p>
            <a:pPr marL="0" indent="0" algn="l">
              <a:buNone/>
            </a:pPr>
            <a:endParaRPr lang="es-CO" sz="1500" noProof="0" dirty="0"/>
          </a:p>
        </p:txBody>
      </p:sp>
      <p:sp>
        <p:nvSpPr>
          <p:cNvPr id="11" name="Text 9"/>
          <p:cNvSpPr/>
          <p:nvPr/>
        </p:nvSpPr>
        <p:spPr>
          <a:xfrm>
            <a:off x="14243845" y="3448050"/>
            <a:ext cx="2855992" cy="292100"/>
          </a:xfrm>
          <a:prstGeom prst="rect">
            <a:avLst/>
          </a:prstGeom>
          <a:noFill/>
          <a:ln/>
        </p:spPr>
        <p:txBody>
          <a:bodyPr wrap="square" lIns="25400" tIns="25400" rIns="25400" bIns="25400" rtlCol="0" anchor="t">
            <a:normAutofit/>
          </a:bodyPr>
          <a:lstStyle/>
          <a:p>
            <a:pPr marL="0" indent="0" algn="l">
              <a:buNone/>
            </a:pPr>
            <a:endParaRPr lang="es-CO" sz="1500" noProof="0" dirty="0"/>
          </a:p>
        </p:txBody>
      </p:sp>
      <p:sp>
        <p:nvSpPr>
          <p:cNvPr id="17" name="Text 15"/>
          <p:cNvSpPr/>
          <p:nvPr/>
        </p:nvSpPr>
        <p:spPr>
          <a:xfrm>
            <a:off x="12389346" y="4102100"/>
            <a:ext cx="2039947" cy="292100"/>
          </a:xfrm>
          <a:prstGeom prst="rect">
            <a:avLst/>
          </a:prstGeom>
          <a:noFill/>
          <a:ln/>
        </p:spPr>
        <p:txBody>
          <a:bodyPr wrap="square" lIns="25400" tIns="25400" rIns="25400" bIns="25400" rtlCol="0" anchor="t">
            <a:normAutofit/>
          </a:bodyPr>
          <a:lstStyle/>
          <a:p>
            <a:pPr marL="0" indent="0" algn="l">
              <a:buNone/>
            </a:pPr>
            <a:endParaRPr lang="es-CO" sz="1500" noProof="0" dirty="0"/>
          </a:p>
        </p:txBody>
      </p:sp>
      <p:sp>
        <p:nvSpPr>
          <p:cNvPr id="18" name="Text 16"/>
          <p:cNvSpPr/>
          <p:nvPr/>
        </p:nvSpPr>
        <p:spPr>
          <a:xfrm>
            <a:off x="14243845" y="4102100"/>
            <a:ext cx="2855992" cy="292100"/>
          </a:xfrm>
          <a:prstGeom prst="rect">
            <a:avLst/>
          </a:prstGeom>
          <a:noFill/>
          <a:ln/>
        </p:spPr>
        <p:txBody>
          <a:bodyPr wrap="square" lIns="25400" tIns="25400" rIns="25400" bIns="25400" rtlCol="0" anchor="t">
            <a:normAutofit/>
          </a:bodyPr>
          <a:lstStyle/>
          <a:p>
            <a:pPr marL="0" indent="0" algn="l">
              <a:buNone/>
            </a:pPr>
            <a:endParaRPr lang="es-CO" sz="1500" noProof="0" dirty="0"/>
          </a:p>
        </p:txBody>
      </p:sp>
      <p:sp>
        <p:nvSpPr>
          <p:cNvPr id="24" name="Text 22"/>
          <p:cNvSpPr/>
          <p:nvPr/>
        </p:nvSpPr>
        <p:spPr>
          <a:xfrm>
            <a:off x="12389346" y="4737100"/>
            <a:ext cx="2039947" cy="292100"/>
          </a:xfrm>
          <a:prstGeom prst="rect">
            <a:avLst/>
          </a:prstGeom>
          <a:noFill/>
          <a:ln/>
        </p:spPr>
        <p:txBody>
          <a:bodyPr wrap="square" lIns="25400" tIns="25400" rIns="25400" bIns="25400" rtlCol="0" anchor="t">
            <a:normAutofit/>
          </a:bodyPr>
          <a:lstStyle/>
          <a:p>
            <a:pPr marL="0" indent="0" algn="l">
              <a:buNone/>
            </a:pPr>
            <a:endParaRPr lang="es-CO" sz="1500" noProof="0" dirty="0"/>
          </a:p>
        </p:txBody>
      </p:sp>
      <p:sp>
        <p:nvSpPr>
          <p:cNvPr id="25" name="Text 23"/>
          <p:cNvSpPr/>
          <p:nvPr/>
        </p:nvSpPr>
        <p:spPr>
          <a:xfrm>
            <a:off x="14243845" y="4737100"/>
            <a:ext cx="2855992" cy="292100"/>
          </a:xfrm>
          <a:prstGeom prst="rect">
            <a:avLst/>
          </a:prstGeom>
          <a:noFill/>
          <a:ln/>
        </p:spPr>
        <p:txBody>
          <a:bodyPr wrap="square" lIns="25400" tIns="25400" rIns="25400" bIns="25400" rtlCol="0" anchor="t">
            <a:normAutofit/>
          </a:bodyPr>
          <a:lstStyle/>
          <a:p>
            <a:pPr marL="0" indent="0" algn="l">
              <a:buNone/>
            </a:pPr>
            <a:endParaRPr lang="es-CO" sz="1500" noProof="0" dirty="0"/>
          </a:p>
        </p:txBody>
      </p:sp>
      <p:sp>
        <p:nvSpPr>
          <p:cNvPr id="29" name="Text 27"/>
          <p:cNvSpPr/>
          <p:nvPr/>
        </p:nvSpPr>
        <p:spPr>
          <a:xfrm>
            <a:off x="7382173" y="5372100"/>
            <a:ext cx="2855883" cy="292100"/>
          </a:xfrm>
          <a:prstGeom prst="rect">
            <a:avLst/>
          </a:prstGeom>
          <a:noFill/>
          <a:ln/>
        </p:spPr>
        <p:txBody>
          <a:bodyPr wrap="square" lIns="25400" tIns="25400" rIns="25400" bIns="25400" rtlCol="0" anchor="t">
            <a:normAutofit/>
          </a:bodyPr>
          <a:lstStyle/>
          <a:p>
            <a:pPr marL="0" indent="0" algn="l">
              <a:buNone/>
            </a:pPr>
            <a:r>
              <a:rPr lang="es-CO" sz="1500" noProof="0" dirty="0">
                <a:solidFill>
                  <a:srgbClr val="3D3D3D"/>
                </a:solidFill>
                <a:latin typeface="Segoe UI" pitchFamily="34" charset="0"/>
                <a:ea typeface="Segoe UI" pitchFamily="34" charset="-122"/>
                <a:cs typeface="Segoe UI" pitchFamily="34" charset="-120"/>
              </a:rPr>
              <a:t>10</a:t>
            </a:r>
            <a:endParaRPr lang="es-CO" sz="1500" noProof="0" dirty="0"/>
          </a:p>
        </p:txBody>
      </p:sp>
      <p:sp>
        <p:nvSpPr>
          <p:cNvPr id="30" name="Text 28"/>
          <p:cNvSpPr/>
          <p:nvPr/>
        </p:nvSpPr>
        <p:spPr>
          <a:xfrm>
            <a:off x="9978430" y="5372100"/>
            <a:ext cx="2652008" cy="292100"/>
          </a:xfrm>
          <a:prstGeom prst="rect">
            <a:avLst/>
          </a:prstGeom>
          <a:noFill/>
          <a:ln/>
        </p:spPr>
        <p:txBody>
          <a:bodyPr wrap="square" lIns="25400" tIns="25400" rIns="25400" bIns="25400" rtlCol="0" anchor="t">
            <a:normAutofit/>
          </a:bodyPr>
          <a:lstStyle/>
          <a:p>
            <a:pPr marL="0" indent="0" algn="l">
              <a:buNone/>
            </a:pPr>
            <a:r>
              <a:rPr lang="es-CO" sz="1500" noProof="0" dirty="0">
                <a:solidFill>
                  <a:srgbClr val="3D3D3D"/>
                </a:solidFill>
                <a:latin typeface="Segoe UI" pitchFamily="34" charset="0"/>
                <a:ea typeface="Segoe UI" pitchFamily="34" charset="-122"/>
                <a:cs typeface="Segoe UI" pitchFamily="34" charset="-120"/>
              </a:rPr>
              <a:t>0</a:t>
            </a:r>
            <a:endParaRPr lang="es-CO" sz="1500" noProof="0" dirty="0"/>
          </a:p>
        </p:txBody>
      </p:sp>
      <p:sp>
        <p:nvSpPr>
          <p:cNvPr id="31" name="Text 29"/>
          <p:cNvSpPr/>
          <p:nvPr/>
        </p:nvSpPr>
        <p:spPr>
          <a:xfrm>
            <a:off x="12389346" y="5372100"/>
            <a:ext cx="2039947" cy="292100"/>
          </a:xfrm>
          <a:prstGeom prst="rect">
            <a:avLst/>
          </a:prstGeom>
          <a:noFill/>
          <a:ln/>
        </p:spPr>
        <p:txBody>
          <a:bodyPr wrap="square" lIns="25400" tIns="25400" rIns="25400" bIns="25400" rtlCol="0" anchor="t">
            <a:normAutofit/>
          </a:bodyPr>
          <a:lstStyle/>
          <a:p>
            <a:pPr marL="0" indent="0" algn="l">
              <a:buNone/>
            </a:pPr>
            <a:endParaRPr lang="es-CO" sz="1500" noProof="0" dirty="0"/>
          </a:p>
        </p:txBody>
      </p:sp>
      <p:sp>
        <p:nvSpPr>
          <p:cNvPr id="32" name="Text 30"/>
          <p:cNvSpPr/>
          <p:nvPr/>
        </p:nvSpPr>
        <p:spPr>
          <a:xfrm>
            <a:off x="14243845" y="5372100"/>
            <a:ext cx="2855992" cy="292100"/>
          </a:xfrm>
          <a:prstGeom prst="rect">
            <a:avLst/>
          </a:prstGeom>
          <a:noFill/>
          <a:ln/>
        </p:spPr>
        <p:txBody>
          <a:bodyPr wrap="square" lIns="25400" tIns="25400" rIns="25400" bIns="25400" rtlCol="0" anchor="t">
            <a:normAutofit/>
          </a:bodyPr>
          <a:lstStyle/>
          <a:p>
            <a:pPr marL="0" indent="0" algn="l">
              <a:buNone/>
            </a:pPr>
            <a:endParaRPr lang="es-CO" sz="1500" noProof="0" dirty="0"/>
          </a:p>
        </p:txBody>
      </p:sp>
      <p:sp>
        <p:nvSpPr>
          <p:cNvPr id="36" name="Text 34"/>
          <p:cNvSpPr/>
          <p:nvPr/>
        </p:nvSpPr>
        <p:spPr>
          <a:xfrm>
            <a:off x="7382173" y="6007100"/>
            <a:ext cx="2855883" cy="292100"/>
          </a:xfrm>
          <a:prstGeom prst="rect">
            <a:avLst/>
          </a:prstGeom>
          <a:noFill/>
          <a:ln/>
        </p:spPr>
        <p:txBody>
          <a:bodyPr wrap="square" lIns="25400" tIns="25400" rIns="25400" bIns="25400" rtlCol="0" anchor="t">
            <a:normAutofit/>
          </a:bodyPr>
          <a:lstStyle/>
          <a:p>
            <a:pPr marL="0" indent="0" algn="l">
              <a:buNone/>
            </a:pPr>
            <a:r>
              <a:rPr lang="es-CO" sz="1500" noProof="0" dirty="0">
                <a:solidFill>
                  <a:srgbClr val="3D3D3D"/>
                </a:solidFill>
                <a:latin typeface="Segoe UI" pitchFamily="34" charset="0"/>
                <a:ea typeface="Segoe UI" pitchFamily="34" charset="-122"/>
                <a:cs typeface="Segoe UI" pitchFamily="34" charset="-120"/>
              </a:rPr>
              <a:t>3</a:t>
            </a:r>
            <a:endParaRPr lang="es-CO" sz="1500" noProof="0" dirty="0"/>
          </a:p>
        </p:txBody>
      </p:sp>
      <p:sp>
        <p:nvSpPr>
          <p:cNvPr id="37" name="Text 35"/>
          <p:cNvSpPr/>
          <p:nvPr/>
        </p:nvSpPr>
        <p:spPr>
          <a:xfrm>
            <a:off x="9978430" y="6007100"/>
            <a:ext cx="2652008" cy="292100"/>
          </a:xfrm>
          <a:prstGeom prst="rect">
            <a:avLst/>
          </a:prstGeom>
          <a:noFill/>
          <a:ln/>
        </p:spPr>
        <p:txBody>
          <a:bodyPr wrap="square" lIns="25400" tIns="25400" rIns="25400" bIns="25400" rtlCol="0" anchor="t">
            <a:normAutofit/>
          </a:bodyPr>
          <a:lstStyle/>
          <a:p>
            <a:pPr marL="0" indent="0" algn="l">
              <a:buNone/>
            </a:pPr>
            <a:r>
              <a:rPr lang="es-CO" sz="1500" noProof="0" dirty="0">
                <a:solidFill>
                  <a:srgbClr val="3D3D3D"/>
                </a:solidFill>
                <a:latin typeface="Segoe UI" pitchFamily="34" charset="0"/>
                <a:ea typeface="Segoe UI" pitchFamily="34" charset="-122"/>
                <a:cs typeface="Segoe UI" pitchFamily="34" charset="-120"/>
              </a:rPr>
              <a:t>0</a:t>
            </a:r>
            <a:endParaRPr lang="es-CO" sz="1500" noProof="0" dirty="0"/>
          </a:p>
        </p:txBody>
      </p:sp>
      <p:sp>
        <p:nvSpPr>
          <p:cNvPr id="38" name="Text 36"/>
          <p:cNvSpPr/>
          <p:nvPr/>
        </p:nvSpPr>
        <p:spPr>
          <a:xfrm>
            <a:off x="12389346" y="6007100"/>
            <a:ext cx="2039947" cy="292100"/>
          </a:xfrm>
          <a:prstGeom prst="rect">
            <a:avLst/>
          </a:prstGeom>
          <a:noFill/>
          <a:ln/>
        </p:spPr>
        <p:txBody>
          <a:bodyPr wrap="square" lIns="25400" tIns="25400" rIns="25400" bIns="25400" rtlCol="0" anchor="t">
            <a:normAutofit/>
          </a:bodyPr>
          <a:lstStyle/>
          <a:p>
            <a:pPr marL="0" indent="0" algn="l">
              <a:buNone/>
            </a:pPr>
            <a:endParaRPr lang="es-CO" sz="1500" noProof="0" dirty="0"/>
          </a:p>
        </p:txBody>
      </p:sp>
      <p:sp>
        <p:nvSpPr>
          <p:cNvPr id="39" name="Text 37"/>
          <p:cNvSpPr/>
          <p:nvPr/>
        </p:nvSpPr>
        <p:spPr>
          <a:xfrm>
            <a:off x="14243845" y="6007100"/>
            <a:ext cx="2855992" cy="292100"/>
          </a:xfrm>
          <a:prstGeom prst="rect">
            <a:avLst/>
          </a:prstGeom>
          <a:noFill/>
          <a:ln/>
        </p:spPr>
        <p:txBody>
          <a:bodyPr wrap="square" lIns="25400" tIns="25400" rIns="25400" bIns="25400" rtlCol="0" anchor="t">
            <a:normAutofit/>
          </a:bodyPr>
          <a:lstStyle/>
          <a:p>
            <a:pPr marL="0" indent="0" algn="l">
              <a:buNone/>
            </a:pPr>
            <a:endParaRPr lang="es-CO" sz="1500" noProof="0" dirty="0"/>
          </a:p>
        </p:txBody>
      </p:sp>
      <p:sp>
        <p:nvSpPr>
          <p:cNvPr id="40" name="Text 38"/>
          <p:cNvSpPr/>
          <p:nvPr/>
        </p:nvSpPr>
        <p:spPr>
          <a:xfrm>
            <a:off x="1143000" y="9525000"/>
            <a:ext cx="5412720" cy="266700"/>
          </a:xfrm>
          <a:prstGeom prst="rect">
            <a:avLst/>
          </a:prstGeom>
          <a:noFill/>
          <a:ln/>
        </p:spPr>
        <p:txBody>
          <a:bodyPr wrap="square" lIns="25400" tIns="25400" rIns="25400" bIns="25400" rtlCol="0" anchor="t">
            <a:normAutofit/>
          </a:bodyPr>
          <a:lstStyle/>
          <a:p>
            <a:pPr marL="0" indent="0" algn="l">
              <a:buNone/>
            </a:pPr>
            <a:r>
              <a:rPr lang="es-CO" sz="1350" noProof="0" dirty="0">
                <a:solidFill>
                  <a:srgbClr val="6F6F6F"/>
                </a:solidFill>
                <a:latin typeface="Segoe UI" pitchFamily="34" charset="0"/>
                <a:ea typeface="Segoe UI" pitchFamily="34" charset="-122"/>
                <a:cs typeface="Segoe UI" pitchFamily="34" charset="-120"/>
              </a:rPr>
              <a:t>UTS · Cartilla de aprendizaje — Gestión Inteligente de Inventarios</a:t>
            </a:r>
            <a:endParaRPr lang="es-CO" sz="1350" noProof="0" dirty="0"/>
          </a:p>
        </p:txBody>
      </p:sp>
      <p:sp>
        <p:nvSpPr>
          <p:cNvPr id="41" name="Shape 39"/>
          <p:cNvSpPr/>
          <p:nvPr/>
        </p:nvSpPr>
        <p:spPr>
          <a:xfrm>
            <a:off x="16725900" y="9410700"/>
            <a:ext cx="419100" cy="419100"/>
          </a:xfrm>
          <a:prstGeom prst="ellipse">
            <a:avLst/>
          </a:prstGeom>
          <a:solidFill>
            <a:srgbClr val="7E2C8C"/>
          </a:solidFill>
          <a:ln/>
        </p:spPr>
        <p:txBody>
          <a:bodyPr/>
          <a:lstStyle/>
          <a:p>
            <a:endParaRPr lang="es-CO" noProof="0" dirty="0"/>
          </a:p>
        </p:txBody>
      </p:sp>
      <p:sp>
        <p:nvSpPr>
          <p:cNvPr id="42" name="Text 40"/>
          <p:cNvSpPr/>
          <p:nvPr/>
        </p:nvSpPr>
        <p:spPr>
          <a:xfrm>
            <a:off x="16687800" y="9410700"/>
            <a:ext cx="495300" cy="457200"/>
          </a:xfrm>
          <a:prstGeom prst="rect">
            <a:avLst/>
          </a:prstGeom>
          <a:noFill/>
          <a:ln/>
        </p:spPr>
        <p:txBody>
          <a:bodyPr wrap="square" lIns="25400" tIns="25400" rIns="25400" bIns="25400" rtlCol="0" anchor="ctr">
            <a:normAutofit/>
          </a:bodyPr>
          <a:lstStyle/>
          <a:p>
            <a:pPr marL="0" indent="0" algn="ctr">
              <a:buNone/>
            </a:pPr>
            <a:r>
              <a:rPr lang="es-CO" sz="1500" b="1" noProof="0" dirty="0">
                <a:solidFill>
                  <a:srgbClr val="FFFFFF"/>
                </a:solidFill>
                <a:latin typeface="Segoe UI" pitchFamily="34" charset="0"/>
                <a:ea typeface="Segoe UI" pitchFamily="34" charset="-122"/>
                <a:cs typeface="Segoe UI" pitchFamily="34" charset="-120"/>
              </a:rPr>
              <a:t>18</a:t>
            </a:r>
            <a:endParaRPr lang="es-CO" sz="1500" noProof="0" dirty="0"/>
          </a:p>
        </p:txBody>
      </p:sp>
      <p:graphicFrame>
        <p:nvGraphicFramePr>
          <p:cNvPr id="43" name="Tabla 42">
            <a:extLst>
              <a:ext uri="{FF2B5EF4-FFF2-40B4-BE49-F238E27FC236}">
                <a16:creationId xmlns:a16="http://schemas.microsoft.com/office/drawing/2014/main" id="{207B9218-464A-214D-19A7-2F7ED11A59E8}"/>
              </a:ext>
            </a:extLst>
          </p:cNvPr>
          <p:cNvGraphicFramePr>
            <a:graphicFrameLocks noGrp="1"/>
          </p:cNvGraphicFramePr>
          <p:nvPr>
            <p:extLst>
              <p:ext uri="{D42A27DB-BD31-4B8C-83A1-F6EECF244321}">
                <p14:modId xmlns:p14="http://schemas.microsoft.com/office/powerpoint/2010/main" val="3190637998"/>
              </p:ext>
            </p:extLst>
          </p:nvPr>
        </p:nvGraphicFramePr>
        <p:xfrm>
          <a:off x="1568450" y="3236772"/>
          <a:ext cx="13379449" cy="5540656"/>
        </p:xfrm>
        <a:graphic>
          <a:graphicData uri="http://schemas.openxmlformats.org/drawingml/2006/table">
            <a:tbl>
              <a:tblPr firstRow="1" firstCol="1" bandRow="1">
                <a:tableStyleId>{5C22544A-7EE6-4342-B048-85BDC9FD1C3A}</a:tableStyleId>
              </a:tblPr>
              <a:tblGrid>
                <a:gridCol w="6776605">
                  <a:extLst>
                    <a:ext uri="{9D8B030D-6E8A-4147-A177-3AD203B41FA5}">
                      <a16:colId xmlns:a16="http://schemas.microsoft.com/office/drawing/2014/main" val="161944840"/>
                    </a:ext>
                  </a:extLst>
                </a:gridCol>
                <a:gridCol w="2432627">
                  <a:extLst>
                    <a:ext uri="{9D8B030D-6E8A-4147-A177-3AD203B41FA5}">
                      <a16:colId xmlns:a16="http://schemas.microsoft.com/office/drawing/2014/main" val="2646023939"/>
                    </a:ext>
                  </a:extLst>
                </a:gridCol>
                <a:gridCol w="2432627">
                  <a:extLst>
                    <a:ext uri="{9D8B030D-6E8A-4147-A177-3AD203B41FA5}">
                      <a16:colId xmlns:a16="http://schemas.microsoft.com/office/drawing/2014/main" val="1993556311"/>
                    </a:ext>
                  </a:extLst>
                </a:gridCol>
                <a:gridCol w="1737590">
                  <a:extLst>
                    <a:ext uri="{9D8B030D-6E8A-4147-A177-3AD203B41FA5}">
                      <a16:colId xmlns:a16="http://schemas.microsoft.com/office/drawing/2014/main" val="2543512480"/>
                    </a:ext>
                  </a:extLst>
                </a:gridCol>
              </a:tblGrid>
              <a:tr h="549076">
                <a:tc>
                  <a:txBody>
                    <a:bodyPr/>
                    <a:lstStyle/>
                    <a:p>
                      <a:pPr>
                        <a:buNone/>
                      </a:pPr>
                      <a:r>
                        <a:rPr lang="es-CO" sz="2400" noProof="0" dirty="0">
                          <a:effectLst/>
                        </a:rPr>
                        <a:t>Dimensión de validación</a:t>
                      </a:r>
                      <a:endParaRPr lang="es-CO" sz="3600" noProof="0" dirty="0">
                        <a:effectLst/>
                        <a:latin typeface="Arial" panose="020B0604020202020204" pitchFamily="34" charset="0"/>
                        <a:ea typeface="Arial" panose="020B0604020202020204" pitchFamily="34" charset="0"/>
                      </a:endParaRPr>
                    </a:p>
                  </a:txBody>
                  <a:tcPr marL="50800" marR="50800" marT="25400" marB="25400">
                    <a:solidFill>
                      <a:srgbClr val="9524AC"/>
                    </a:solidFill>
                  </a:tcPr>
                </a:tc>
                <a:tc>
                  <a:txBody>
                    <a:bodyPr/>
                    <a:lstStyle/>
                    <a:p>
                      <a:pPr algn="ctr">
                        <a:buNone/>
                      </a:pPr>
                      <a:r>
                        <a:rPr lang="es-CO" sz="2400" noProof="0" dirty="0">
                          <a:effectLst/>
                        </a:rPr>
                        <a:t>Verificaciones</a:t>
                      </a:r>
                      <a:endParaRPr lang="es-CO" sz="2400" noProof="0" dirty="0">
                        <a:effectLst/>
                        <a:latin typeface="Arial" panose="020B0604020202020204" pitchFamily="34" charset="0"/>
                        <a:ea typeface="Arial" panose="020B0604020202020204" pitchFamily="34" charset="0"/>
                      </a:endParaRPr>
                    </a:p>
                  </a:txBody>
                  <a:tcPr marL="50800" marR="50800" marT="25400" marB="25400">
                    <a:solidFill>
                      <a:srgbClr val="9524AC"/>
                    </a:solidFill>
                  </a:tcPr>
                </a:tc>
                <a:tc>
                  <a:txBody>
                    <a:bodyPr/>
                    <a:lstStyle/>
                    <a:p>
                      <a:pPr algn="ctr">
                        <a:buNone/>
                      </a:pPr>
                      <a:r>
                        <a:rPr lang="es-CO" sz="2400" noProof="0" dirty="0">
                          <a:effectLst/>
                        </a:rPr>
                        <a:t>Superadas</a:t>
                      </a:r>
                      <a:endParaRPr lang="es-CO" sz="2400" noProof="0" dirty="0">
                        <a:effectLst/>
                        <a:latin typeface="Arial" panose="020B0604020202020204" pitchFamily="34" charset="0"/>
                        <a:ea typeface="Arial" panose="020B0604020202020204" pitchFamily="34" charset="0"/>
                      </a:endParaRPr>
                    </a:p>
                  </a:txBody>
                  <a:tcPr marL="50800" marR="50800" marT="25400" marB="25400">
                    <a:solidFill>
                      <a:srgbClr val="9524AC"/>
                    </a:solidFill>
                  </a:tcPr>
                </a:tc>
                <a:tc>
                  <a:txBody>
                    <a:bodyPr/>
                    <a:lstStyle/>
                    <a:p>
                      <a:pPr algn="ctr">
                        <a:buNone/>
                      </a:pPr>
                      <a:r>
                        <a:rPr lang="es-CO" sz="2400" noProof="0" dirty="0">
                          <a:effectLst/>
                        </a:rPr>
                        <a:t>Críticos</a:t>
                      </a:r>
                      <a:endParaRPr lang="es-CO" sz="2400" noProof="0" dirty="0">
                        <a:effectLst/>
                        <a:latin typeface="Arial" panose="020B0604020202020204" pitchFamily="34" charset="0"/>
                        <a:ea typeface="Arial" panose="020B0604020202020204" pitchFamily="34" charset="0"/>
                      </a:endParaRPr>
                    </a:p>
                  </a:txBody>
                  <a:tcPr marL="50800" marR="50800" marT="25400" marB="25400">
                    <a:solidFill>
                      <a:srgbClr val="9524AC"/>
                    </a:solidFill>
                  </a:tcPr>
                </a:tc>
                <a:extLst>
                  <a:ext uri="{0D108BD9-81ED-4DB2-BD59-A6C34878D82A}">
                    <a16:rowId xmlns:a16="http://schemas.microsoft.com/office/drawing/2014/main" val="2197413986"/>
                  </a:ext>
                </a:extLst>
              </a:tr>
              <a:tr h="499158">
                <a:tc>
                  <a:txBody>
                    <a:bodyPr/>
                    <a:lstStyle/>
                    <a:p>
                      <a:pPr>
                        <a:buNone/>
                      </a:pPr>
                      <a:r>
                        <a:rPr lang="es-CO" sz="2400" noProof="0" dirty="0">
                          <a:effectLst/>
                        </a:rPr>
                        <a:t>Tipos, dominios y rangos</a:t>
                      </a:r>
                      <a:endParaRPr lang="es-CO" sz="3600" noProof="0" dirty="0">
                        <a:effectLst/>
                        <a:latin typeface="Arial" panose="020B0604020202020204" pitchFamily="34" charset="0"/>
                        <a:ea typeface="Arial" panose="020B0604020202020204" pitchFamily="34" charset="0"/>
                      </a:endParaRPr>
                    </a:p>
                  </a:txBody>
                  <a:tcPr marL="50800" marR="50800" marT="25400" marB="25400">
                    <a:solidFill>
                      <a:srgbClr val="9524AC"/>
                    </a:solidFill>
                  </a:tcPr>
                </a:tc>
                <a:tc>
                  <a:txBody>
                    <a:bodyPr/>
                    <a:lstStyle/>
                    <a:p>
                      <a:pPr algn="ctr">
                        <a:buNone/>
                      </a:pPr>
                      <a:r>
                        <a:rPr lang="es-CO" sz="2000" noProof="0" dirty="0">
                          <a:effectLst/>
                        </a:rPr>
                        <a:t>37</a:t>
                      </a:r>
                      <a:endParaRPr lang="es-CO" sz="2000" noProof="0" dirty="0">
                        <a:effectLst/>
                        <a:latin typeface="Arial" panose="020B0604020202020204" pitchFamily="34" charset="0"/>
                        <a:ea typeface="Arial" panose="020B0604020202020204" pitchFamily="34" charset="0"/>
                      </a:endParaRPr>
                    </a:p>
                  </a:txBody>
                  <a:tcPr marL="50800" marR="50800" marT="25400" marB="25400">
                    <a:solidFill>
                      <a:srgbClr val="D6F38D"/>
                    </a:solidFill>
                  </a:tcPr>
                </a:tc>
                <a:tc>
                  <a:txBody>
                    <a:bodyPr/>
                    <a:lstStyle/>
                    <a:p>
                      <a:pPr algn="ctr">
                        <a:buNone/>
                      </a:pPr>
                      <a:r>
                        <a:rPr lang="es-CO" sz="2000" noProof="0" dirty="0">
                          <a:effectLst/>
                        </a:rPr>
                        <a:t>37</a:t>
                      </a:r>
                      <a:endParaRPr lang="es-CO" sz="2000" noProof="0" dirty="0">
                        <a:effectLst/>
                        <a:latin typeface="Arial" panose="020B0604020202020204" pitchFamily="34" charset="0"/>
                        <a:ea typeface="Arial" panose="020B0604020202020204" pitchFamily="34" charset="0"/>
                      </a:endParaRPr>
                    </a:p>
                  </a:txBody>
                  <a:tcPr marL="50800" marR="50800" marT="25400" marB="25400">
                    <a:solidFill>
                      <a:srgbClr val="D6F38D"/>
                    </a:solidFill>
                  </a:tcPr>
                </a:tc>
                <a:tc>
                  <a:txBody>
                    <a:bodyPr/>
                    <a:lstStyle/>
                    <a:p>
                      <a:pPr algn="ctr">
                        <a:buNone/>
                      </a:pPr>
                      <a:r>
                        <a:rPr lang="es-CO" sz="2000" noProof="0" dirty="0">
                          <a:effectLst/>
                        </a:rPr>
                        <a:t>0</a:t>
                      </a:r>
                      <a:endParaRPr lang="es-CO" sz="2000" noProof="0" dirty="0">
                        <a:effectLst/>
                        <a:latin typeface="Arial" panose="020B0604020202020204" pitchFamily="34" charset="0"/>
                        <a:ea typeface="Arial" panose="020B0604020202020204" pitchFamily="34" charset="0"/>
                      </a:endParaRPr>
                    </a:p>
                  </a:txBody>
                  <a:tcPr marL="50800" marR="50800" marT="25400" marB="25400">
                    <a:solidFill>
                      <a:srgbClr val="D6F38D"/>
                    </a:solidFill>
                  </a:tcPr>
                </a:tc>
                <a:extLst>
                  <a:ext uri="{0D108BD9-81ED-4DB2-BD59-A6C34878D82A}">
                    <a16:rowId xmlns:a16="http://schemas.microsoft.com/office/drawing/2014/main" val="1109637197"/>
                  </a:ext>
                </a:extLst>
              </a:tr>
              <a:tr h="499158">
                <a:tc>
                  <a:txBody>
                    <a:bodyPr/>
                    <a:lstStyle/>
                    <a:p>
                      <a:pPr>
                        <a:buNone/>
                      </a:pPr>
                      <a:r>
                        <a:rPr lang="es-CO" sz="2400" noProof="0" dirty="0">
                          <a:effectLst/>
                        </a:rPr>
                        <a:t>Política de inventario (s, S)</a:t>
                      </a:r>
                      <a:endParaRPr lang="es-CO" sz="3600" noProof="0" dirty="0">
                        <a:effectLst/>
                        <a:latin typeface="Arial" panose="020B0604020202020204" pitchFamily="34" charset="0"/>
                        <a:ea typeface="Arial" panose="020B0604020202020204" pitchFamily="34" charset="0"/>
                      </a:endParaRPr>
                    </a:p>
                  </a:txBody>
                  <a:tcPr marL="50800" marR="50800" marT="25400" marB="25400">
                    <a:solidFill>
                      <a:srgbClr val="9524AC"/>
                    </a:solidFill>
                  </a:tcPr>
                </a:tc>
                <a:tc>
                  <a:txBody>
                    <a:bodyPr/>
                    <a:lstStyle/>
                    <a:p>
                      <a:pPr algn="ctr">
                        <a:buNone/>
                      </a:pPr>
                      <a:r>
                        <a:rPr lang="es-CO" sz="2000" noProof="0" dirty="0">
                          <a:effectLst/>
                        </a:rPr>
                        <a:t>18</a:t>
                      </a:r>
                      <a:endParaRPr lang="es-CO" sz="2000" noProof="0" dirty="0">
                        <a:effectLst/>
                        <a:latin typeface="Arial" panose="020B0604020202020204" pitchFamily="34" charset="0"/>
                        <a:ea typeface="Arial" panose="020B0604020202020204" pitchFamily="34" charset="0"/>
                      </a:endParaRPr>
                    </a:p>
                  </a:txBody>
                  <a:tcPr marL="50800" marR="50800" marT="25400" marB="25400"/>
                </a:tc>
                <a:tc>
                  <a:txBody>
                    <a:bodyPr/>
                    <a:lstStyle/>
                    <a:p>
                      <a:pPr algn="ctr">
                        <a:buNone/>
                      </a:pPr>
                      <a:r>
                        <a:rPr lang="es-CO" sz="2000" noProof="0" dirty="0">
                          <a:effectLst/>
                        </a:rPr>
                        <a:t>18</a:t>
                      </a:r>
                      <a:endParaRPr lang="es-CO" sz="2000" noProof="0" dirty="0">
                        <a:effectLst/>
                        <a:latin typeface="Arial" panose="020B0604020202020204" pitchFamily="34" charset="0"/>
                        <a:ea typeface="Arial" panose="020B0604020202020204" pitchFamily="34" charset="0"/>
                      </a:endParaRPr>
                    </a:p>
                  </a:txBody>
                  <a:tcPr marL="50800" marR="50800" marT="25400" marB="25400"/>
                </a:tc>
                <a:tc>
                  <a:txBody>
                    <a:bodyPr/>
                    <a:lstStyle/>
                    <a:p>
                      <a:pPr algn="ctr">
                        <a:buNone/>
                      </a:pPr>
                      <a:r>
                        <a:rPr lang="es-CO" sz="2000" noProof="0" dirty="0">
                          <a:effectLst/>
                        </a:rPr>
                        <a:t>0</a:t>
                      </a:r>
                      <a:endParaRPr lang="es-CO" sz="2000" noProof="0" dirty="0">
                        <a:effectLst/>
                        <a:latin typeface="Arial" panose="020B0604020202020204" pitchFamily="34" charset="0"/>
                        <a:ea typeface="Arial" panose="020B0604020202020204" pitchFamily="34" charset="0"/>
                      </a:endParaRPr>
                    </a:p>
                  </a:txBody>
                  <a:tcPr marL="50800" marR="50800" marT="25400" marB="25400"/>
                </a:tc>
                <a:extLst>
                  <a:ext uri="{0D108BD9-81ED-4DB2-BD59-A6C34878D82A}">
                    <a16:rowId xmlns:a16="http://schemas.microsoft.com/office/drawing/2014/main" val="2820321522"/>
                  </a:ext>
                </a:extLst>
              </a:tr>
              <a:tr h="499158">
                <a:tc>
                  <a:txBody>
                    <a:bodyPr/>
                    <a:lstStyle/>
                    <a:p>
                      <a:pPr>
                        <a:buNone/>
                      </a:pPr>
                      <a:r>
                        <a:rPr lang="es-CO" sz="2400" noProof="0" dirty="0">
                          <a:effectLst/>
                        </a:rPr>
                        <a:t>Identidades contables por fila</a:t>
                      </a:r>
                      <a:endParaRPr lang="es-CO" sz="3600" noProof="0" dirty="0">
                        <a:effectLst/>
                        <a:latin typeface="Arial" panose="020B0604020202020204" pitchFamily="34" charset="0"/>
                        <a:ea typeface="Arial" panose="020B0604020202020204" pitchFamily="34" charset="0"/>
                      </a:endParaRPr>
                    </a:p>
                  </a:txBody>
                  <a:tcPr marL="50800" marR="50800" marT="25400" marB="25400">
                    <a:solidFill>
                      <a:srgbClr val="9524AC"/>
                    </a:solidFill>
                  </a:tcPr>
                </a:tc>
                <a:tc>
                  <a:txBody>
                    <a:bodyPr/>
                    <a:lstStyle/>
                    <a:p>
                      <a:pPr algn="ctr">
                        <a:buNone/>
                      </a:pPr>
                      <a:r>
                        <a:rPr lang="es-CO" sz="2000" noProof="0" dirty="0">
                          <a:effectLst/>
                        </a:rPr>
                        <a:t>10</a:t>
                      </a:r>
                      <a:endParaRPr lang="es-CO" sz="2000" noProof="0" dirty="0">
                        <a:effectLst/>
                        <a:latin typeface="Arial" panose="020B0604020202020204" pitchFamily="34" charset="0"/>
                        <a:ea typeface="Arial" panose="020B0604020202020204" pitchFamily="34" charset="0"/>
                      </a:endParaRPr>
                    </a:p>
                  </a:txBody>
                  <a:tcPr marL="50800" marR="50800" marT="25400" marB="25400">
                    <a:solidFill>
                      <a:srgbClr val="D6F38D"/>
                    </a:solidFill>
                  </a:tcPr>
                </a:tc>
                <a:tc>
                  <a:txBody>
                    <a:bodyPr/>
                    <a:lstStyle/>
                    <a:p>
                      <a:pPr algn="ctr">
                        <a:buNone/>
                      </a:pPr>
                      <a:r>
                        <a:rPr lang="es-CO" sz="2000" noProof="0" dirty="0">
                          <a:effectLst/>
                        </a:rPr>
                        <a:t>10</a:t>
                      </a:r>
                      <a:endParaRPr lang="es-CO" sz="2000" noProof="0" dirty="0">
                        <a:effectLst/>
                        <a:latin typeface="Arial" panose="020B0604020202020204" pitchFamily="34" charset="0"/>
                        <a:ea typeface="Arial" panose="020B0604020202020204" pitchFamily="34" charset="0"/>
                      </a:endParaRPr>
                    </a:p>
                  </a:txBody>
                  <a:tcPr marL="50800" marR="50800" marT="25400" marB="25400">
                    <a:solidFill>
                      <a:srgbClr val="D6F38D"/>
                    </a:solidFill>
                  </a:tcPr>
                </a:tc>
                <a:tc>
                  <a:txBody>
                    <a:bodyPr/>
                    <a:lstStyle/>
                    <a:p>
                      <a:pPr algn="ctr">
                        <a:buNone/>
                      </a:pPr>
                      <a:r>
                        <a:rPr lang="es-CO" sz="2000" noProof="0" dirty="0">
                          <a:effectLst/>
                        </a:rPr>
                        <a:t>0</a:t>
                      </a:r>
                      <a:endParaRPr lang="es-CO" sz="2000" noProof="0" dirty="0">
                        <a:effectLst/>
                        <a:latin typeface="Arial" panose="020B0604020202020204" pitchFamily="34" charset="0"/>
                        <a:ea typeface="Arial" panose="020B0604020202020204" pitchFamily="34" charset="0"/>
                      </a:endParaRPr>
                    </a:p>
                  </a:txBody>
                  <a:tcPr marL="50800" marR="50800" marT="25400" marB="25400">
                    <a:solidFill>
                      <a:srgbClr val="D6F38D"/>
                    </a:solidFill>
                  </a:tcPr>
                </a:tc>
                <a:extLst>
                  <a:ext uri="{0D108BD9-81ED-4DB2-BD59-A6C34878D82A}">
                    <a16:rowId xmlns:a16="http://schemas.microsoft.com/office/drawing/2014/main" val="2968769634"/>
                  </a:ext>
                </a:extLst>
              </a:tr>
              <a:tr h="499158">
                <a:tc>
                  <a:txBody>
                    <a:bodyPr/>
                    <a:lstStyle/>
                    <a:p>
                      <a:pPr>
                        <a:buNone/>
                      </a:pPr>
                      <a:r>
                        <a:rPr lang="es-CO" sz="2400" noProof="0" dirty="0">
                          <a:effectLst/>
                        </a:rPr>
                        <a:t>Identidades de costos y precios</a:t>
                      </a:r>
                      <a:endParaRPr lang="es-CO" sz="3600" noProof="0" dirty="0">
                        <a:effectLst/>
                        <a:latin typeface="Arial" panose="020B0604020202020204" pitchFamily="34" charset="0"/>
                        <a:ea typeface="Arial" panose="020B0604020202020204" pitchFamily="34" charset="0"/>
                      </a:endParaRPr>
                    </a:p>
                  </a:txBody>
                  <a:tcPr marL="50800" marR="50800" marT="25400" marB="25400">
                    <a:solidFill>
                      <a:srgbClr val="9524AC"/>
                    </a:solidFill>
                  </a:tcPr>
                </a:tc>
                <a:tc>
                  <a:txBody>
                    <a:bodyPr/>
                    <a:lstStyle/>
                    <a:p>
                      <a:pPr algn="ctr">
                        <a:buNone/>
                      </a:pPr>
                      <a:r>
                        <a:rPr lang="es-CO" sz="2000" noProof="0" dirty="0">
                          <a:effectLst/>
                        </a:rPr>
                        <a:t>6</a:t>
                      </a:r>
                      <a:endParaRPr lang="es-CO" sz="2000" noProof="0" dirty="0">
                        <a:effectLst/>
                        <a:latin typeface="Arial" panose="020B0604020202020204" pitchFamily="34" charset="0"/>
                        <a:ea typeface="Arial" panose="020B0604020202020204" pitchFamily="34" charset="0"/>
                      </a:endParaRPr>
                    </a:p>
                  </a:txBody>
                  <a:tcPr marL="50800" marR="50800" marT="25400" marB="25400"/>
                </a:tc>
                <a:tc>
                  <a:txBody>
                    <a:bodyPr/>
                    <a:lstStyle/>
                    <a:p>
                      <a:pPr algn="ctr">
                        <a:buNone/>
                      </a:pPr>
                      <a:r>
                        <a:rPr lang="es-CO" sz="2000" noProof="0" dirty="0">
                          <a:effectLst/>
                        </a:rPr>
                        <a:t>6</a:t>
                      </a:r>
                      <a:endParaRPr lang="es-CO" sz="2000" noProof="0" dirty="0">
                        <a:effectLst/>
                        <a:latin typeface="Arial" panose="020B0604020202020204" pitchFamily="34" charset="0"/>
                        <a:ea typeface="Arial" panose="020B0604020202020204" pitchFamily="34" charset="0"/>
                      </a:endParaRPr>
                    </a:p>
                  </a:txBody>
                  <a:tcPr marL="50800" marR="50800" marT="25400" marB="25400"/>
                </a:tc>
                <a:tc>
                  <a:txBody>
                    <a:bodyPr/>
                    <a:lstStyle/>
                    <a:p>
                      <a:pPr algn="ctr">
                        <a:buNone/>
                      </a:pPr>
                      <a:r>
                        <a:rPr lang="es-CO" sz="2000" noProof="0" dirty="0">
                          <a:effectLst/>
                        </a:rPr>
                        <a:t>0</a:t>
                      </a:r>
                      <a:endParaRPr lang="es-CO" sz="2000" noProof="0" dirty="0">
                        <a:effectLst/>
                        <a:latin typeface="Arial" panose="020B0604020202020204" pitchFamily="34" charset="0"/>
                        <a:ea typeface="Arial" panose="020B0604020202020204" pitchFamily="34" charset="0"/>
                      </a:endParaRPr>
                    </a:p>
                  </a:txBody>
                  <a:tcPr marL="50800" marR="50800" marT="25400" marB="25400"/>
                </a:tc>
                <a:extLst>
                  <a:ext uri="{0D108BD9-81ED-4DB2-BD59-A6C34878D82A}">
                    <a16:rowId xmlns:a16="http://schemas.microsoft.com/office/drawing/2014/main" val="362285298"/>
                  </a:ext>
                </a:extLst>
              </a:tr>
              <a:tr h="499158">
                <a:tc>
                  <a:txBody>
                    <a:bodyPr/>
                    <a:lstStyle/>
                    <a:p>
                      <a:pPr>
                        <a:buNone/>
                      </a:pPr>
                      <a:r>
                        <a:rPr lang="es-CO" sz="2400" noProof="0" dirty="0">
                          <a:effectLst/>
                        </a:rPr>
                        <a:t>Integridad, completitud y unicidad</a:t>
                      </a:r>
                      <a:endParaRPr lang="es-CO" sz="3600" noProof="0" dirty="0">
                        <a:effectLst/>
                        <a:latin typeface="Arial" panose="020B0604020202020204" pitchFamily="34" charset="0"/>
                        <a:ea typeface="Arial" panose="020B0604020202020204" pitchFamily="34" charset="0"/>
                      </a:endParaRPr>
                    </a:p>
                  </a:txBody>
                  <a:tcPr marL="50800" marR="50800" marT="25400" marB="25400">
                    <a:solidFill>
                      <a:srgbClr val="9524AC"/>
                    </a:solidFill>
                  </a:tcPr>
                </a:tc>
                <a:tc>
                  <a:txBody>
                    <a:bodyPr/>
                    <a:lstStyle/>
                    <a:p>
                      <a:pPr algn="ctr">
                        <a:buNone/>
                      </a:pPr>
                      <a:r>
                        <a:rPr lang="es-CO" sz="2000" noProof="0" dirty="0">
                          <a:effectLst/>
                        </a:rPr>
                        <a:t>5</a:t>
                      </a:r>
                      <a:endParaRPr lang="es-CO" sz="2000" noProof="0" dirty="0">
                        <a:effectLst/>
                        <a:latin typeface="Arial" panose="020B0604020202020204" pitchFamily="34" charset="0"/>
                        <a:ea typeface="Arial" panose="020B0604020202020204" pitchFamily="34" charset="0"/>
                      </a:endParaRPr>
                    </a:p>
                  </a:txBody>
                  <a:tcPr marL="50800" marR="50800" marT="25400" marB="25400">
                    <a:solidFill>
                      <a:srgbClr val="D6F38D"/>
                    </a:solidFill>
                  </a:tcPr>
                </a:tc>
                <a:tc>
                  <a:txBody>
                    <a:bodyPr/>
                    <a:lstStyle/>
                    <a:p>
                      <a:pPr algn="ctr">
                        <a:buNone/>
                      </a:pPr>
                      <a:r>
                        <a:rPr lang="es-CO" sz="2000" noProof="0" dirty="0">
                          <a:effectLst/>
                        </a:rPr>
                        <a:t>5</a:t>
                      </a:r>
                      <a:endParaRPr lang="es-CO" sz="2000" noProof="0" dirty="0">
                        <a:effectLst/>
                        <a:latin typeface="Arial" panose="020B0604020202020204" pitchFamily="34" charset="0"/>
                        <a:ea typeface="Arial" panose="020B0604020202020204" pitchFamily="34" charset="0"/>
                      </a:endParaRPr>
                    </a:p>
                  </a:txBody>
                  <a:tcPr marL="50800" marR="50800" marT="25400" marB="25400">
                    <a:solidFill>
                      <a:srgbClr val="D6F38D"/>
                    </a:solidFill>
                  </a:tcPr>
                </a:tc>
                <a:tc>
                  <a:txBody>
                    <a:bodyPr/>
                    <a:lstStyle/>
                    <a:p>
                      <a:pPr algn="ctr">
                        <a:buNone/>
                      </a:pPr>
                      <a:r>
                        <a:rPr lang="es-CO" sz="2000" noProof="0" dirty="0">
                          <a:effectLst/>
                        </a:rPr>
                        <a:t>0</a:t>
                      </a:r>
                      <a:endParaRPr lang="es-CO" sz="2000" noProof="0" dirty="0">
                        <a:effectLst/>
                        <a:latin typeface="Arial" panose="020B0604020202020204" pitchFamily="34" charset="0"/>
                        <a:ea typeface="Arial" panose="020B0604020202020204" pitchFamily="34" charset="0"/>
                      </a:endParaRPr>
                    </a:p>
                  </a:txBody>
                  <a:tcPr marL="50800" marR="50800" marT="25400" marB="25400">
                    <a:solidFill>
                      <a:srgbClr val="D6F38D"/>
                    </a:solidFill>
                  </a:tcPr>
                </a:tc>
                <a:extLst>
                  <a:ext uri="{0D108BD9-81ED-4DB2-BD59-A6C34878D82A}">
                    <a16:rowId xmlns:a16="http://schemas.microsoft.com/office/drawing/2014/main" val="2285182864"/>
                  </a:ext>
                </a:extLst>
              </a:tr>
              <a:tr h="499158">
                <a:tc>
                  <a:txBody>
                    <a:bodyPr/>
                    <a:lstStyle/>
                    <a:p>
                      <a:pPr>
                        <a:buNone/>
                      </a:pPr>
                      <a:r>
                        <a:rPr lang="es-CO" sz="2400" noProof="0" dirty="0">
                          <a:effectLst/>
                        </a:rPr>
                        <a:t>Coherencia temporal y de flujo</a:t>
                      </a:r>
                      <a:endParaRPr lang="es-CO" sz="3600" noProof="0" dirty="0">
                        <a:effectLst/>
                        <a:latin typeface="Arial" panose="020B0604020202020204" pitchFamily="34" charset="0"/>
                        <a:ea typeface="Arial" panose="020B0604020202020204" pitchFamily="34" charset="0"/>
                      </a:endParaRPr>
                    </a:p>
                  </a:txBody>
                  <a:tcPr marL="50800" marR="50800" marT="25400" marB="25400">
                    <a:solidFill>
                      <a:srgbClr val="9524AC"/>
                    </a:solidFill>
                  </a:tcPr>
                </a:tc>
                <a:tc>
                  <a:txBody>
                    <a:bodyPr/>
                    <a:lstStyle/>
                    <a:p>
                      <a:pPr algn="ctr">
                        <a:buNone/>
                      </a:pPr>
                      <a:r>
                        <a:rPr lang="es-CO" sz="2000" noProof="0" dirty="0">
                          <a:effectLst/>
                        </a:rPr>
                        <a:t>3</a:t>
                      </a:r>
                      <a:endParaRPr lang="es-CO" sz="2000" noProof="0" dirty="0">
                        <a:effectLst/>
                        <a:latin typeface="Arial" panose="020B0604020202020204" pitchFamily="34" charset="0"/>
                        <a:ea typeface="Arial" panose="020B0604020202020204" pitchFamily="34" charset="0"/>
                      </a:endParaRPr>
                    </a:p>
                  </a:txBody>
                  <a:tcPr marL="50800" marR="50800" marT="25400" marB="25400"/>
                </a:tc>
                <a:tc>
                  <a:txBody>
                    <a:bodyPr/>
                    <a:lstStyle/>
                    <a:p>
                      <a:pPr algn="ctr">
                        <a:buNone/>
                      </a:pPr>
                      <a:r>
                        <a:rPr lang="es-CO" sz="2000" noProof="0" dirty="0">
                          <a:effectLst/>
                        </a:rPr>
                        <a:t>3</a:t>
                      </a:r>
                      <a:endParaRPr lang="es-CO" sz="2000" noProof="0" dirty="0">
                        <a:effectLst/>
                        <a:latin typeface="Arial" panose="020B0604020202020204" pitchFamily="34" charset="0"/>
                        <a:ea typeface="Arial" panose="020B0604020202020204" pitchFamily="34" charset="0"/>
                      </a:endParaRPr>
                    </a:p>
                  </a:txBody>
                  <a:tcPr marL="50800" marR="50800" marT="25400" marB="25400"/>
                </a:tc>
                <a:tc>
                  <a:txBody>
                    <a:bodyPr/>
                    <a:lstStyle/>
                    <a:p>
                      <a:pPr algn="ctr">
                        <a:buNone/>
                      </a:pPr>
                      <a:r>
                        <a:rPr lang="es-CO" sz="2000" noProof="0" dirty="0">
                          <a:effectLst/>
                        </a:rPr>
                        <a:t>0</a:t>
                      </a:r>
                      <a:endParaRPr lang="es-CO" sz="2000" noProof="0" dirty="0">
                        <a:effectLst/>
                        <a:latin typeface="Arial" panose="020B0604020202020204" pitchFamily="34" charset="0"/>
                        <a:ea typeface="Arial" panose="020B0604020202020204" pitchFamily="34" charset="0"/>
                      </a:endParaRPr>
                    </a:p>
                  </a:txBody>
                  <a:tcPr marL="50800" marR="50800" marT="25400" marB="25400"/>
                </a:tc>
                <a:extLst>
                  <a:ext uri="{0D108BD9-81ED-4DB2-BD59-A6C34878D82A}">
                    <a16:rowId xmlns:a16="http://schemas.microsoft.com/office/drawing/2014/main" val="130152504"/>
                  </a:ext>
                </a:extLst>
              </a:tr>
              <a:tr h="499158">
                <a:tc>
                  <a:txBody>
                    <a:bodyPr/>
                    <a:lstStyle/>
                    <a:p>
                      <a:pPr>
                        <a:buNone/>
                      </a:pPr>
                      <a:r>
                        <a:rPr lang="es-CO" sz="2400" noProof="0" dirty="0">
                          <a:effectLst/>
                        </a:rPr>
                        <a:t>Clasificación ABC (Pareto)</a:t>
                      </a:r>
                      <a:endParaRPr lang="es-CO" sz="3600" noProof="0" dirty="0">
                        <a:effectLst/>
                        <a:latin typeface="Arial" panose="020B0604020202020204" pitchFamily="34" charset="0"/>
                        <a:ea typeface="Arial" panose="020B0604020202020204" pitchFamily="34" charset="0"/>
                      </a:endParaRPr>
                    </a:p>
                  </a:txBody>
                  <a:tcPr marL="50800" marR="50800" marT="25400" marB="25400">
                    <a:solidFill>
                      <a:srgbClr val="9524AC"/>
                    </a:solidFill>
                  </a:tcPr>
                </a:tc>
                <a:tc>
                  <a:txBody>
                    <a:bodyPr/>
                    <a:lstStyle/>
                    <a:p>
                      <a:pPr algn="ctr">
                        <a:buNone/>
                      </a:pPr>
                      <a:r>
                        <a:rPr lang="es-CO" sz="2000" noProof="0" dirty="0">
                          <a:effectLst/>
                        </a:rPr>
                        <a:t>2</a:t>
                      </a:r>
                      <a:endParaRPr lang="es-CO" sz="2000" noProof="0" dirty="0">
                        <a:effectLst/>
                        <a:latin typeface="Arial" panose="020B0604020202020204" pitchFamily="34" charset="0"/>
                        <a:ea typeface="Arial" panose="020B0604020202020204" pitchFamily="34" charset="0"/>
                      </a:endParaRPr>
                    </a:p>
                  </a:txBody>
                  <a:tcPr marL="50800" marR="50800" marT="25400" marB="25400">
                    <a:solidFill>
                      <a:srgbClr val="D6F38D"/>
                    </a:solidFill>
                  </a:tcPr>
                </a:tc>
                <a:tc>
                  <a:txBody>
                    <a:bodyPr/>
                    <a:lstStyle/>
                    <a:p>
                      <a:pPr algn="ctr">
                        <a:buNone/>
                      </a:pPr>
                      <a:r>
                        <a:rPr lang="es-CO" sz="2000" noProof="0" dirty="0">
                          <a:effectLst/>
                        </a:rPr>
                        <a:t>2</a:t>
                      </a:r>
                      <a:endParaRPr lang="es-CO" sz="2000" noProof="0" dirty="0">
                        <a:effectLst/>
                        <a:latin typeface="Arial" panose="020B0604020202020204" pitchFamily="34" charset="0"/>
                        <a:ea typeface="Arial" panose="020B0604020202020204" pitchFamily="34" charset="0"/>
                      </a:endParaRPr>
                    </a:p>
                  </a:txBody>
                  <a:tcPr marL="50800" marR="50800" marT="25400" marB="25400">
                    <a:solidFill>
                      <a:srgbClr val="D6F38D"/>
                    </a:solidFill>
                  </a:tcPr>
                </a:tc>
                <a:tc>
                  <a:txBody>
                    <a:bodyPr/>
                    <a:lstStyle/>
                    <a:p>
                      <a:pPr algn="ctr">
                        <a:buNone/>
                      </a:pPr>
                      <a:r>
                        <a:rPr lang="es-CO" sz="2000" noProof="0" dirty="0">
                          <a:effectLst/>
                        </a:rPr>
                        <a:t>0</a:t>
                      </a:r>
                      <a:endParaRPr lang="es-CO" sz="2000" noProof="0" dirty="0">
                        <a:effectLst/>
                        <a:latin typeface="Arial" panose="020B0604020202020204" pitchFamily="34" charset="0"/>
                        <a:ea typeface="Arial" panose="020B0604020202020204" pitchFamily="34" charset="0"/>
                      </a:endParaRPr>
                    </a:p>
                  </a:txBody>
                  <a:tcPr marL="50800" marR="50800" marT="25400" marB="25400">
                    <a:solidFill>
                      <a:srgbClr val="D6F38D"/>
                    </a:solidFill>
                  </a:tcPr>
                </a:tc>
                <a:extLst>
                  <a:ext uri="{0D108BD9-81ED-4DB2-BD59-A6C34878D82A}">
                    <a16:rowId xmlns:a16="http://schemas.microsoft.com/office/drawing/2014/main" val="1902690815"/>
                  </a:ext>
                </a:extLst>
              </a:tr>
              <a:tr h="499158">
                <a:tc>
                  <a:txBody>
                    <a:bodyPr/>
                    <a:lstStyle/>
                    <a:p>
                      <a:pPr>
                        <a:buNone/>
                      </a:pPr>
                      <a:r>
                        <a:rPr lang="es-CO" sz="2400" noProof="0" dirty="0">
                          <a:effectLst/>
                        </a:rPr>
                        <a:t>Contrastes distribucionales</a:t>
                      </a:r>
                      <a:endParaRPr lang="es-CO" sz="3600" noProof="0" dirty="0">
                        <a:effectLst/>
                        <a:latin typeface="Arial" panose="020B0604020202020204" pitchFamily="34" charset="0"/>
                        <a:ea typeface="Arial" panose="020B0604020202020204" pitchFamily="34" charset="0"/>
                      </a:endParaRPr>
                    </a:p>
                  </a:txBody>
                  <a:tcPr marL="50800" marR="50800" marT="25400" marB="25400">
                    <a:solidFill>
                      <a:srgbClr val="9524AC"/>
                    </a:solidFill>
                  </a:tcPr>
                </a:tc>
                <a:tc>
                  <a:txBody>
                    <a:bodyPr/>
                    <a:lstStyle/>
                    <a:p>
                      <a:pPr algn="ctr">
                        <a:buNone/>
                      </a:pPr>
                      <a:r>
                        <a:rPr lang="es-CO" sz="2000" noProof="0" dirty="0">
                          <a:effectLst/>
                        </a:rPr>
                        <a:t>2</a:t>
                      </a:r>
                      <a:endParaRPr lang="es-CO" sz="2000" noProof="0" dirty="0">
                        <a:effectLst/>
                        <a:latin typeface="Arial" panose="020B0604020202020204" pitchFamily="34" charset="0"/>
                        <a:ea typeface="Arial" panose="020B0604020202020204" pitchFamily="34" charset="0"/>
                      </a:endParaRPr>
                    </a:p>
                  </a:txBody>
                  <a:tcPr marL="50800" marR="50800" marT="25400" marB="25400"/>
                </a:tc>
                <a:tc>
                  <a:txBody>
                    <a:bodyPr/>
                    <a:lstStyle/>
                    <a:p>
                      <a:pPr algn="ctr">
                        <a:buNone/>
                      </a:pPr>
                      <a:r>
                        <a:rPr lang="es-CO" sz="2000" noProof="0" dirty="0">
                          <a:effectLst/>
                        </a:rPr>
                        <a:t>2</a:t>
                      </a:r>
                      <a:endParaRPr lang="es-CO" sz="2000" noProof="0" dirty="0">
                        <a:effectLst/>
                        <a:latin typeface="Arial" panose="020B0604020202020204" pitchFamily="34" charset="0"/>
                        <a:ea typeface="Arial" panose="020B0604020202020204" pitchFamily="34" charset="0"/>
                      </a:endParaRPr>
                    </a:p>
                  </a:txBody>
                  <a:tcPr marL="50800" marR="50800" marT="25400" marB="25400"/>
                </a:tc>
                <a:tc>
                  <a:txBody>
                    <a:bodyPr/>
                    <a:lstStyle/>
                    <a:p>
                      <a:pPr algn="ctr">
                        <a:buNone/>
                      </a:pPr>
                      <a:r>
                        <a:rPr lang="es-CO" sz="2000" noProof="0" dirty="0">
                          <a:effectLst/>
                        </a:rPr>
                        <a:t>0</a:t>
                      </a:r>
                      <a:endParaRPr lang="es-CO" sz="2000" noProof="0" dirty="0">
                        <a:effectLst/>
                        <a:latin typeface="Arial" panose="020B0604020202020204" pitchFamily="34" charset="0"/>
                        <a:ea typeface="Arial" panose="020B0604020202020204" pitchFamily="34" charset="0"/>
                      </a:endParaRPr>
                    </a:p>
                  </a:txBody>
                  <a:tcPr marL="50800" marR="50800" marT="25400" marB="25400"/>
                </a:tc>
                <a:extLst>
                  <a:ext uri="{0D108BD9-81ED-4DB2-BD59-A6C34878D82A}">
                    <a16:rowId xmlns:a16="http://schemas.microsoft.com/office/drawing/2014/main" val="1985581212"/>
                  </a:ext>
                </a:extLst>
              </a:tr>
              <a:tr h="499158">
                <a:tc>
                  <a:txBody>
                    <a:bodyPr/>
                    <a:lstStyle/>
                    <a:p>
                      <a:pPr>
                        <a:buNone/>
                      </a:pPr>
                      <a:r>
                        <a:rPr lang="es-CO" sz="2400" noProof="0" dirty="0">
                          <a:effectLst/>
                        </a:rPr>
                        <a:t>Valores atípicos</a:t>
                      </a:r>
                      <a:endParaRPr lang="es-CO" sz="3600" noProof="0" dirty="0">
                        <a:effectLst/>
                        <a:latin typeface="Arial" panose="020B0604020202020204" pitchFamily="34" charset="0"/>
                        <a:ea typeface="Arial" panose="020B0604020202020204" pitchFamily="34" charset="0"/>
                      </a:endParaRPr>
                    </a:p>
                  </a:txBody>
                  <a:tcPr marL="50800" marR="50800" marT="25400" marB="25400">
                    <a:solidFill>
                      <a:srgbClr val="9524AC"/>
                    </a:solidFill>
                  </a:tcPr>
                </a:tc>
                <a:tc>
                  <a:txBody>
                    <a:bodyPr/>
                    <a:lstStyle/>
                    <a:p>
                      <a:pPr algn="ctr">
                        <a:buNone/>
                      </a:pPr>
                      <a:r>
                        <a:rPr lang="es-CO" sz="2000" noProof="0" dirty="0">
                          <a:effectLst/>
                        </a:rPr>
                        <a:t>1</a:t>
                      </a:r>
                      <a:endParaRPr lang="es-CO" sz="2000" noProof="0" dirty="0">
                        <a:effectLst/>
                        <a:latin typeface="Arial" panose="020B0604020202020204" pitchFamily="34" charset="0"/>
                        <a:ea typeface="Arial" panose="020B0604020202020204" pitchFamily="34" charset="0"/>
                      </a:endParaRPr>
                    </a:p>
                  </a:txBody>
                  <a:tcPr marL="50800" marR="50800" marT="25400" marB="25400">
                    <a:solidFill>
                      <a:srgbClr val="D6F38D"/>
                    </a:solidFill>
                  </a:tcPr>
                </a:tc>
                <a:tc>
                  <a:txBody>
                    <a:bodyPr/>
                    <a:lstStyle/>
                    <a:p>
                      <a:pPr algn="ctr">
                        <a:buNone/>
                      </a:pPr>
                      <a:r>
                        <a:rPr lang="es-CO" sz="2000" noProof="0" dirty="0">
                          <a:effectLst/>
                        </a:rPr>
                        <a:t>1</a:t>
                      </a:r>
                      <a:endParaRPr lang="es-CO" sz="2000" noProof="0" dirty="0">
                        <a:effectLst/>
                        <a:latin typeface="Arial" panose="020B0604020202020204" pitchFamily="34" charset="0"/>
                        <a:ea typeface="Arial" panose="020B0604020202020204" pitchFamily="34" charset="0"/>
                      </a:endParaRPr>
                    </a:p>
                  </a:txBody>
                  <a:tcPr marL="50800" marR="50800" marT="25400" marB="25400">
                    <a:solidFill>
                      <a:srgbClr val="D6F38D"/>
                    </a:solidFill>
                  </a:tcPr>
                </a:tc>
                <a:tc>
                  <a:txBody>
                    <a:bodyPr/>
                    <a:lstStyle/>
                    <a:p>
                      <a:pPr algn="ctr">
                        <a:buNone/>
                      </a:pPr>
                      <a:r>
                        <a:rPr lang="es-CO" sz="2000" noProof="0" dirty="0">
                          <a:effectLst/>
                        </a:rPr>
                        <a:t>0</a:t>
                      </a:r>
                      <a:endParaRPr lang="es-CO" sz="2000" noProof="0" dirty="0">
                        <a:effectLst/>
                        <a:latin typeface="Arial" panose="020B0604020202020204" pitchFamily="34" charset="0"/>
                        <a:ea typeface="Arial" panose="020B0604020202020204" pitchFamily="34" charset="0"/>
                      </a:endParaRPr>
                    </a:p>
                  </a:txBody>
                  <a:tcPr marL="50800" marR="50800" marT="25400" marB="25400">
                    <a:solidFill>
                      <a:srgbClr val="D6F38D"/>
                    </a:solidFill>
                  </a:tcPr>
                </a:tc>
                <a:extLst>
                  <a:ext uri="{0D108BD9-81ED-4DB2-BD59-A6C34878D82A}">
                    <a16:rowId xmlns:a16="http://schemas.microsoft.com/office/drawing/2014/main" val="4166888239"/>
                  </a:ext>
                </a:extLst>
              </a:tr>
              <a:tr h="499158">
                <a:tc>
                  <a:txBody>
                    <a:bodyPr/>
                    <a:lstStyle/>
                    <a:p>
                      <a:pPr>
                        <a:buNone/>
                      </a:pPr>
                      <a:r>
                        <a:rPr lang="es-CO" sz="2400" noProof="0" dirty="0">
                          <a:effectLst/>
                        </a:rPr>
                        <a:t>Total</a:t>
                      </a:r>
                      <a:endParaRPr lang="es-CO" sz="3600" noProof="0" dirty="0">
                        <a:effectLst/>
                        <a:latin typeface="Arial" panose="020B0604020202020204" pitchFamily="34" charset="0"/>
                        <a:ea typeface="Arial" panose="020B0604020202020204" pitchFamily="34" charset="0"/>
                      </a:endParaRPr>
                    </a:p>
                  </a:txBody>
                  <a:tcPr marL="50800" marR="50800" marT="25400" marB="25400">
                    <a:solidFill>
                      <a:srgbClr val="9524AC"/>
                    </a:solidFill>
                  </a:tcPr>
                </a:tc>
                <a:tc>
                  <a:txBody>
                    <a:bodyPr/>
                    <a:lstStyle/>
                    <a:p>
                      <a:pPr algn="ctr">
                        <a:buNone/>
                      </a:pPr>
                      <a:r>
                        <a:rPr lang="es-CO" sz="2000" noProof="0" dirty="0">
                          <a:effectLst/>
                        </a:rPr>
                        <a:t>84</a:t>
                      </a:r>
                      <a:endParaRPr lang="es-CO" sz="2000" noProof="0" dirty="0">
                        <a:effectLst/>
                        <a:latin typeface="Arial" panose="020B0604020202020204" pitchFamily="34" charset="0"/>
                        <a:ea typeface="Arial" panose="020B0604020202020204" pitchFamily="34" charset="0"/>
                      </a:endParaRPr>
                    </a:p>
                  </a:txBody>
                  <a:tcPr marL="50800" marR="50800" marT="25400" marB="25400"/>
                </a:tc>
                <a:tc>
                  <a:txBody>
                    <a:bodyPr/>
                    <a:lstStyle/>
                    <a:p>
                      <a:pPr algn="ctr">
                        <a:buNone/>
                      </a:pPr>
                      <a:r>
                        <a:rPr lang="es-CO" sz="2000" noProof="0" dirty="0">
                          <a:effectLst/>
                        </a:rPr>
                        <a:t>84</a:t>
                      </a:r>
                      <a:endParaRPr lang="es-CO" sz="2000" noProof="0" dirty="0">
                        <a:effectLst/>
                        <a:latin typeface="Arial" panose="020B0604020202020204" pitchFamily="34" charset="0"/>
                        <a:ea typeface="Arial" panose="020B0604020202020204" pitchFamily="34" charset="0"/>
                      </a:endParaRPr>
                    </a:p>
                  </a:txBody>
                  <a:tcPr marL="50800" marR="50800" marT="25400" marB="25400"/>
                </a:tc>
                <a:tc>
                  <a:txBody>
                    <a:bodyPr/>
                    <a:lstStyle/>
                    <a:p>
                      <a:pPr algn="ctr">
                        <a:buNone/>
                      </a:pPr>
                      <a:r>
                        <a:rPr lang="es-CO" sz="2000" noProof="0" dirty="0">
                          <a:effectLst/>
                        </a:rPr>
                        <a:t>0</a:t>
                      </a:r>
                      <a:endParaRPr lang="es-CO" sz="2000" noProof="0" dirty="0">
                        <a:effectLst/>
                        <a:latin typeface="Arial" panose="020B0604020202020204" pitchFamily="34" charset="0"/>
                        <a:ea typeface="Arial" panose="020B0604020202020204" pitchFamily="34" charset="0"/>
                      </a:endParaRPr>
                    </a:p>
                  </a:txBody>
                  <a:tcPr marL="50800" marR="50800" marT="25400" marB="25400"/>
                </a:tc>
                <a:extLst>
                  <a:ext uri="{0D108BD9-81ED-4DB2-BD59-A6C34878D82A}">
                    <a16:rowId xmlns:a16="http://schemas.microsoft.com/office/drawing/2014/main" val="4237100674"/>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9524AC"/>
        </a:solidFill>
        <a:effectLst/>
      </p:bgPr>
    </p:bg>
    <p:spTree>
      <p:nvGrpSpPr>
        <p:cNvPr id="1" name=""/>
        <p:cNvGrpSpPr/>
        <p:nvPr/>
      </p:nvGrpSpPr>
      <p:grpSpPr>
        <a:xfrm>
          <a:off x="0" y="0"/>
          <a:ext cx="0" cy="0"/>
          <a:chOff x="0" y="0"/>
          <a:chExt cx="0" cy="0"/>
        </a:xfrm>
      </p:grpSpPr>
      <p:sp>
        <p:nvSpPr>
          <p:cNvPr id="2" name="Shape 0"/>
          <p:cNvSpPr/>
          <p:nvPr/>
        </p:nvSpPr>
        <p:spPr>
          <a:xfrm>
            <a:off x="1143000" y="838200"/>
            <a:ext cx="3807421" cy="419100"/>
          </a:xfrm>
          <a:prstGeom prst="roundRect">
            <a:avLst>
              <a:gd name="adj" fmla="val 50000"/>
            </a:avLst>
          </a:prstGeom>
          <a:solidFill>
            <a:srgbClr val="FFFFFF">
              <a:alpha val="14000"/>
            </a:srgbClr>
          </a:solidFill>
          <a:ln/>
        </p:spPr>
        <p:txBody>
          <a:bodyPr/>
          <a:lstStyle/>
          <a:p>
            <a:endParaRPr lang="es-CO" noProof="0" dirty="0"/>
          </a:p>
        </p:txBody>
      </p:sp>
      <p:sp>
        <p:nvSpPr>
          <p:cNvPr id="3" name="Text 1"/>
          <p:cNvSpPr/>
          <p:nvPr/>
        </p:nvSpPr>
        <p:spPr>
          <a:xfrm>
            <a:off x="1352550" y="933450"/>
            <a:ext cx="3502543" cy="266700"/>
          </a:xfrm>
          <a:prstGeom prst="rect">
            <a:avLst/>
          </a:prstGeom>
          <a:noFill/>
          <a:ln/>
        </p:spPr>
        <p:txBody>
          <a:bodyPr wrap="square" lIns="25400" tIns="25400" rIns="25400" bIns="25400" rtlCol="0" anchor="ctr">
            <a:normAutofit fontScale="77500" lnSpcReduction="20000"/>
          </a:bodyPr>
          <a:lstStyle/>
          <a:p>
            <a:pPr marL="0" indent="0" algn="l">
              <a:buNone/>
            </a:pPr>
            <a:r>
              <a:rPr lang="es-CO" sz="1350" b="1" kern="0" spc="81" noProof="0" dirty="0">
                <a:solidFill>
                  <a:srgbClr val="DDF28A"/>
                </a:solidFill>
                <a:latin typeface="Segoe UI" pitchFamily="34" charset="0"/>
                <a:ea typeface="Segoe UI" pitchFamily="34" charset="-122"/>
                <a:cs typeface="Segoe UI" pitchFamily="34" charset="-120"/>
              </a:rPr>
              <a:t>FASE 3 · VALIDACIÓN DEL CONJUNTO DE DATOS</a:t>
            </a:r>
            <a:endParaRPr lang="es-CO" sz="1350" noProof="0" dirty="0"/>
          </a:p>
        </p:txBody>
      </p:sp>
      <p:sp>
        <p:nvSpPr>
          <p:cNvPr id="4" name="Text 2"/>
          <p:cNvSpPr/>
          <p:nvPr/>
        </p:nvSpPr>
        <p:spPr>
          <a:xfrm>
            <a:off x="1143000" y="1619250"/>
            <a:ext cx="13620750" cy="698500"/>
          </a:xfrm>
          <a:prstGeom prst="rect">
            <a:avLst/>
          </a:prstGeom>
          <a:noFill/>
          <a:ln/>
        </p:spPr>
        <p:txBody>
          <a:bodyPr wrap="square" lIns="25400" tIns="25400" rIns="25400" bIns="25400" rtlCol="0" anchor="t">
            <a:normAutofit/>
          </a:bodyPr>
          <a:lstStyle/>
          <a:p>
            <a:pPr marL="0" indent="0" algn="l">
              <a:buNone/>
            </a:pPr>
            <a:r>
              <a:rPr lang="es-CO" sz="3900" b="1" noProof="0" dirty="0">
                <a:solidFill>
                  <a:srgbClr val="FFFFFF"/>
                </a:solidFill>
                <a:latin typeface="Segoe UI" pitchFamily="34" charset="0"/>
                <a:ea typeface="Segoe UI" pitchFamily="34" charset="-122"/>
                <a:cs typeface="Segoe UI" pitchFamily="34" charset="-120"/>
              </a:rPr>
              <a:t>Resultados del Script validador</a:t>
            </a:r>
            <a:endParaRPr lang="es-CO" sz="3900" noProof="0" dirty="0"/>
          </a:p>
        </p:txBody>
      </p:sp>
      <p:sp>
        <p:nvSpPr>
          <p:cNvPr id="5" name="Shape 3"/>
          <p:cNvSpPr/>
          <p:nvPr/>
        </p:nvSpPr>
        <p:spPr>
          <a:xfrm>
            <a:off x="1143000" y="3619500"/>
            <a:ext cx="4381500" cy="4000500"/>
          </a:xfrm>
          <a:prstGeom prst="roundRect">
            <a:avLst>
              <a:gd name="adj" fmla="val 7619"/>
            </a:avLst>
          </a:prstGeom>
          <a:solidFill>
            <a:srgbClr val="D6F38D"/>
          </a:solidFill>
          <a:ln/>
        </p:spPr>
        <p:txBody>
          <a:bodyPr/>
          <a:lstStyle/>
          <a:p>
            <a:endParaRPr lang="es-CO" noProof="0" dirty="0"/>
          </a:p>
        </p:txBody>
      </p:sp>
      <p:sp>
        <p:nvSpPr>
          <p:cNvPr id="6" name="Shape 4"/>
          <p:cNvSpPr/>
          <p:nvPr/>
        </p:nvSpPr>
        <p:spPr>
          <a:xfrm>
            <a:off x="1524000" y="4000500"/>
            <a:ext cx="419100" cy="419100"/>
          </a:xfrm>
          <a:prstGeom prst="roundRect">
            <a:avLst>
              <a:gd name="adj" fmla="val 27273"/>
            </a:avLst>
          </a:prstGeom>
          <a:solidFill>
            <a:srgbClr val="B7D81A"/>
          </a:solidFill>
          <a:ln/>
        </p:spPr>
        <p:txBody>
          <a:bodyPr/>
          <a:lstStyle/>
          <a:p>
            <a:endParaRPr lang="es-CO" noProof="0" dirty="0"/>
          </a:p>
        </p:txBody>
      </p:sp>
      <p:sp>
        <p:nvSpPr>
          <p:cNvPr id="7" name="Text 5"/>
          <p:cNvSpPr/>
          <p:nvPr/>
        </p:nvSpPr>
        <p:spPr>
          <a:xfrm>
            <a:off x="1524000" y="6146800"/>
            <a:ext cx="3981450" cy="850900"/>
          </a:xfrm>
          <a:prstGeom prst="rect">
            <a:avLst/>
          </a:prstGeom>
          <a:noFill/>
          <a:ln/>
        </p:spPr>
        <p:txBody>
          <a:bodyPr wrap="square" lIns="25400" tIns="25400" rIns="25400" bIns="25400" rtlCol="0" anchor="t">
            <a:normAutofit/>
          </a:bodyPr>
          <a:lstStyle/>
          <a:p>
            <a:pPr marL="0" indent="0" algn="l">
              <a:buNone/>
            </a:pPr>
            <a:r>
              <a:rPr lang="es-CO" sz="4800" b="1" noProof="0" dirty="0">
                <a:solidFill>
                  <a:srgbClr val="FFFFFF"/>
                </a:solidFill>
                <a:latin typeface="Segoe UI" pitchFamily="34" charset="0"/>
                <a:ea typeface="Segoe UI" pitchFamily="34" charset="-122"/>
                <a:cs typeface="Segoe UI" pitchFamily="34" charset="-120"/>
              </a:rPr>
              <a:t>84</a:t>
            </a:r>
            <a:endParaRPr lang="es-CO" sz="4800" noProof="0" dirty="0"/>
          </a:p>
        </p:txBody>
      </p:sp>
      <p:sp>
        <p:nvSpPr>
          <p:cNvPr id="8" name="Text 6"/>
          <p:cNvSpPr/>
          <p:nvPr/>
        </p:nvSpPr>
        <p:spPr>
          <a:xfrm>
            <a:off x="1524000" y="6959600"/>
            <a:ext cx="3981450" cy="317500"/>
          </a:xfrm>
          <a:prstGeom prst="rect">
            <a:avLst/>
          </a:prstGeom>
          <a:noFill/>
          <a:ln/>
        </p:spPr>
        <p:txBody>
          <a:bodyPr wrap="square" lIns="25400" tIns="25400" rIns="25400" bIns="25400" rtlCol="0" anchor="t">
            <a:normAutofit/>
          </a:bodyPr>
          <a:lstStyle/>
          <a:p>
            <a:pPr marL="0" indent="0" algn="l">
              <a:buNone/>
            </a:pPr>
            <a:r>
              <a:rPr lang="es-CO" sz="1650" noProof="0" dirty="0">
                <a:latin typeface="Segoe UI" pitchFamily="34" charset="0"/>
                <a:ea typeface="Segoe UI" pitchFamily="34" charset="-122"/>
                <a:cs typeface="Segoe UI" pitchFamily="34" charset="-120"/>
              </a:rPr>
              <a:t>verificaciones ejecutadas</a:t>
            </a:r>
            <a:endParaRPr lang="es-CO" sz="1650" noProof="0" dirty="0"/>
          </a:p>
        </p:txBody>
      </p:sp>
      <p:sp>
        <p:nvSpPr>
          <p:cNvPr id="9" name="Shape 7"/>
          <p:cNvSpPr/>
          <p:nvPr/>
        </p:nvSpPr>
        <p:spPr>
          <a:xfrm>
            <a:off x="5143500" y="3619500"/>
            <a:ext cx="4381500" cy="4000500"/>
          </a:xfrm>
          <a:prstGeom prst="roundRect">
            <a:avLst>
              <a:gd name="adj" fmla="val 7619"/>
            </a:avLst>
          </a:prstGeom>
          <a:solidFill>
            <a:schemeClr val="tx1">
              <a:lumMod val="65000"/>
              <a:lumOff val="35000"/>
            </a:schemeClr>
          </a:solidFill>
          <a:ln/>
        </p:spPr>
        <p:txBody>
          <a:bodyPr/>
          <a:lstStyle/>
          <a:p>
            <a:endParaRPr lang="es-CO" noProof="0" dirty="0"/>
          </a:p>
        </p:txBody>
      </p:sp>
      <p:sp>
        <p:nvSpPr>
          <p:cNvPr id="10" name="Shape 8"/>
          <p:cNvSpPr/>
          <p:nvPr/>
        </p:nvSpPr>
        <p:spPr>
          <a:xfrm>
            <a:off x="5524500" y="4000500"/>
            <a:ext cx="419100" cy="419100"/>
          </a:xfrm>
          <a:prstGeom prst="roundRect">
            <a:avLst>
              <a:gd name="adj" fmla="val 27273"/>
            </a:avLst>
          </a:prstGeom>
          <a:solidFill>
            <a:srgbClr val="A867B5"/>
          </a:solidFill>
          <a:ln/>
        </p:spPr>
        <p:txBody>
          <a:bodyPr/>
          <a:lstStyle/>
          <a:p>
            <a:endParaRPr lang="es-CO" noProof="0" dirty="0"/>
          </a:p>
        </p:txBody>
      </p:sp>
      <p:sp>
        <p:nvSpPr>
          <p:cNvPr id="11" name="Text 9"/>
          <p:cNvSpPr/>
          <p:nvPr/>
        </p:nvSpPr>
        <p:spPr>
          <a:xfrm>
            <a:off x="5524500" y="6146800"/>
            <a:ext cx="3981450" cy="850900"/>
          </a:xfrm>
          <a:prstGeom prst="rect">
            <a:avLst/>
          </a:prstGeom>
          <a:noFill/>
          <a:ln/>
        </p:spPr>
        <p:txBody>
          <a:bodyPr wrap="square" lIns="25400" tIns="25400" rIns="25400" bIns="25400" rtlCol="0" anchor="t">
            <a:normAutofit/>
          </a:bodyPr>
          <a:lstStyle/>
          <a:p>
            <a:pPr marL="0" indent="0" algn="l">
              <a:buNone/>
            </a:pPr>
            <a:r>
              <a:rPr lang="es-CO" sz="4800" b="1" noProof="0" dirty="0">
                <a:solidFill>
                  <a:srgbClr val="FFFFFF"/>
                </a:solidFill>
                <a:latin typeface="Segoe UI" pitchFamily="34" charset="0"/>
                <a:ea typeface="Segoe UI" pitchFamily="34" charset="-122"/>
                <a:cs typeface="Segoe UI" pitchFamily="34" charset="-120"/>
              </a:rPr>
              <a:t>84</a:t>
            </a:r>
            <a:endParaRPr lang="es-CO" sz="4800" noProof="0" dirty="0"/>
          </a:p>
        </p:txBody>
      </p:sp>
      <p:sp>
        <p:nvSpPr>
          <p:cNvPr id="12" name="Text 10"/>
          <p:cNvSpPr/>
          <p:nvPr/>
        </p:nvSpPr>
        <p:spPr>
          <a:xfrm>
            <a:off x="5524500" y="6959600"/>
            <a:ext cx="3981450" cy="317500"/>
          </a:xfrm>
          <a:prstGeom prst="rect">
            <a:avLst/>
          </a:prstGeom>
          <a:noFill/>
          <a:ln/>
        </p:spPr>
        <p:txBody>
          <a:bodyPr wrap="square" lIns="25400" tIns="25400" rIns="25400" bIns="25400" rtlCol="0" anchor="t">
            <a:normAutofit/>
          </a:bodyPr>
          <a:lstStyle/>
          <a:p>
            <a:pPr marL="0" indent="0" algn="l">
              <a:buNone/>
            </a:pPr>
            <a:r>
              <a:rPr lang="es-CO" sz="1650" noProof="0" dirty="0">
                <a:solidFill>
                  <a:srgbClr val="DDF28A"/>
                </a:solidFill>
                <a:latin typeface="Segoe UI" pitchFamily="34" charset="0"/>
                <a:ea typeface="Segoe UI" pitchFamily="34" charset="-122"/>
                <a:cs typeface="Segoe UI" pitchFamily="34" charset="-120"/>
              </a:rPr>
              <a:t>verificaciones superadas</a:t>
            </a:r>
            <a:endParaRPr lang="es-CO" sz="1650" noProof="0" dirty="0"/>
          </a:p>
        </p:txBody>
      </p:sp>
      <p:sp>
        <p:nvSpPr>
          <p:cNvPr id="13" name="Shape 11"/>
          <p:cNvSpPr/>
          <p:nvPr/>
        </p:nvSpPr>
        <p:spPr>
          <a:xfrm>
            <a:off x="9144000" y="3619500"/>
            <a:ext cx="4381500" cy="4000500"/>
          </a:xfrm>
          <a:prstGeom prst="roundRect">
            <a:avLst>
              <a:gd name="adj" fmla="val 7619"/>
            </a:avLst>
          </a:prstGeom>
          <a:solidFill>
            <a:schemeClr val="bg1">
              <a:lumMod val="75000"/>
            </a:schemeClr>
          </a:solidFill>
          <a:ln/>
        </p:spPr>
        <p:txBody>
          <a:bodyPr/>
          <a:lstStyle/>
          <a:p>
            <a:endParaRPr lang="es-CO" noProof="0" dirty="0"/>
          </a:p>
        </p:txBody>
      </p:sp>
      <p:sp>
        <p:nvSpPr>
          <p:cNvPr id="14" name="Shape 12"/>
          <p:cNvSpPr/>
          <p:nvPr/>
        </p:nvSpPr>
        <p:spPr>
          <a:xfrm>
            <a:off x="9525000" y="4000500"/>
            <a:ext cx="419100" cy="419100"/>
          </a:xfrm>
          <a:prstGeom prst="roundRect">
            <a:avLst>
              <a:gd name="adj" fmla="val 27273"/>
            </a:avLst>
          </a:prstGeom>
          <a:solidFill>
            <a:srgbClr val="DDF28A"/>
          </a:solidFill>
          <a:ln/>
        </p:spPr>
        <p:txBody>
          <a:bodyPr/>
          <a:lstStyle/>
          <a:p>
            <a:endParaRPr lang="es-CO" noProof="0" dirty="0"/>
          </a:p>
        </p:txBody>
      </p:sp>
      <p:sp>
        <p:nvSpPr>
          <p:cNvPr id="15" name="Text 13"/>
          <p:cNvSpPr/>
          <p:nvPr/>
        </p:nvSpPr>
        <p:spPr>
          <a:xfrm>
            <a:off x="9525000" y="6146800"/>
            <a:ext cx="3981450" cy="850900"/>
          </a:xfrm>
          <a:prstGeom prst="rect">
            <a:avLst/>
          </a:prstGeom>
          <a:noFill/>
          <a:ln/>
        </p:spPr>
        <p:txBody>
          <a:bodyPr wrap="square" lIns="25400" tIns="25400" rIns="25400" bIns="25400" rtlCol="0" anchor="t">
            <a:normAutofit/>
          </a:bodyPr>
          <a:lstStyle/>
          <a:p>
            <a:pPr marL="0" indent="0" algn="l">
              <a:buNone/>
            </a:pPr>
            <a:r>
              <a:rPr lang="es-CO" sz="4800" b="1" noProof="0" dirty="0">
                <a:solidFill>
                  <a:srgbClr val="FFFFFF"/>
                </a:solidFill>
                <a:latin typeface="Segoe UI" pitchFamily="34" charset="0"/>
                <a:ea typeface="Segoe UI" pitchFamily="34" charset="-122"/>
                <a:cs typeface="Segoe UI" pitchFamily="34" charset="-120"/>
              </a:rPr>
              <a:t>0</a:t>
            </a:r>
            <a:endParaRPr lang="es-CO" sz="4800" noProof="0" dirty="0"/>
          </a:p>
        </p:txBody>
      </p:sp>
      <p:sp>
        <p:nvSpPr>
          <p:cNvPr id="16" name="Text 14"/>
          <p:cNvSpPr/>
          <p:nvPr/>
        </p:nvSpPr>
        <p:spPr>
          <a:xfrm>
            <a:off x="9525000" y="6959600"/>
            <a:ext cx="3981450" cy="317500"/>
          </a:xfrm>
          <a:prstGeom prst="rect">
            <a:avLst/>
          </a:prstGeom>
          <a:noFill/>
          <a:ln/>
        </p:spPr>
        <p:txBody>
          <a:bodyPr wrap="square" lIns="25400" tIns="25400" rIns="25400" bIns="25400" rtlCol="0" anchor="t">
            <a:normAutofit/>
          </a:bodyPr>
          <a:lstStyle/>
          <a:p>
            <a:pPr marL="0" indent="0" algn="l">
              <a:buNone/>
            </a:pPr>
            <a:r>
              <a:rPr lang="es-CO" sz="1650" noProof="0" dirty="0">
                <a:solidFill>
                  <a:srgbClr val="DDF28A"/>
                </a:solidFill>
                <a:latin typeface="Segoe UI" pitchFamily="34" charset="0"/>
                <a:ea typeface="Segoe UI" pitchFamily="34" charset="-122"/>
                <a:cs typeface="Segoe UI" pitchFamily="34" charset="-120"/>
              </a:rPr>
              <a:t>hallazgos críticos</a:t>
            </a:r>
            <a:endParaRPr lang="es-CO" sz="1650" noProof="0" dirty="0"/>
          </a:p>
        </p:txBody>
      </p:sp>
      <p:sp>
        <p:nvSpPr>
          <p:cNvPr id="17" name="Shape 15"/>
          <p:cNvSpPr/>
          <p:nvPr/>
        </p:nvSpPr>
        <p:spPr>
          <a:xfrm>
            <a:off x="13144500" y="3619500"/>
            <a:ext cx="4762500" cy="4000500"/>
          </a:xfrm>
          <a:prstGeom prst="roundRect">
            <a:avLst>
              <a:gd name="adj" fmla="val 7619"/>
            </a:avLst>
          </a:prstGeom>
          <a:solidFill>
            <a:srgbClr val="B7D81A"/>
          </a:solidFill>
          <a:ln/>
        </p:spPr>
        <p:txBody>
          <a:bodyPr/>
          <a:lstStyle/>
          <a:p>
            <a:endParaRPr lang="es-CO" noProof="0" dirty="0"/>
          </a:p>
        </p:txBody>
      </p:sp>
      <p:sp>
        <p:nvSpPr>
          <p:cNvPr id="18" name="Shape 16"/>
          <p:cNvSpPr/>
          <p:nvPr/>
        </p:nvSpPr>
        <p:spPr>
          <a:xfrm>
            <a:off x="13525500" y="4000500"/>
            <a:ext cx="419100" cy="419100"/>
          </a:xfrm>
          <a:prstGeom prst="roundRect">
            <a:avLst>
              <a:gd name="adj" fmla="val 27273"/>
            </a:avLst>
          </a:prstGeom>
          <a:solidFill>
            <a:srgbClr val="FFFFFF"/>
          </a:solidFill>
          <a:ln/>
        </p:spPr>
        <p:txBody>
          <a:bodyPr/>
          <a:lstStyle/>
          <a:p>
            <a:endParaRPr lang="es-CO" noProof="0" dirty="0"/>
          </a:p>
        </p:txBody>
      </p:sp>
      <p:sp>
        <p:nvSpPr>
          <p:cNvPr id="19" name="Text 17"/>
          <p:cNvSpPr/>
          <p:nvPr/>
        </p:nvSpPr>
        <p:spPr>
          <a:xfrm>
            <a:off x="13525500" y="6146800"/>
            <a:ext cx="4400550" cy="850900"/>
          </a:xfrm>
          <a:prstGeom prst="rect">
            <a:avLst/>
          </a:prstGeom>
          <a:noFill/>
          <a:ln/>
        </p:spPr>
        <p:txBody>
          <a:bodyPr wrap="square" lIns="25400" tIns="25400" rIns="25400" bIns="25400" rtlCol="0" anchor="t">
            <a:normAutofit/>
          </a:bodyPr>
          <a:lstStyle/>
          <a:p>
            <a:pPr marL="0" indent="0" algn="l">
              <a:buNone/>
            </a:pPr>
            <a:r>
              <a:rPr lang="es-CO" sz="4800" b="1" noProof="0" dirty="0">
                <a:solidFill>
                  <a:srgbClr val="3D3D3D"/>
                </a:solidFill>
                <a:latin typeface="Segoe UI" pitchFamily="34" charset="0"/>
                <a:ea typeface="Segoe UI" pitchFamily="34" charset="-122"/>
                <a:cs typeface="Segoe UI" pitchFamily="34" charset="-120"/>
              </a:rPr>
              <a:t>APTO</a:t>
            </a:r>
            <a:endParaRPr lang="es-CO" sz="4800" noProof="0" dirty="0"/>
          </a:p>
        </p:txBody>
      </p:sp>
      <p:sp>
        <p:nvSpPr>
          <p:cNvPr id="20" name="Text 18"/>
          <p:cNvSpPr/>
          <p:nvPr/>
        </p:nvSpPr>
        <p:spPr>
          <a:xfrm>
            <a:off x="13525500" y="6959600"/>
            <a:ext cx="4400550" cy="317500"/>
          </a:xfrm>
          <a:prstGeom prst="rect">
            <a:avLst/>
          </a:prstGeom>
          <a:noFill/>
          <a:ln/>
        </p:spPr>
        <p:txBody>
          <a:bodyPr wrap="square" lIns="25400" tIns="25400" rIns="25400" bIns="25400" rtlCol="0" anchor="t">
            <a:normAutofit/>
          </a:bodyPr>
          <a:lstStyle/>
          <a:p>
            <a:pPr marL="0" indent="0" algn="l">
              <a:buNone/>
            </a:pPr>
            <a:r>
              <a:rPr lang="es-CO" sz="1650" noProof="0" dirty="0">
                <a:solidFill>
                  <a:srgbClr val="3D3D3D"/>
                </a:solidFill>
                <a:latin typeface="Segoe UI" pitchFamily="34" charset="0"/>
                <a:ea typeface="Segoe UI" pitchFamily="34" charset="-122"/>
                <a:cs typeface="Segoe UI" pitchFamily="34" charset="-120"/>
              </a:rPr>
              <a:t>dictamen: apto para modelar</a:t>
            </a:r>
            <a:endParaRPr lang="es-CO" sz="1650" noProof="0" dirty="0"/>
          </a:p>
        </p:txBody>
      </p:sp>
      <p:sp>
        <p:nvSpPr>
          <p:cNvPr id="21" name="Text 19"/>
          <p:cNvSpPr/>
          <p:nvPr/>
        </p:nvSpPr>
        <p:spPr>
          <a:xfrm>
            <a:off x="1143000" y="9525000"/>
            <a:ext cx="5412720" cy="266700"/>
          </a:xfrm>
          <a:prstGeom prst="rect">
            <a:avLst/>
          </a:prstGeom>
          <a:noFill/>
          <a:ln/>
        </p:spPr>
        <p:txBody>
          <a:bodyPr wrap="square" lIns="25400" tIns="25400" rIns="25400" bIns="25400" rtlCol="0" anchor="t">
            <a:normAutofit/>
          </a:bodyPr>
          <a:lstStyle/>
          <a:p>
            <a:pPr marL="0" indent="0" algn="l">
              <a:buNone/>
            </a:pPr>
            <a:r>
              <a:rPr lang="es-CO" sz="1350" noProof="0" dirty="0">
                <a:solidFill>
                  <a:srgbClr val="DDF28A"/>
                </a:solidFill>
                <a:latin typeface="Segoe UI" pitchFamily="34" charset="0"/>
                <a:ea typeface="Segoe UI" pitchFamily="34" charset="-122"/>
                <a:cs typeface="Segoe UI" pitchFamily="34" charset="-120"/>
              </a:rPr>
              <a:t>UTS · Cartilla de aprendizaje — Gestión Inteligente de Inventarios</a:t>
            </a:r>
            <a:endParaRPr lang="es-CO" sz="1350" noProof="0" dirty="0"/>
          </a:p>
        </p:txBody>
      </p:sp>
      <p:sp>
        <p:nvSpPr>
          <p:cNvPr id="22" name="Shape 20"/>
          <p:cNvSpPr/>
          <p:nvPr/>
        </p:nvSpPr>
        <p:spPr>
          <a:xfrm>
            <a:off x="16725900" y="9410700"/>
            <a:ext cx="419100" cy="419100"/>
          </a:xfrm>
          <a:prstGeom prst="ellipse">
            <a:avLst/>
          </a:prstGeom>
          <a:solidFill>
            <a:srgbClr val="FFFFFF"/>
          </a:solidFill>
          <a:ln/>
        </p:spPr>
        <p:txBody>
          <a:bodyPr/>
          <a:lstStyle/>
          <a:p>
            <a:endParaRPr lang="es-CO" noProof="0" dirty="0"/>
          </a:p>
        </p:txBody>
      </p:sp>
      <p:sp>
        <p:nvSpPr>
          <p:cNvPr id="23" name="Text 21"/>
          <p:cNvSpPr/>
          <p:nvPr/>
        </p:nvSpPr>
        <p:spPr>
          <a:xfrm>
            <a:off x="16687800" y="9410700"/>
            <a:ext cx="495300" cy="457200"/>
          </a:xfrm>
          <a:prstGeom prst="rect">
            <a:avLst/>
          </a:prstGeom>
          <a:noFill/>
          <a:ln/>
        </p:spPr>
        <p:txBody>
          <a:bodyPr wrap="square" lIns="25400" tIns="25400" rIns="25400" bIns="25400" rtlCol="0" anchor="ctr">
            <a:normAutofit/>
          </a:bodyPr>
          <a:lstStyle/>
          <a:p>
            <a:pPr marL="0" indent="0" algn="ctr">
              <a:buNone/>
            </a:pPr>
            <a:r>
              <a:rPr lang="es-CO" sz="1500" b="1" noProof="0" dirty="0">
                <a:solidFill>
                  <a:srgbClr val="7E2C8C"/>
                </a:solidFill>
                <a:latin typeface="Segoe UI" pitchFamily="34" charset="0"/>
                <a:ea typeface="Segoe UI" pitchFamily="34" charset="-122"/>
                <a:cs typeface="Segoe UI" pitchFamily="34" charset="-120"/>
              </a:rPr>
              <a:t>19</a:t>
            </a:r>
            <a:endParaRPr lang="es-CO" sz="1500" noProof="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B38DB6-991D-AF9C-8B53-D281714475AB}"/>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C99CD161-B3C5-8E75-F742-888F0490F927}"/>
              </a:ext>
            </a:extLst>
          </p:cNvPr>
          <p:cNvSpPr/>
          <p:nvPr/>
        </p:nvSpPr>
        <p:spPr>
          <a:xfrm>
            <a:off x="1143000" y="1619250"/>
            <a:ext cx="10791825" cy="1358900"/>
          </a:xfrm>
          <a:prstGeom prst="rect">
            <a:avLst/>
          </a:prstGeom>
          <a:noFill/>
          <a:ln/>
        </p:spPr>
        <p:txBody>
          <a:bodyPr wrap="square" lIns="25400" tIns="25400" rIns="25400" bIns="25400" rtlCol="0" anchor="t">
            <a:normAutofit/>
          </a:bodyPr>
          <a:lstStyle/>
          <a:p>
            <a:pPr marL="0" indent="0" algn="l">
              <a:buNone/>
            </a:pPr>
            <a:r>
              <a:rPr lang="es-CO" sz="3900" b="1" noProof="0" dirty="0">
                <a:solidFill>
                  <a:srgbClr val="3D3D3D"/>
                </a:solidFill>
                <a:latin typeface="Segoe UI" pitchFamily="34" charset="0"/>
                <a:ea typeface="Segoe UI" pitchFamily="34" charset="-122"/>
                <a:cs typeface="Segoe UI" pitchFamily="34" charset="-120"/>
              </a:rPr>
              <a:t>Ejercicio 2 — Interpretar un hallazgo de validación</a:t>
            </a:r>
            <a:endParaRPr lang="es-CO" sz="3900" noProof="0" dirty="0"/>
          </a:p>
        </p:txBody>
      </p:sp>
      <p:sp>
        <p:nvSpPr>
          <p:cNvPr id="5" name="Text 3">
            <a:extLst>
              <a:ext uri="{FF2B5EF4-FFF2-40B4-BE49-F238E27FC236}">
                <a16:creationId xmlns:a16="http://schemas.microsoft.com/office/drawing/2014/main" id="{FDE4980A-C2C2-875F-A0AC-5DCC7DB2B1A2}"/>
              </a:ext>
            </a:extLst>
          </p:cNvPr>
          <p:cNvSpPr/>
          <p:nvPr/>
        </p:nvSpPr>
        <p:spPr>
          <a:xfrm>
            <a:off x="1143000" y="3048000"/>
            <a:ext cx="9614535" cy="2781300"/>
          </a:xfrm>
          <a:prstGeom prst="rect">
            <a:avLst/>
          </a:prstGeom>
          <a:noFill/>
          <a:ln/>
        </p:spPr>
        <p:txBody>
          <a:bodyPr wrap="square" lIns="25400" tIns="25400" rIns="25400" bIns="25400" rtlCol="0" anchor="t">
            <a:normAutofit/>
          </a:bodyPr>
          <a:lstStyle/>
          <a:p>
            <a:pPr marL="0" indent="0" algn="l">
              <a:lnSpc>
                <a:spcPct val="120000"/>
              </a:lnSpc>
              <a:buNone/>
            </a:pPr>
            <a:r>
              <a:rPr lang="es-CO" sz="2250" noProof="0" dirty="0">
                <a:solidFill>
                  <a:srgbClr val="3D3D3D"/>
                </a:solidFill>
                <a:latin typeface="Segoe UI" pitchFamily="34" charset="0"/>
                <a:ea typeface="Segoe UI" pitchFamily="34" charset="-122"/>
                <a:cs typeface="Segoe UI" pitchFamily="34" charset="-120"/>
              </a:rPr>
              <a:t>Ejecute </a:t>
            </a:r>
            <a:r>
              <a:rPr lang="es-CO" sz="2250" noProof="0" dirty="0" err="1">
                <a:solidFill>
                  <a:srgbClr val="3D3D3D"/>
                </a:solidFill>
                <a:latin typeface="Segoe UI" pitchFamily="34" charset="0"/>
                <a:ea typeface="Segoe UI" pitchFamily="34" charset="-122"/>
                <a:cs typeface="Segoe UI" pitchFamily="34" charset="-120"/>
              </a:rPr>
              <a:t>validar_dataset.R</a:t>
            </a:r>
            <a:r>
              <a:rPr lang="es-CO" sz="2250" noProof="0" dirty="0">
                <a:solidFill>
                  <a:srgbClr val="3D3D3D"/>
                </a:solidFill>
                <a:latin typeface="Segoe UI" pitchFamily="34" charset="0"/>
                <a:ea typeface="Segoe UI" pitchFamily="34" charset="-122"/>
                <a:cs typeface="Segoe UI" pitchFamily="34" charset="-120"/>
              </a:rPr>
              <a:t> sobre el conjunto de datos. Elija tres verificaciones de dimensiones distintas (identidades contables, política de inventario, coherencia temporal) y explique qué error concreto detectarían si fallaran.</a:t>
            </a:r>
            <a:endParaRPr lang="es-CO" sz="2250" noProof="0" dirty="0"/>
          </a:p>
        </p:txBody>
      </p:sp>
      <p:sp>
        <p:nvSpPr>
          <p:cNvPr id="6" name="Shape 4">
            <a:extLst>
              <a:ext uri="{FF2B5EF4-FFF2-40B4-BE49-F238E27FC236}">
                <a16:creationId xmlns:a16="http://schemas.microsoft.com/office/drawing/2014/main" id="{19539279-2CBD-F78E-0B5E-3C5AF47CFEE5}"/>
              </a:ext>
            </a:extLst>
          </p:cNvPr>
          <p:cNvSpPr/>
          <p:nvPr/>
        </p:nvSpPr>
        <p:spPr>
          <a:xfrm>
            <a:off x="12382500" y="3048000"/>
            <a:ext cx="4762500" cy="3430073"/>
          </a:xfrm>
          <a:prstGeom prst="roundRect">
            <a:avLst>
              <a:gd name="adj" fmla="val 10180"/>
            </a:avLst>
          </a:prstGeom>
          <a:solidFill>
            <a:srgbClr val="F4FADF"/>
          </a:solidFill>
          <a:ln/>
        </p:spPr>
        <p:txBody>
          <a:bodyPr/>
          <a:lstStyle/>
          <a:p>
            <a:endParaRPr lang="es-CO" noProof="0" dirty="0"/>
          </a:p>
        </p:txBody>
      </p:sp>
      <p:sp>
        <p:nvSpPr>
          <p:cNvPr id="7" name="Shape 5">
            <a:extLst>
              <a:ext uri="{FF2B5EF4-FFF2-40B4-BE49-F238E27FC236}">
                <a16:creationId xmlns:a16="http://schemas.microsoft.com/office/drawing/2014/main" id="{D461528A-A7B2-2FFF-AF58-A9A001FE71DE}"/>
              </a:ext>
            </a:extLst>
          </p:cNvPr>
          <p:cNvSpPr/>
          <p:nvPr/>
        </p:nvSpPr>
        <p:spPr>
          <a:xfrm>
            <a:off x="12763500" y="3429000"/>
            <a:ext cx="495300" cy="495300"/>
          </a:xfrm>
          <a:prstGeom prst="roundRect">
            <a:avLst>
              <a:gd name="adj" fmla="val 30769"/>
            </a:avLst>
          </a:prstGeom>
          <a:solidFill>
            <a:srgbClr val="B7D81A"/>
          </a:solidFill>
          <a:ln/>
        </p:spPr>
        <p:txBody>
          <a:bodyPr/>
          <a:lstStyle/>
          <a:p>
            <a:endParaRPr lang="es-CO" noProof="0" dirty="0"/>
          </a:p>
        </p:txBody>
      </p:sp>
      <p:sp>
        <p:nvSpPr>
          <p:cNvPr id="8" name="Text 6">
            <a:extLst>
              <a:ext uri="{FF2B5EF4-FFF2-40B4-BE49-F238E27FC236}">
                <a16:creationId xmlns:a16="http://schemas.microsoft.com/office/drawing/2014/main" id="{8286C86C-85E1-141A-A9D0-8A2DC0AC1416}"/>
              </a:ext>
            </a:extLst>
          </p:cNvPr>
          <p:cNvSpPr/>
          <p:nvPr/>
        </p:nvSpPr>
        <p:spPr>
          <a:xfrm>
            <a:off x="12763500" y="4152900"/>
            <a:ext cx="4400550" cy="317500"/>
          </a:xfrm>
          <a:prstGeom prst="rect">
            <a:avLst/>
          </a:prstGeom>
          <a:noFill/>
          <a:ln/>
        </p:spPr>
        <p:txBody>
          <a:bodyPr wrap="square" lIns="25400" tIns="25400" rIns="25400" bIns="25400" rtlCol="0" anchor="t">
            <a:normAutofit/>
          </a:bodyPr>
          <a:lstStyle/>
          <a:p>
            <a:pPr marL="0" indent="0" algn="l">
              <a:buNone/>
            </a:pPr>
            <a:r>
              <a:rPr lang="es-CO" sz="1650" b="1" noProof="0" dirty="0">
                <a:solidFill>
                  <a:srgbClr val="7E2C8C"/>
                </a:solidFill>
                <a:latin typeface="Segoe UI" pitchFamily="34" charset="0"/>
                <a:ea typeface="Segoe UI" pitchFamily="34" charset="-122"/>
                <a:cs typeface="Segoe UI" pitchFamily="34" charset="-120"/>
              </a:rPr>
              <a:t>Pista</a:t>
            </a:r>
            <a:endParaRPr lang="es-CO" sz="1650" noProof="0" dirty="0"/>
          </a:p>
        </p:txBody>
      </p:sp>
      <p:sp>
        <p:nvSpPr>
          <p:cNvPr id="9" name="Text 7">
            <a:extLst>
              <a:ext uri="{FF2B5EF4-FFF2-40B4-BE49-F238E27FC236}">
                <a16:creationId xmlns:a16="http://schemas.microsoft.com/office/drawing/2014/main" id="{4CD7E4C8-601A-3A00-35F1-854A0DB35EA0}"/>
              </a:ext>
            </a:extLst>
          </p:cNvPr>
          <p:cNvSpPr/>
          <p:nvPr/>
        </p:nvSpPr>
        <p:spPr>
          <a:xfrm>
            <a:off x="12763500" y="4546600"/>
            <a:ext cx="4120515" cy="1152525"/>
          </a:xfrm>
          <a:prstGeom prst="rect">
            <a:avLst/>
          </a:prstGeom>
          <a:noFill/>
          <a:ln/>
        </p:spPr>
        <p:txBody>
          <a:bodyPr wrap="square" lIns="25400" tIns="25400" rIns="25400" bIns="25400" rtlCol="0" anchor="t">
            <a:normAutofit fontScale="85000" lnSpcReduction="10000"/>
          </a:bodyPr>
          <a:lstStyle/>
          <a:p>
            <a:pPr marL="0" indent="0" algn="l">
              <a:lnSpc>
                <a:spcPct val="112500"/>
              </a:lnSpc>
              <a:buNone/>
            </a:pPr>
            <a:r>
              <a:rPr lang="es-CO" sz="1950" noProof="0" dirty="0">
                <a:solidFill>
                  <a:srgbClr val="3D3D3D"/>
                </a:solidFill>
                <a:latin typeface="Segoe UI" pitchFamily="34" charset="0"/>
                <a:ea typeface="Segoe UI" pitchFamily="34" charset="-122"/>
                <a:cs typeface="Segoe UI" pitchFamily="34" charset="-120"/>
              </a:rPr>
              <a:t>Por ejemplo: si '</a:t>
            </a:r>
            <a:r>
              <a:rPr lang="es-CO" sz="1950" noProof="0" dirty="0" err="1">
                <a:solidFill>
                  <a:srgbClr val="3D3D3D"/>
                </a:solidFill>
                <a:latin typeface="Segoe UI" pitchFamily="34" charset="0"/>
                <a:ea typeface="Segoe UI" pitchFamily="34" charset="-122"/>
                <a:cs typeface="Segoe UI" pitchFamily="34" charset="-120"/>
              </a:rPr>
              <a:t>inv_inicial</a:t>
            </a:r>
            <a:r>
              <a:rPr lang="es-CO" sz="1950" noProof="0" dirty="0">
                <a:solidFill>
                  <a:srgbClr val="3D3D3D"/>
                </a:solidFill>
                <a:latin typeface="Segoe UI" pitchFamily="34" charset="0"/>
                <a:ea typeface="Segoe UI" pitchFamily="34" charset="-122"/>
                <a:cs typeface="Segoe UI" pitchFamily="34" charset="-120"/>
              </a:rPr>
              <a:t>(t) = </a:t>
            </a:r>
            <a:r>
              <a:rPr lang="es-CO" sz="1950" noProof="0" dirty="0" err="1">
                <a:solidFill>
                  <a:srgbClr val="3D3D3D"/>
                </a:solidFill>
                <a:latin typeface="Segoe UI" pitchFamily="34" charset="0"/>
                <a:ea typeface="Segoe UI" pitchFamily="34" charset="-122"/>
                <a:cs typeface="Segoe UI" pitchFamily="34" charset="-120"/>
              </a:rPr>
              <a:t>inv_final</a:t>
            </a:r>
            <a:r>
              <a:rPr lang="es-CO" sz="1950" noProof="0" dirty="0">
                <a:solidFill>
                  <a:srgbClr val="3D3D3D"/>
                </a:solidFill>
                <a:latin typeface="Segoe UI" pitchFamily="34" charset="0"/>
                <a:ea typeface="Segoe UI" pitchFamily="34" charset="-122"/>
                <a:cs typeface="Segoe UI" pitchFamily="34" charset="-120"/>
              </a:rPr>
              <a:t>(t-1)' fallara, significaría que el inventario no se está transfiriendo correctamente entre semanas consecutivas para ese SKU.</a:t>
            </a:r>
            <a:endParaRPr lang="es-CO" sz="1950" noProof="0" dirty="0"/>
          </a:p>
        </p:txBody>
      </p:sp>
      <p:sp>
        <p:nvSpPr>
          <p:cNvPr id="10" name="Text 8">
            <a:extLst>
              <a:ext uri="{FF2B5EF4-FFF2-40B4-BE49-F238E27FC236}">
                <a16:creationId xmlns:a16="http://schemas.microsoft.com/office/drawing/2014/main" id="{78E40CDA-B0FF-3724-8B22-EB95E4002E66}"/>
              </a:ext>
            </a:extLst>
          </p:cNvPr>
          <p:cNvSpPr/>
          <p:nvPr/>
        </p:nvSpPr>
        <p:spPr>
          <a:xfrm>
            <a:off x="1143000" y="9525000"/>
            <a:ext cx="5412720" cy="266700"/>
          </a:xfrm>
          <a:prstGeom prst="rect">
            <a:avLst/>
          </a:prstGeom>
          <a:noFill/>
          <a:ln/>
        </p:spPr>
        <p:txBody>
          <a:bodyPr wrap="square" lIns="25400" tIns="25400" rIns="25400" bIns="25400" rtlCol="0" anchor="t">
            <a:normAutofit/>
          </a:bodyPr>
          <a:lstStyle/>
          <a:p>
            <a:pPr marL="0" indent="0" algn="l">
              <a:buNone/>
            </a:pPr>
            <a:r>
              <a:rPr lang="es-CO" sz="1350" noProof="0" dirty="0">
                <a:solidFill>
                  <a:srgbClr val="6F6F6F"/>
                </a:solidFill>
                <a:latin typeface="Segoe UI" pitchFamily="34" charset="0"/>
                <a:ea typeface="Segoe UI" pitchFamily="34" charset="-122"/>
                <a:cs typeface="Segoe UI" pitchFamily="34" charset="-120"/>
              </a:rPr>
              <a:t>UTS · Cartilla de aprendizaje — Gestión Inteligente de Inventarios</a:t>
            </a:r>
            <a:endParaRPr lang="es-CO" sz="1350" noProof="0" dirty="0"/>
          </a:p>
        </p:txBody>
      </p:sp>
      <p:sp>
        <p:nvSpPr>
          <p:cNvPr id="11" name="Shape 9">
            <a:extLst>
              <a:ext uri="{FF2B5EF4-FFF2-40B4-BE49-F238E27FC236}">
                <a16:creationId xmlns:a16="http://schemas.microsoft.com/office/drawing/2014/main" id="{07261A0A-3F91-F84D-2D09-CE7627542C18}"/>
              </a:ext>
            </a:extLst>
          </p:cNvPr>
          <p:cNvSpPr/>
          <p:nvPr/>
        </p:nvSpPr>
        <p:spPr>
          <a:xfrm>
            <a:off x="16725900" y="9410700"/>
            <a:ext cx="419100" cy="419100"/>
          </a:xfrm>
          <a:prstGeom prst="ellipse">
            <a:avLst/>
          </a:prstGeom>
          <a:solidFill>
            <a:srgbClr val="7E2C8C"/>
          </a:solidFill>
          <a:ln/>
        </p:spPr>
        <p:txBody>
          <a:bodyPr/>
          <a:lstStyle/>
          <a:p>
            <a:endParaRPr lang="es-CO" noProof="0" dirty="0"/>
          </a:p>
        </p:txBody>
      </p:sp>
      <p:sp>
        <p:nvSpPr>
          <p:cNvPr id="12" name="Text 10">
            <a:extLst>
              <a:ext uri="{FF2B5EF4-FFF2-40B4-BE49-F238E27FC236}">
                <a16:creationId xmlns:a16="http://schemas.microsoft.com/office/drawing/2014/main" id="{66230B20-3E40-7FF5-2D74-FACDFDBCEA66}"/>
              </a:ext>
            </a:extLst>
          </p:cNvPr>
          <p:cNvSpPr/>
          <p:nvPr/>
        </p:nvSpPr>
        <p:spPr>
          <a:xfrm>
            <a:off x="16687800" y="9410700"/>
            <a:ext cx="495300" cy="457200"/>
          </a:xfrm>
          <a:prstGeom prst="rect">
            <a:avLst/>
          </a:prstGeom>
          <a:noFill/>
          <a:ln/>
        </p:spPr>
        <p:txBody>
          <a:bodyPr wrap="square" lIns="25400" tIns="25400" rIns="25400" bIns="25400" rtlCol="0" anchor="ctr">
            <a:normAutofit/>
          </a:bodyPr>
          <a:lstStyle/>
          <a:p>
            <a:pPr marL="0" indent="0" algn="ctr">
              <a:buNone/>
            </a:pPr>
            <a:r>
              <a:rPr lang="es-CO" sz="1500" b="1" noProof="0" dirty="0">
                <a:solidFill>
                  <a:srgbClr val="FFFFFF"/>
                </a:solidFill>
                <a:latin typeface="Segoe UI" pitchFamily="34" charset="0"/>
                <a:cs typeface="Segoe UI" pitchFamily="34" charset="-120"/>
              </a:rPr>
              <a:t>20</a:t>
            </a:r>
            <a:endParaRPr lang="es-CO" sz="1500" noProof="0" dirty="0"/>
          </a:p>
        </p:txBody>
      </p:sp>
      <p:sp>
        <p:nvSpPr>
          <p:cNvPr id="14" name="Shape 0">
            <a:extLst>
              <a:ext uri="{FF2B5EF4-FFF2-40B4-BE49-F238E27FC236}">
                <a16:creationId xmlns:a16="http://schemas.microsoft.com/office/drawing/2014/main" id="{652CB769-299E-104B-21C8-AEBA9983E42E}"/>
              </a:ext>
            </a:extLst>
          </p:cNvPr>
          <p:cNvSpPr/>
          <p:nvPr/>
        </p:nvSpPr>
        <p:spPr>
          <a:xfrm>
            <a:off x="1143000" y="781050"/>
            <a:ext cx="5077496" cy="419100"/>
          </a:xfrm>
          <a:prstGeom prst="roundRect">
            <a:avLst>
              <a:gd name="adj" fmla="val 50000"/>
            </a:avLst>
          </a:prstGeom>
          <a:solidFill>
            <a:srgbClr val="F4FADF"/>
          </a:solidFill>
          <a:ln/>
        </p:spPr>
        <p:txBody>
          <a:bodyPr/>
          <a:lstStyle/>
          <a:p>
            <a:endParaRPr lang="es-CO" noProof="0" dirty="0"/>
          </a:p>
        </p:txBody>
      </p:sp>
      <p:sp>
        <p:nvSpPr>
          <p:cNvPr id="16" name="Text 1">
            <a:extLst>
              <a:ext uri="{FF2B5EF4-FFF2-40B4-BE49-F238E27FC236}">
                <a16:creationId xmlns:a16="http://schemas.microsoft.com/office/drawing/2014/main" id="{01D03C9E-4E83-817B-CF94-7002C98CD0CA}"/>
              </a:ext>
            </a:extLst>
          </p:cNvPr>
          <p:cNvSpPr/>
          <p:nvPr/>
        </p:nvSpPr>
        <p:spPr>
          <a:xfrm>
            <a:off x="1352550" y="876300"/>
            <a:ext cx="5203170" cy="266700"/>
          </a:xfrm>
          <a:prstGeom prst="rect">
            <a:avLst/>
          </a:prstGeom>
          <a:noFill/>
          <a:ln/>
        </p:spPr>
        <p:txBody>
          <a:bodyPr wrap="square" lIns="25400" tIns="25400" rIns="25400" bIns="25400" rtlCol="0" anchor="ctr">
            <a:normAutofit/>
          </a:bodyPr>
          <a:lstStyle/>
          <a:p>
            <a:pPr marL="0" indent="0" algn="l">
              <a:buNone/>
            </a:pPr>
            <a:r>
              <a:rPr lang="es-CO" sz="1350" b="1" kern="0" spc="81" noProof="0" dirty="0">
                <a:solidFill>
                  <a:srgbClr val="7E2C8C"/>
                </a:solidFill>
                <a:latin typeface="Segoe UI" pitchFamily="34" charset="0"/>
                <a:ea typeface="Segoe UI" pitchFamily="34" charset="-122"/>
                <a:cs typeface="Segoe UI" pitchFamily="34" charset="-120"/>
              </a:rPr>
              <a:t>FASE 3 · VALIDACIÓN DEL CONJUNTO DE DATOS</a:t>
            </a:r>
            <a:endParaRPr lang="es-CO" sz="1350" noProof="0" dirty="0"/>
          </a:p>
        </p:txBody>
      </p:sp>
    </p:spTree>
    <p:extLst>
      <p:ext uri="{BB962C8B-B14F-4D97-AF65-F5344CB8AC3E}">
        <p14:creationId xmlns:p14="http://schemas.microsoft.com/office/powerpoint/2010/main" val="40683600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52AE08-2559-8C5F-1283-438B32D4EE15}"/>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37336E64-CF05-B8CB-C575-B03C65CF5071}"/>
              </a:ext>
            </a:extLst>
          </p:cNvPr>
          <p:cNvSpPr/>
          <p:nvPr/>
        </p:nvSpPr>
        <p:spPr>
          <a:xfrm>
            <a:off x="1143000" y="1619250"/>
            <a:ext cx="10791825" cy="723900"/>
          </a:xfrm>
          <a:prstGeom prst="rect">
            <a:avLst/>
          </a:prstGeom>
          <a:noFill/>
          <a:ln/>
        </p:spPr>
        <p:txBody>
          <a:bodyPr wrap="square" lIns="25400" tIns="25400" rIns="25400" bIns="25400" rtlCol="0" anchor="t">
            <a:normAutofit/>
          </a:bodyPr>
          <a:lstStyle/>
          <a:p>
            <a:pPr marL="0" indent="0" algn="l">
              <a:buNone/>
            </a:pPr>
            <a:r>
              <a:rPr lang="es-CO" sz="3900" b="1" noProof="0" dirty="0">
                <a:solidFill>
                  <a:srgbClr val="3D3D3D"/>
                </a:solidFill>
                <a:latin typeface="Segoe UI" pitchFamily="34" charset="0"/>
                <a:ea typeface="Segoe UI" pitchFamily="34" charset="-122"/>
                <a:cs typeface="Segoe UI" pitchFamily="34" charset="-120"/>
              </a:rPr>
              <a:t>Construcción del modelo predictivo</a:t>
            </a:r>
            <a:endParaRPr lang="es-CO" sz="3900" noProof="0" dirty="0"/>
          </a:p>
        </p:txBody>
      </p:sp>
      <p:sp>
        <p:nvSpPr>
          <p:cNvPr id="10" name="Text 8">
            <a:extLst>
              <a:ext uri="{FF2B5EF4-FFF2-40B4-BE49-F238E27FC236}">
                <a16:creationId xmlns:a16="http://schemas.microsoft.com/office/drawing/2014/main" id="{9FF2C04F-7F17-3C60-3E01-9AADD16A97CF}"/>
              </a:ext>
            </a:extLst>
          </p:cNvPr>
          <p:cNvSpPr/>
          <p:nvPr/>
        </p:nvSpPr>
        <p:spPr>
          <a:xfrm>
            <a:off x="1143000" y="9525000"/>
            <a:ext cx="5412720" cy="266700"/>
          </a:xfrm>
          <a:prstGeom prst="rect">
            <a:avLst/>
          </a:prstGeom>
          <a:noFill/>
          <a:ln/>
        </p:spPr>
        <p:txBody>
          <a:bodyPr wrap="square" lIns="25400" tIns="25400" rIns="25400" bIns="25400" rtlCol="0" anchor="t">
            <a:normAutofit/>
          </a:bodyPr>
          <a:lstStyle/>
          <a:p>
            <a:pPr marL="0" indent="0" algn="l">
              <a:buNone/>
            </a:pPr>
            <a:r>
              <a:rPr lang="es-CO" sz="1350" noProof="0" dirty="0">
                <a:solidFill>
                  <a:srgbClr val="6F6F6F"/>
                </a:solidFill>
                <a:latin typeface="Segoe UI" pitchFamily="34" charset="0"/>
                <a:ea typeface="Segoe UI" pitchFamily="34" charset="-122"/>
                <a:cs typeface="Segoe UI" pitchFamily="34" charset="-120"/>
              </a:rPr>
              <a:t>UTS · Cartilla de aprendizaje — Gestión Inteligente de Inventarios</a:t>
            </a:r>
            <a:endParaRPr lang="es-CO" sz="1350" noProof="0" dirty="0"/>
          </a:p>
        </p:txBody>
      </p:sp>
      <p:sp>
        <p:nvSpPr>
          <p:cNvPr id="11" name="Shape 9">
            <a:extLst>
              <a:ext uri="{FF2B5EF4-FFF2-40B4-BE49-F238E27FC236}">
                <a16:creationId xmlns:a16="http://schemas.microsoft.com/office/drawing/2014/main" id="{C2FC574E-B44C-55FB-D2A7-B9506A625A79}"/>
              </a:ext>
            </a:extLst>
          </p:cNvPr>
          <p:cNvSpPr/>
          <p:nvPr/>
        </p:nvSpPr>
        <p:spPr>
          <a:xfrm>
            <a:off x="16725900" y="9410700"/>
            <a:ext cx="419100" cy="419100"/>
          </a:xfrm>
          <a:prstGeom prst="ellipse">
            <a:avLst/>
          </a:prstGeom>
          <a:solidFill>
            <a:srgbClr val="7E2C8C"/>
          </a:solidFill>
          <a:ln/>
        </p:spPr>
        <p:txBody>
          <a:bodyPr/>
          <a:lstStyle/>
          <a:p>
            <a:endParaRPr lang="es-CO" noProof="0" dirty="0"/>
          </a:p>
        </p:txBody>
      </p:sp>
      <p:sp>
        <p:nvSpPr>
          <p:cNvPr id="12" name="Text 10">
            <a:extLst>
              <a:ext uri="{FF2B5EF4-FFF2-40B4-BE49-F238E27FC236}">
                <a16:creationId xmlns:a16="http://schemas.microsoft.com/office/drawing/2014/main" id="{261F9A27-C534-FB34-A712-3CD53816D2A4}"/>
              </a:ext>
            </a:extLst>
          </p:cNvPr>
          <p:cNvSpPr/>
          <p:nvPr/>
        </p:nvSpPr>
        <p:spPr>
          <a:xfrm>
            <a:off x="16687800" y="9410700"/>
            <a:ext cx="495300" cy="457200"/>
          </a:xfrm>
          <a:prstGeom prst="rect">
            <a:avLst/>
          </a:prstGeom>
          <a:noFill/>
          <a:ln/>
        </p:spPr>
        <p:txBody>
          <a:bodyPr wrap="square" lIns="25400" tIns="25400" rIns="25400" bIns="25400" rtlCol="0" anchor="ctr">
            <a:normAutofit/>
          </a:bodyPr>
          <a:lstStyle/>
          <a:p>
            <a:pPr marL="0" indent="0" algn="ctr">
              <a:buNone/>
            </a:pPr>
            <a:r>
              <a:rPr lang="es-CO" sz="1500" b="1" noProof="0" dirty="0">
                <a:solidFill>
                  <a:srgbClr val="FFFFFF"/>
                </a:solidFill>
                <a:latin typeface="Segoe UI" pitchFamily="34" charset="0"/>
                <a:cs typeface="Segoe UI" pitchFamily="34" charset="-120"/>
              </a:rPr>
              <a:t>21</a:t>
            </a:r>
            <a:endParaRPr lang="es-CO" sz="1500" noProof="0" dirty="0"/>
          </a:p>
        </p:txBody>
      </p:sp>
      <p:graphicFrame>
        <p:nvGraphicFramePr>
          <p:cNvPr id="2" name="Tabla 1">
            <a:extLst>
              <a:ext uri="{FF2B5EF4-FFF2-40B4-BE49-F238E27FC236}">
                <a16:creationId xmlns:a16="http://schemas.microsoft.com/office/drawing/2014/main" id="{13B848A4-5E28-70C4-D3D3-94A6ABD9E62D}"/>
              </a:ext>
            </a:extLst>
          </p:cNvPr>
          <p:cNvGraphicFramePr>
            <a:graphicFrameLocks noGrp="1"/>
          </p:cNvGraphicFramePr>
          <p:nvPr>
            <p:extLst>
              <p:ext uri="{D42A27DB-BD31-4B8C-83A1-F6EECF244321}">
                <p14:modId xmlns:p14="http://schemas.microsoft.com/office/powerpoint/2010/main" val="2495656435"/>
              </p:ext>
            </p:extLst>
          </p:nvPr>
        </p:nvGraphicFramePr>
        <p:xfrm>
          <a:off x="3295650" y="3634373"/>
          <a:ext cx="11506200" cy="5394960"/>
        </p:xfrm>
        <a:graphic>
          <a:graphicData uri="http://schemas.openxmlformats.org/drawingml/2006/table">
            <a:tbl>
              <a:tblPr>
                <a:tableStyleId>{2D5ABB26-0587-4C30-8999-92F81FD0307C}</a:tableStyleId>
              </a:tblPr>
              <a:tblGrid>
                <a:gridCol w="3835400">
                  <a:extLst>
                    <a:ext uri="{9D8B030D-6E8A-4147-A177-3AD203B41FA5}">
                      <a16:colId xmlns:a16="http://schemas.microsoft.com/office/drawing/2014/main" val="1388065106"/>
                    </a:ext>
                  </a:extLst>
                </a:gridCol>
                <a:gridCol w="3835400">
                  <a:extLst>
                    <a:ext uri="{9D8B030D-6E8A-4147-A177-3AD203B41FA5}">
                      <a16:colId xmlns:a16="http://schemas.microsoft.com/office/drawing/2014/main" val="3878464226"/>
                    </a:ext>
                  </a:extLst>
                </a:gridCol>
                <a:gridCol w="3835400">
                  <a:extLst>
                    <a:ext uri="{9D8B030D-6E8A-4147-A177-3AD203B41FA5}">
                      <a16:colId xmlns:a16="http://schemas.microsoft.com/office/drawing/2014/main" val="618740936"/>
                    </a:ext>
                  </a:extLst>
                </a:gridCol>
              </a:tblGrid>
              <a:tr h="0">
                <a:tc>
                  <a:txBody>
                    <a:bodyPr/>
                    <a:lstStyle/>
                    <a:p>
                      <a:pPr algn="ctr">
                        <a:buNone/>
                      </a:pPr>
                      <a:r>
                        <a:rPr lang="es-CO" sz="2400" noProof="0" dirty="0">
                          <a:solidFill>
                            <a:schemeClr val="bg1"/>
                          </a:solidFill>
                        </a:rPr>
                        <a:t>Bloque</a:t>
                      </a:r>
                    </a:p>
                  </a:txBody>
                  <a:tcPr anchor="ctr">
                    <a:lnL w="12700" cap="flat" cmpd="sng" algn="ctr">
                      <a:solidFill>
                        <a:srgbClr val="9524AC"/>
                      </a:solidFill>
                      <a:prstDash val="solid"/>
                      <a:round/>
                      <a:headEnd type="none" w="med" len="med"/>
                      <a:tailEnd type="none" w="med" len="med"/>
                    </a:lnL>
                    <a:lnR w="12700" cap="flat" cmpd="sng" algn="ctr">
                      <a:solidFill>
                        <a:srgbClr val="9524AC"/>
                      </a:solidFill>
                      <a:prstDash val="solid"/>
                      <a:round/>
                      <a:headEnd type="none" w="med" len="med"/>
                      <a:tailEnd type="none" w="med" len="med"/>
                    </a:lnR>
                    <a:lnT w="12700" cap="flat" cmpd="sng" algn="ctr">
                      <a:solidFill>
                        <a:srgbClr val="9524AC"/>
                      </a:solidFill>
                      <a:prstDash val="solid"/>
                      <a:round/>
                      <a:headEnd type="none" w="med" len="med"/>
                      <a:tailEnd type="none" w="med" len="med"/>
                    </a:lnT>
                    <a:lnB w="12700" cap="flat" cmpd="sng" algn="ctr">
                      <a:solidFill>
                        <a:srgbClr val="9524AC"/>
                      </a:solidFill>
                      <a:prstDash val="solid"/>
                      <a:round/>
                      <a:headEnd type="none" w="med" len="med"/>
                      <a:tailEnd type="none" w="med" len="med"/>
                    </a:lnB>
                    <a:solidFill>
                      <a:srgbClr val="9524AC"/>
                    </a:solidFill>
                  </a:tcPr>
                </a:tc>
                <a:tc>
                  <a:txBody>
                    <a:bodyPr/>
                    <a:lstStyle/>
                    <a:p>
                      <a:pPr algn="ctr">
                        <a:buNone/>
                      </a:pPr>
                      <a:r>
                        <a:rPr lang="es-CO" sz="2400" noProof="0" dirty="0">
                          <a:solidFill>
                            <a:schemeClr val="bg1"/>
                          </a:solidFill>
                        </a:rPr>
                        <a:t>¿Qué se hizo?</a:t>
                      </a:r>
                    </a:p>
                  </a:txBody>
                  <a:tcPr anchor="ctr">
                    <a:lnL w="12700" cap="flat" cmpd="sng" algn="ctr">
                      <a:solidFill>
                        <a:srgbClr val="9524AC"/>
                      </a:solidFill>
                      <a:prstDash val="solid"/>
                      <a:round/>
                      <a:headEnd type="none" w="med" len="med"/>
                      <a:tailEnd type="none" w="med" len="med"/>
                    </a:lnL>
                    <a:lnR w="12700" cap="flat" cmpd="sng" algn="ctr">
                      <a:solidFill>
                        <a:srgbClr val="9524AC"/>
                      </a:solidFill>
                      <a:prstDash val="solid"/>
                      <a:round/>
                      <a:headEnd type="none" w="med" len="med"/>
                      <a:tailEnd type="none" w="med" len="med"/>
                    </a:lnR>
                    <a:lnT w="12700" cap="flat" cmpd="sng" algn="ctr">
                      <a:solidFill>
                        <a:srgbClr val="9524AC"/>
                      </a:solidFill>
                      <a:prstDash val="solid"/>
                      <a:round/>
                      <a:headEnd type="none" w="med" len="med"/>
                      <a:tailEnd type="none" w="med" len="med"/>
                    </a:lnT>
                    <a:lnB w="12700" cap="flat" cmpd="sng" algn="ctr">
                      <a:solidFill>
                        <a:srgbClr val="9524AC"/>
                      </a:solidFill>
                      <a:prstDash val="solid"/>
                      <a:round/>
                      <a:headEnd type="none" w="med" len="med"/>
                      <a:tailEnd type="none" w="med" len="med"/>
                    </a:lnB>
                    <a:solidFill>
                      <a:srgbClr val="9524AC"/>
                    </a:solidFill>
                  </a:tcPr>
                </a:tc>
                <a:tc>
                  <a:txBody>
                    <a:bodyPr/>
                    <a:lstStyle/>
                    <a:p>
                      <a:pPr algn="ctr">
                        <a:buNone/>
                      </a:pPr>
                      <a:r>
                        <a:rPr lang="es-CO" sz="2400" noProof="0" dirty="0">
                          <a:solidFill>
                            <a:schemeClr val="bg1"/>
                          </a:solidFill>
                        </a:rPr>
                        <a:t>¿Para qué sirvió?</a:t>
                      </a:r>
                    </a:p>
                  </a:txBody>
                  <a:tcPr anchor="ctr">
                    <a:lnL w="12700" cap="flat" cmpd="sng" algn="ctr">
                      <a:solidFill>
                        <a:srgbClr val="9524AC"/>
                      </a:solidFill>
                      <a:prstDash val="solid"/>
                      <a:round/>
                      <a:headEnd type="none" w="med" len="med"/>
                      <a:tailEnd type="none" w="med" len="med"/>
                    </a:lnL>
                    <a:lnR w="12700" cap="flat" cmpd="sng" algn="ctr">
                      <a:solidFill>
                        <a:srgbClr val="9524AC"/>
                      </a:solidFill>
                      <a:prstDash val="solid"/>
                      <a:round/>
                      <a:headEnd type="none" w="med" len="med"/>
                      <a:tailEnd type="none" w="med" len="med"/>
                    </a:lnR>
                    <a:lnT w="12700" cap="flat" cmpd="sng" algn="ctr">
                      <a:solidFill>
                        <a:srgbClr val="9524AC"/>
                      </a:solidFill>
                      <a:prstDash val="solid"/>
                      <a:round/>
                      <a:headEnd type="none" w="med" len="med"/>
                      <a:tailEnd type="none" w="med" len="med"/>
                    </a:lnT>
                    <a:lnB w="12700" cap="flat" cmpd="sng" algn="ctr">
                      <a:solidFill>
                        <a:srgbClr val="9524AC"/>
                      </a:solidFill>
                      <a:prstDash val="solid"/>
                      <a:round/>
                      <a:headEnd type="none" w="med" len="med"/>
                      <a:tailEnd type="none" w="med" len="med"/>
                    </a:lnB>
                    <a:solidFill>
                      <a:srgbClr val="9524AC"/>
                    </a:solidFill>
                  </a:tcPr>
                </a:tc>
                <a:extLst>
                  <a:ext uri="{0D108BD9-81ED-4DB2-BD59-A6C34878D82A}">
                    <a16:rowId xmlns:a16="http://schemas.microsoft.com/office/drawing/2014/main" val="3393683781"/>
                  </a:ext>
                </a:extLst>
              </a:tr>
              <a:tr h="0">
                <a:tc>
                  <a:txBody>
                    <a:bodyPr/>
                    <a:lstStyle/>
                    <a:p>
                      <a:pPr>
                        <a:buNone/>
                      </a:pPr>
                      <a:r>
                        <a:rPr lang="es-CO" b="1" noProof="0" dirty="0"/>
                        <a:t>1. Preparación</a:t>
                      </a:r>
                      <a:endParaRPr lang="es-CO" noProof="0" dirty="0"/>
                    </a:p>
                  </a:txBody>
                  <a:tcPr anchor="ctr">
                    <a:lnL w="12700" cap="flat" cmpd="sng" algn="ctr">
                      <a:solidFill>
                        <a:srgbClr val="9524AC"/>
                      </a:solidFill>
                      <a:prstDash val="solid"/>
                      <a:round/>
                      <a:headEnd type="none" w="med" len="med"/>
                      <a:tailEnd type="none" w="med" len="med"/>
                    </a:lnL>
                    <a:lnR w="12700" cap="flat" cmpd="sng" algn="ctr">
                      <a:solidFill>
                        <a:srgbClr val="9524AC"/>
                      </a:solidFill>
                      <a:prstDash val="solid"/>
                      <a:round/>
                      <a:headEnd type="none" w="med" len="med"/>
                      <a:tailEnd type="none" w="med" len="med"/>
                    </a:lnR>
                    <a:lnT w="12700" cap="flat" cmpd="sng" algn="ctr">
                      <a:solidFill>
                        <a:srgbClr val="9524AC"/>
                      </a:solidFill>
                      <a:prstDash val="solid"/>
                      <a:round/>
                      <a:headEnd type="none" w="med" len="med"/>
                      <a:tailEnd type="none" w="med" len="med"/>
                    </a:lnT>
                    <a:lnB w="12700" cap="flat" cmpd="sng" algn="ctr">
                      <a:solidFill>
                        <a:srgbClr val="9524AC"/>
                      </a:solidFill>
                      <a:prstDash val="solid"/>
                      <a:round/>
                      <a:headEnd type="none" w="med" len="med"/>
                      <a:tailEnd type="none" w="med" len="med"/>
                    </a:lnB>
                  </a:tcPr>
                </a:tc>
                <a:tc>
                  <a:txBody>
                    <a:bodyPr/>
                    <a:lstStyle/>
                    <a:p>
                      <a:pPr>
                        <a:buNone/>
                      </a:pPr>
                      <a:r>
                        <a:rPr lang="es-CO" noProof="0" dirty="0"/>
                        <a:t>Se construyó la matriz de predictores y se dividieron los datos en entrenamiento y validación.</a:t>
                      </a:r>
                    </a:p>
                  </a:txBody>
                  <a:tcPr anchor="ctr">
                    <a:lnL w="12700" cap="flat" cmpd="sng" algn="ctr">
                      <a:solidFill>
                        <a:srgbClr val="9524AC"/>
                      </a:solidFill>
                      <a:prstDash val="solid"/>
                      <a:round/>
                      <a:headEnd type="none" w="med" len="med"/>
                      <a:tailEnd type="none" w="med" len="med"/>
                    </a:lnL>
                    <a:lnR w="12700" cap="flat" cmpd="sng" algn="ctr">
                      <a:solidFill>
                        <a:srgbClr val="9524AC"/>
                      </a:solidFill>
                      <a:prstDash val="solid"/>
                      <a:round/>
                      <a:headEnd type="none" w="med" len="med"/>
                      <a:tailEnd type="none" w="med" len="med"/>
                    </a:lnR>
                    <a:lnT w="12700" cap="flat" cmpd="sng" algn="ctr">
                      <a:solidFill>
                        <a:srgbClr val="9524AC"/>
                      </a:solidFill>
                      <a:prstDash val="solid"/>
                      <a:round/>
                      <a:headEnd type="none" w="med" len="med"/>
                      <a:tailEnd type="none" w="med" len="med"/>
                    </a:lnT>
                    <a:lnB w="12700" cap="flat" cmpd="sng" algn="ctr">
                      <a:solidFill>
                        <a:srgbClr val="9524AC"/>
                      </a:solidFill>
                      <a:prstDash val="solid"/>
                      <a:round/>
                      <a:headEnd type="none" w="med" len="med"/>
                      <a:tailEnd type="none" w="med" len="med"/>
                    </a:lnB>
                  </a:tcPr>
                </a:tc>
                <a:tc>
                  <a:txBody>
                    <a:bodyPr/>
                    <a:lstStyle/>
                    <a:p>
                      <a:pPr>
                        <a:buNone/>
                      </a:pPr>
                      <a:r>
                        <a:rPr lang="es-CO" noProof="0" dirty="0"/>
                        <a:t>Garantizar que los modelos aprendieran únicamente con información histórica.</a:t>
                      </a:r>
                    </a:p>
                  </a:txBody>
                  <a:tcPr anchor="ctr">
                    <a:lnL w="12700" cap="flat" cmpd="sng" algn="ctr">
                      <a:solidFill>
                        <a:srgbClr val="9524AC"/>
                      </a:solidFill>
                      <a:prstDash val="solid"/>
                      <a:round/>
                      <a:headEnd type="none" w="med" len="med"/>
                      <a:tailEnd type="none" w="med" len="med"/>
                    </a:lnL>
                    <a:lnR w="12700" cap="flat" cmpd="sng" algn="ctr">
                      <a:solidFill>
                        <a:srgbClr val="9524AC"/>
                      </a:solidFill>
                      <a:prstDash val="solid"/>
                      <a:round/>
                      <a:headEnd type="none" w="med" len="med"/>
                      <a:tailEnd type="none" w="med" len="med"/>
                    </a:lnR>
                    <a:lnT w="12700" cap="flat" cmpd="sng" algn="ctr">
                      <a:solidFill>
                        <a:srgbClr val="9524AC"/>
                      </a:solidFill>
                      <a:prstDash val="solid"/>
                      <a:round/>
                      <a:headEnd type="none" w="med" len="med"/>
                      <a:tailEnd type="none" w="med" len="med"/>
                    </a:lnT>
                    <a:lnB w="12700" cap="flat" cmpd="sng" algn="ctr">
                      <a:solidFill>
                        <a:srgbClr val="9524AC"/>
                      </a:solidFill>
                      <a:prstDash val="solid"/>
                      <a:round/>
                      <a:headEnd type="none" w="med" len="med"/>
                      <a:tailEnd type="none" w="med" len="med"/>
                    </a:lnB>
                  </a:tcPr>
                </a:tc>
                <a:extLst>
                  <a:ext uri="{0D108BD9-81ED-4DB2-BD59-A6C34878D82A}">
                    <a16:rowId xmlns:a16="http://schemas.microsoft.com/office/drawing/2014/main" val="3052069114"/>
                  </a:ext>
                </a:extLst>
              </a:tr>
              <a:tr h="0">
                <a:tc>
                  <a:txBody>
                    <a:bodyPr/>
                    <a:lstStyle/>
                    <a:p>
                      <a:pPr>
                        <a:buNone/>
                      </a:pPr>
                      <a:r>
                        <a:rPr lang="es-CO" b="1" noProof="0" dirty="0"/>
                        <a:t>2. Regresión Lineal Múltiple (MLR)</a:t>
                      </a:r>
                      <a:endParaRPr lang="es-CO" noProof="0" dirty="0"/>
                    </a:p>
                  </a:txBody>
                  <a:tcPr anchor="ctr">
                    <a:lnL w="12700" cap="flat" cmpd="sng" algn="ctr">
                      <a:solidFill>
                        <a:srgbClr val="9524AC"/>
                      </a:solidFill>
                      <a:prstDash val="solid"/>
                      <a:round/>
                      <a:headEnd type="none" w="med" len="med"/>
                      <a:tailEnd type="none" w="med" len="med"/>
                    </a:lnL>
                    <a:lnR w="12700" cap="flat" cmpd="sng" algn="ctr">
                      <a:solidFill>
                        <a:srgbClr val="9524AC"/>
                      </a:solidFill>
                      <a:prstDash val="solid"/>
                      <a:round/>
                      <a:headEnd type="none" w="med" len="med"/>
                      <a:tailEnd type="none" w="med" len="med"/>
                    </a:lnR>
                    <a:lnT w="12700" cap="flat" cmpd="sng" algn="ctr">
                      <a:solidFill>
                        <a:srgbClr val="9524AC"/>
                      </a:solidFill>
                      <a:prstDash val="solid"/>
                      <a:round/>
                      <a:headEnd type="none" w="med" len="med"/>
                      <a:tailEnd type="none" w="med" len="med"/>
                    </a:lnT>
                    <a:lnB w="12700" cap="flat" cmpd="sng" algn="ctr">
                      <a:solidFill>
                        <a:srgbClr val="9524AC"/>
                      </a:solidFill>
                      <a:prstDash val="solid"/>
                      <a:round/>
                      <a:headEnd type="none" w="med" len="med"/>
                      <a:tailEnd type="none" w="med" len="med"/>
                    </a:lnB>
                  </a:tcPr>
                </a:tc>
                <a:tc>
                  <a:txBody>
                    <a:bodyPr/>
                    <a:lstStyle/>
                    <a:p>
                      <a:pPr>
                        <a:buNone/>
                      </a:pPr>
                      <a:r>
                        <a:rPr lang="es-CO" noProof="0" dirty="0"/>
                        <a:t>Se entrenó un modelo de regresión utilizando las variables predictoras más relevantes.</a:t>
                      </a:r>
                    </a:p>
                  </a:txBody>
                  <a:tcPr anchor="ctr">
                    <a:lnL w="12700" cap="flat" cmpd="sng" algn="ctr">
                      <a:solidFill>
                        <a:srgbClr val="9524AC"/>
                      </a:solidFill>
                      <a:prstDash val="solid"/>
                      <a:round/>
                      <a:headEnd type="none" w="med" len="med"/>
                      <a:tailEnd type="none" w="med" len="med"/>
                    </a:lnL>
                    <a:lnR w="12700" cap="flat" cmpd="sng" algn="ctr">
                      <a:solidFill>
                        <a:srgbClr val="9524AC"/>
                      </a:solidFill>
                      <a:prstDash val="solid"/>
                      <a:round/>
                      <a:headEnd type="none" w="med" len="med"/>
                      <a:tailEnd type="none" w="med" len="med"/>
                    </a:lnR>
                    <a:lnT w="12700" cap="flat" cmpd="sng" algn="ctr">
                      <a:solidFill>
                        <a:srgbClr val="9524AC"/>
                      </a:solidFill>
                      <a:prstDash val="solid"/>
                      <a:round/>
                      <a:headEnd type="none" w="med" len="med"/>
                      <a:tailEnd type="none" w="med" len="med"/>
                    </a:lnT>
                    <a:lnB w="12700" cap="flat" cmpd="sng" algn="ctr">
                      <a:solidFill>
                        <a:srgbClr val="9524AC"/>
                      </a:solidFill>
                      <a:prstDash val="solid"/>
                      <a:round/>
                      <a:headEnd type="none" w="med" len="med"/>
                      <a:tailEnd type="none" w="med" len="med"/>
                    </a:lnB>
                  </a:tcPr>
                </a:tc>
                <a:tc>
                  <a:txBody>
                    <a:bodyPr/>
                    <a:lstStyle/>
                    <a:p>
                      <a:pPr>
                        <a:buNone/>
                      </a:pPr>
                      <a:r>
                        <a:rPr lang="es-CO" noProof="0" dirty="0"/>
                        <a:t>Obtener un modelo base para predecir la demanda semanal.</a:t>
                      </a:r>
                    </a:p>
                  </a:txBody>
                  <a:tcPr anchor="ctr">
                    <a:lnL w="12700" cap="flat" cmpd="sng" algn="ctr">
                      <a:solidFill>
                        <a:srgbClr val="9524AC"/>
                      </a:solidFill>
                      <a:prstDash val="solid"/>
                      <a:round/>
                      <a:headEnd type="none" w="med" len="med"/>
                      <a:tailEnd type="none" w="med" len="med"/>
                    </a:lnL>
                    <a:lnR w="12700" cap="flat" cmpd="sng" algn="ctr">
                      <a:solidFill>
                        <a:srgbClr val="9524AC"/>
                      </a:solidFill>
                      <a:prstDash val="solid"/>
                      <a:round/>
                      <a:headEnd type="none" w="med" len="med"/>
                      <a:tailEnd type="none" w="med" len="med"/>
                    </a:lnR>
                    <a:lnT w="12700" cap="flat" cmpd="sng" algn="ctr">
                      <a:solidFill>
                        <a:srgbClr val="9524AC"/>
                      </a:solidFill>
                      <a:prstDash val="solid"/>
                      <a:round/>
                      <a:headEnd type="none" w="med" len="med"/>
                      <a:tailEnd type="none" w="med" len="med"/>
                    </a:lnT>
                    <a:lnB w="12700" cap="flat" cmpd="sng" algn="ctr">
                      <a:solidFill>
                        <a:srgbClr val="9524AC"/>
                      </a:solidFill>
                      <a:prstDash val="solid"/>
                      <a:round/>
                      <a:headEnd type="none" w="med" len="med"/>
                      <a:tailEnd type="none" w="med" len="med"/>
                    </a:lnB>
                  </a:tcPr>
                </a:tc>
                <a:extLst>
                  <a:ext uri="{0D108BD9-81ED-4DB2-BD59-A6C34878D82A}">
                    <a16:rowId xmlns:a16="http://schemas.microsoft.com/office/drawing/2014/main" val="394677486"/>
                  </a:ext>
                </a:extLst>
              </a:tr>
              <a:tr h="0">
                <a:tc>
                  <a:txBody>
                    <a:bodyPr/>
                    <a:lstStyle/>
                    <a:p>
                      <a:pPr>
                        <a:buNone/>
                      </a:pPr>
                      <a:r>
                        <a:rPr lang="es-CO" b="1" noProof="0" dirty="0"/>
                        <a:t>3. Árbol de Decisión (CART)</a:t>
                      </a:r>
                      <a:endParaRPr lang="es-CO" noProof="0" dirty="0"/>
                    </a:p>
                  </a:txBody>
                  <a:tcPr anchor="ctr">
                    <a:lnL w="12700" cap="flat" cmpd="sng" algn="ctr">
                      <a:solidFill>
                        <a:srgbClr val="9524AC"/>
                      </a:solidFill>
                      <a:prstDash val="solid"/>
                      <a:round/>
                      <a:headEnd type="none" w="med" len="med"/>
                      <a:tailEnd type="none" w="med" len="med"/>
                    </a:lnL>
                    <a:lnR w="12700" cap="flat" cmpd="sng" algn="ctr">
                      <a:solidFill>
                        <a:srgbClr val="9524AC"/>
                      </a:solidFill>
                      <a:prstDash val="solid"/>
                      <a:round/>
                      <a:headEnd type="none" w="med" len="med"/>
                      <a:tailEnd type="none" w="med" len="med"/>
                    </a:lnR>
                    <a:lnT w="12700" cap="flat" cmpd="sng" algn="ctr">
                      <a:solidFill>
                        <a:srgbClr val="9524AC"/>
                      </a:solidFill>
                      <a:prstDash val="solid"/>
                      <a:round/>
                      <a:headEnd type="none" w="med" len="med"/>
                      <a:tailEnd type="none" w="med" len="med"/>
                    </a:lnT>
                    <a:lnB w="12700" cap="flat" cmpd="sng" algn="ctr">
                      <a:solidFill>
                        <a:srgbClr val="9524AC"/>
                      </a:solidFill>
                      <a:prstDash val="solid"/>
                      <a:round/>
                      <a:headEnd type="none" w="med" len="med"/>
                      <a:tailEnd type="none" w="med" len="med"/>
                    </a:lnB>
                  </a:tcPr>
                </a:tc>
                <a:tc>
                  <a:txBody>
                    <a:bodyPr/>
                    <a:lstStyle/>
                    <a:p>
                      <a:pPr>
                        <a:buNone/>
                      </a:pPr>
                      <a:r>
                        <a:rPr lang="es-CO" noProof="0" dirty="0"/>
                        <a:t>Se entrenó un árbol de decisión y posteriormente se simplificó mediante poda.</a:t>
                      </a:r>
                    </a:p>
                  </a:txBody>
                  <a:tcPr anchor="ctr">
                    <a:lnL w="12700" cap="flat" cmpd="sng" algn="ctr">
                      <a:solidFill>
                        <a:srgbClr val="9524AC"/>
                      </a:solidFill>
                      <a:prstDash val="solid"/>
                      <a:round/>
                      <a:headEnd type="none" w="med" len="med"/>
                      <a:tailEnd type="none" w="med" len="med"/>
                    </a:lnL>
                    <a:lnR w="12700" cap="flat" cmpd="sng" algn="ctr">
                      <a:solidFill>
                        <a:srgbClr val="9524AC"/>
                      </a:solidFill>
                      <a:prstDash val="solid"/>
                      <a:round/>
                      <a:headEnd type="none" w="med" len="med"/>
                      <a:tailEnd type="none" w="med" len="med"/>
                    </a:lnR>
                    <a:lnT w="12700" cap="flat" cmpd="sng" algn="ctr">
                      <a:solidFill>
                        <a:srgbClr val="9524AC"/>
                      </a:solidFill>
                      <a:prstDash val="solid"/>
                      <a:round/>
                      <a:headEnd type="none" w="med" len="med"/>
                      <a:tailEnd type="none" w="med" len="med"/>
                    </a:lnT>
                    <a:lnB w="12700" cap="flat" cmpd="sng" algn="ctr">
                      <a:solidFill>
                        <a:srgbClr val="9524AC"/>
                      </a:solidFill>
                      <a:prstDash val="solid"/>
                      <a:round/>
                      <a:headEnd type="none" w="med" len="med"/>
                      <a:tailEnd type="none" w="med" len="med"/>
                    </a:lnB>
                  </a:tcPr>
                </a:tc>
                <a:tc>
                  <a:txBody>
                    <a:bodyPr/>
                    <a:lstStyle/>
                    <a:p>
                      <a:pPr>
                        <a:buNone/>
                      </a:pPr>
                      <a:r>
                        <a:rPr lang="es-CO" noProof="0" dirty="0"/>
                        <a:t>Construir un modelo capaz de capturar relaciones no lineales entre las variables.</a:t>
                      </a:r>
                    </a:p>
                  </a:txBody>
                  <a:tcPr anchor="ctr">
                    <a:lnL w="12700" cap="flat" cmpd="sng" algn="ctr">
                      <a:solidFill>
                        <a:srgbClr val="9524AC"/>
                      </a:solidFill>
                      <a:prstDash val="solid"/>
                      <a:round/>
                      <a:headEnd type="none" w="med" len="med"/>
                      <a:tailEnd type="none" w="med" len="med"/>
                    </a:lnL>
                    <a:lnR w="12700" cap="flat" cmpd="sng" algn="ctr">
                      <a:solidFill>
                        <a:srgbClr val="9524AC"/>
                      </a:solidFill>
                      <a:prstDash val="solid"/>
                      <a:round/>
                      <a:headEnd type="none" w="med" len="med"/>
                      <a:tailEnd type="none" w="med" len="med"/>
                    </a:lnR>
                    <a:lnT w="12700" cap="flat" cmpd="sng" algn="ctr">
                      <a:solidFill>
                        <a:srgbClr val="9524AC"/>
                      </a:solidFill>
                      <a:prstDash val="solid"/>
                      <a:round/>
                      <a:headEnd type="none" w="med" len="med"/>
                      <a:tailEnd type="none" w="med" len="med"/>
                    </a:lnT>
                    <a:lnB w="12700" cap="flat" cmpd="sng" algn="ctr">
                      <a:solidFill>
                        <a:srgbClr val="9524AC"/>
                      </a:solidFill>
                      <a:prstDash val="solid"/>
                      <a:round/>
                      <a:headEnd type="none" w="med" len="med"/>
                      <a:tailEnd type="none" w="med" len="med"/>
                    </a:lnB>
                  </a:tcPr>
                </a:tc>
                <a:extLst>
                  <a:ext uri="{0D108BD9-81ED-4DB2-BD59-A6C34878D82A}">
                    <a16:rowId xmlns:a16="http://schemas.microsoft.com/office/drawing/2014/main" val="860662526"/>
                  </a:ext>
                </a:extLst>
              </a:tr>
              <a:tr h="0">
                <a:tc>
                  <a:txBody>
                    <a:bodyPr/>
                    <a:lstStyle/>
                    <a:p>
                      <a:pPr>
                        <a:buNone/>
                      </a:pPr>
                      <a:r>
                        <a:rPr lang="es-CO" b="1" noProof="0" dirty="0"/>
                        <a:t>4. Evaluación</a:t>
                      </a:r>
                      <a:endParaRPr lang="es-CO" noProof="0" dirty="0"/>
                    </a:p>
                  </a:txBody>
                  <a:tcPr anchor="ctr">
                    <a:lnL w="12700" cap="flat" cmpd="sng" algn="ctr">
                      <a:solidFill>
                        <a:srgbClr val="9524AC"/>
                      </a:solidFill>
                      <a:prstDash val="solid"/>
                      <a:round/>
                      <a:headEnd type="none" w="med" len="med"/>
                      <a:tailEnd type="none" w="med" len="med"/>
                    </a:lnL>
                    <a:lnR w="12700" cap="flat" cmpd="sng" algn="ctr">
                      <a:solidFill>
                        <a:srgbClr val="9524AC"/>
                      </a:solidFill>
                      <a:prstDash val="solid"/>
                      <a:round/>
                      <a:headEnd type="none" w="med" len="med"/>
                      <a:tailEnd type="none" w="med" len="med"/>
                    </a:lnR>
                    <a:lnT w="12700" cap="flat" cmpd="sng" algn="ctr">
                      <a:solidFill>
                        <a:srgbClr val="9524AC"/>
                      </a:solidFill>
                      <a:prstDash val="solid"/>
                      <a:round/>
                      <a:headEnd type="none" w="med" len="med"/>
                      <a:tailEnd type="none" w="med" len="med"/>
                    </a:lnT>
                    <a:lnB w="12700" cap="flat" cmpd="sng" algn="ctr">
                      <a:solidFill>
                        <a:srgbClr val="9524AC"/>
                      </a:solidFill>
                      <a:prstDash val="solid"/>
                      <a:round/>
                      <a:headEnd type="none" w="med" len="med"/>
                      <a:tailEnd type="none" w="med" len="med"/>
                    </a:lnB>
                  </a:tcPr>
                </a:tc>
                <a:tc>
                  <a:txBody>
                    <a:bodyPr/>
                    <a:lstStyle/>
                    <a:p>
                      <a:pPr>
                        <a:buNone/>
                      </a:pPr>
                      <a:r>
                        <a:rPr lang="es-CO" noProof="0" dirty="0"/>
                        <a:t>Ambos modelos realizaron predicciones sobre datos nunca vistos.</a:t>
                      </a:r>
                    </a:p>
                  </a:txBody>
                  <a:tcPr anchor="ctr">
                    <a:lnL w="12700" cap="flat" cmpd="sng" algn="ctr">
                      <a:solidFill>
                        <a:srgbClr val="9524AC"/>
                      </a:solidFill>
                      <a:prstDash val="solid"/>
                      <a:round/>
                      <a:headEnd type="none" w="med" len="med"/>
                      <a:tailEnd type="none" w="med" len="med"/>
                    </a:lnL>
                    <a:lnR w="12700" cap="flat" cmpd="sng" algn="ctr">
                      <a:solidFill>
                        <a:srgbClr val="9524AC"/>
                      </a:solidFill>
                      <a:prstDash val="solid"/>
                      <a:round/>
                      <a:headEnd type="none" w="med" len="med"/>
                      <a:tailEnd type="none" w="med" len="med"/>
                    </a:lnR>
                    <a:lnT w="12700" cap="flat" cmpd="sng" algn="ctr">
                      <a:solidFill>
                        <a:srgbClr val="9524AC"/>
                      </a:solidFill>
                      <a:prstDash val="solid"/>
                      <a:round/>
                      <a:headEnd type="none" w="med" len="med"/>
                      <a:tailEnd type="none" w="med" len="med"/>
                    </a:lnT>
                    <a:lnB w="12700" cap="flat" cmpd="sng" algn="ctr">
                      <a:solidFill>
                        <a:srgbClr val="9524AC"/>
                      </a:solidFill>
                      <a:prstDash val="solid"/>
                      <a:round/>
                      <a:headEnd type="none" w="med" len="med"/>
                      <a:tailEnd type="none" w="med" len="med"/>
                    </a:lnB>
                  </a:tcPr>
                </a:tc>
                <a:tc>
                  <a:txBody>
                    <a:bodyPr/>
                    <a:lstStyle/>
                    <a:p>
                      <a:pPr>
                        <a:buNone/>
                      </a:pPr>
                      <a:r>
                        <a:rPr lang="es-CO" noProof="0" dirty="0"/>
                        <a:t>Medir su capacidad de predicción mediante indicadores de error.</a:t>
                      </a:r>
                    </a:p>
                  </a:txBody>
                  <a:tcPr anchor="ctr">
                    <a:lnL w="12700" cap="flat" cmpd="sng" algn="ctr">
                      <a:solidFill>
                        <a:srgbClr val="9524AC"/>
                      </a:solidFill>
                      <a:prstDash val="solid"/>
                      <a:round/>
                      <a:headEnd type="none" w="med" len="med"/>
                      <a:tailEnd type="none" w="med" len="med"/>
                    </a:lnL>
                    <a:lnR w="12700" cap="flat" cmpd="sng" algn="ctr">
                      <a:solidFill>
                        <a:srgbClr val="9524AC"/>
                      </a:solidFill>
                      <a:prstDash val="solid"/>
                      <a:round/>
                      <a:headEnd type="none" w="med" len="med"/>
                      <a:tailEnd type="none" w="med" len="med"/>
                    </a:lnR>
                    <a:lnT w="12700" cap="flat" cmpd="sng" algn="ctr">
                      <a:solidFill>
                        <a:srgbClr val="9524AC"/>
                      </a:solidFill>
                      <a:prstDash val="solid"/>
                      <a:round/>
                      <a:headEnd type="none" w="med" len="med"/>
                      <a:tailEnd type="none" w="med" len="med"/>
                    </a:lnT>
                    <a:lnB w="12700" cap="flat" cmpd="sng" algn="ctr">
                      <a:solidFill>
                        <a:srgbClr val="9524AC"/>
                      </a:solidFill>
                      <a:prstDash val="solid"/>
                      <a:round/>
                      <a:headEnd type="none" w="med" len="med"/>
                      <a:tailEnd type="none" w="med" len="med"/>
                    </a:lnB>
                  </a:tcPr>
                </a:tc>
                <a:extLst>
                  <a:ext uri="{0D108BD9-81ED-4DB2-BD59-A6C34878D82A}">
                    <a16:rowId xmlns:a16="http://schemas.microsoft.com/office/drawing/2014/main" val="2654037689"/>
                  </a:ext>
                </a:extLst>
              </a:tr>
              <a:tr h="0">
                <a:tc>
                  <a:txBody>
                    <a:bodyPr/>
                    <a:lstStyle/>
                    <a:p>
                      <a:pPr>
                        <a:buNone/>
                      </a:pPr>
                      <a:r>
                        <a:rPr lang="es-CO" b="1" noProof="0" dirty="0"/>
                        <a:t>5. Comparación</a:t>
                      </a:r>
                      <a:endParaRPr lang="es-CO" noProof="0" dirty="0"/>
                    </a:p>
                  </a:txBody>
                  <a:tcPr anchor="ctr">
                    <a:lnL w="12700" cap="flat" cmpd="sng" algn="ctr">
                      <a:solidFill>
                        <a:srgbClr val="9524AC"/>
                      </a:solidFill>
                      <a:prstDash val="solid"/>
                      <a:round/>
                      <a:headEnd type="none" w="med" len="med"/>
                      <a:tailEnd type="none" w="med" len="med"/>
                    </a:lnL>
                    <a:lnR w="12700" cap="flat" cmpd="sng" algn="ctr">
                      <a:solidFill>
                        <a:srgbClr val="9524AC"/>
                      </a:solidFill>
                      <a:prstDash val="solid"/>
                      <a:round/>
                      <a:headEnd type="none" w="med" len="med"/>
                      <a:tailEnd type="none" w="med" len="med"/>
                    </a:lnR>
                    <a:lnT w="12700" cap="flat" cmpd="sng" algn="ctr">
                      <a:solidFill>
                        <a:srgbClr val="9524AC"/>
                      </a:solidFill>
                      <a:prstDash val="solid"/>
                      <a:round/>
                      <a:headEnd type="none" w="med" len="med"/>
                      <a:tailEnd type="none" w="med" len="med"/>
                    </a:lnT>
                    <a:lnB w="12700" cap="flat" cmpd="sng" algn="ctr">
                      <a:solidFill>
                        <a:srgbClr val="9524AC"/>
                      </a:solidFill>
                      <a:prstDash val="solid"/>
                      <a:round/>
                      <a:headEnd type="none" w="med" len="med"/>
                      <a:tailEnd type="none" w="med" len="med"/>
                    </a:lnB>
                  </a:tcPr>
                </a:tc>
                <a:tc>
                  <a:txBody>
                    <a:bodyPr/>
                    <a:lstStyle/>
                    <a:p>
                      <a:pPr>
                        <a:buNone/>
                      </a:pPr>
                      <a:r>
                        <a:rPr lang="es-CO" noProof="0" dirty="0"/>
                        <a:t>Se compararon los resultados de ambos modelos mediante métricas y pruebas estadísticas.</a:t>
                      </a:r>
                    </a:p>
                  </a:txBody>
                  <a:tcPr anchor="ctr">
                    <a:lnL w="12700" cap="flat" cmpd="sng" algn="ctr">
                      <a:solidFill>
                        <a:srgbClr val="9524AC"/>
                      </a:solidFill>
                      <a:prstDash val="solid"/>
                      <a:round/>
                      <a:headEnd type="none" w="med" len="med"/>
                      <a:tailEnd type="none" w="med" len="med"/>
                    </a:lnL>
                    <a:lnR w="12700" cap="flat" cmpd="sng" algn="ctr">
                      <a:solidFill>
                        <a:srgbClr val="9524AC"/>
                      </a:solidFill>
                      <a:prstDash val="solid"/>
                      <a:round/>
                      <a:headEnd type="none" w="med" len="med"/>
                      <a:tailEnd type="none" w="med" len="med"/>
                    </a:lnR>
                    <a:lnT w="12700" cap="flat" cmpd="sng" algn="ctr">
                      <a:solidFill>
                        <a:srgbClr val="9524AC"/>
                      </a:solidFill>
                      <a:prstDash val="solid"/>
                      <a:round/>
                      <a:headEnd type="none" w="med" len="med"/>
                      <a:tailEnd type="none" w="med" len="med"/>
                    </a:lnT>
                    <a:lnB w="12700" cap="flat" cmpd="sng" algn="ctr">
                      <a:solidFill>
                        <a:srgbClr val="9524AC"/>
                      </a:solidFill>
                      <a:prstDash val="solid"/>
                      <a:round/>
                      <a:headEnd type="none" w="med" len="med"/>
                      <a:tailEnd type="none" w="med" len="med"/>
                    </a:lnB>
                  </a:tcPr>
                </a:tc>
                <a:tc>
                  <a:txBody>
                    <a:bodyPr/>
                    <a:lstStyle/>
                    <a:p>
                      <a:pPr>
                        <a:buNone/>
                      </a:pPr>
                      <a:r>
                        <a:rPr lang="es-CO" noProof="0" dirty="0"/>
                        <a:t>Identificar cuál modelo ofrecía un mejor desempeño.</a:t>
                      </a:r>
                    </a:p>
                  </a:txBody>
                  <a:tcPr anchor="ctr">
                    <a:lnL w="12700" cap="flat" cmpd="sng" algn="ctr">
                      <a:solidFill>
                        <a:srgbClr val="9524AC"/>
                      </a:solidFill>
                      <a:prstDash val="solid"/>
                      <a:round/>
                      <a:headEnd type="none" w="med" len="med"/>
                      <a:tailEnd type="none" w="med" len="med"/>
                    </a:lnL>
                    <a:lnR w="12700" cap="flat" cmpd="sng" algn="ctr">
                      <a:solidFill>
                        <a:srgbClr val="9524AC"/>
                      </a:solidFill>
                      <a:prstDash val="solid"/>
                      <a:round/>
                      <a:headEnd type="none" w="med" len="med"/>
                      <a:tailEnd type="none" w="med" len="med"/>
                    </a:lnR>
                    <a:lnT w="12700" cap="flat" cmpd="sng" algn="ctr">
                      <a:solidFill>
                        <a:srgbClr val="9524AC"/>
                      </a:solidFill>
                      <a:prstDash val="solid"/>
                      <a:round/>
                      <a:headEnd type="none" w="med" len="med"/>
                      <a:tailEnd type="none" w="med" len="med"/>
                    </a:lnT>
                    <a:lnB w="12700" cap="flat" cmpd="sng" algn="ctr">
                      <a:solidFill>
                        <a:srgbClr val="9524AC"/>
                      </a:solidFill>
                      <a:prstDash val="solid"/>
                      <a:round/>
                      <a:headEnd type="none" w="med" len="med"/>
                      <a:tailEnd type="none" w="med" len="med"/>
                    </a:lnB>
                  </a:tcPr>
                </a:tc>
                <a:extLst>
                  <a:ext uri="{0D108BD9-81ED-4DB2-BD59-A6C34878D82A}">
                    <a16:rowId xmlns:a16="http://schemas.microsoft.com/office/drawing/2014/main" val="486345184"/>
                  </a:ext>
                </a:extLst>
              </a:tr>
              <a:tr h="0">
                <a:tc>
                  <a:txBody>
                    <a:bodyPr/>
                    <a:lstStyle/>
                    <a:p>
                      <a:pPr>
                        <a:buNone/>
                      </a:pPr>
                      <a:r>
                        <a:rPr lang="es-CO" b="1" noProof="0" dirty="0"/>
                        <a:t>6. Visualización</a:t>
                      </a:r>
                      <a:endParaRPr lang="es-CO" noProof="0" dirty="0"/>
                    </a:p>
                  </a:txBody>
                  <a:tcPr anchor="ctr">
                    <a:lnL w="12700" cap="flat" cmpd="sng" algn="ctr">
                      <a:solidFill>
                        <a:srgbClr val="9524AC"/>
                      </a:solidFill>
                      <a:prstDash val="solid"/>
                      <a:round/>
                      <a:headEnd type="none" w="med" len="med"/>
                      <a:tailEnd type="none" w="med" len="med"/>
                    </a:lnL>
                    <a:lnR w="12700" cap="flat" cmpd="sng" algn="ctr">
                      <a:solidFill>
                        <a:srgbClr val="9524AC"/>
                      </a:solidFill>
                      <a:prstDash val="solid"/>
                      <a:round/>
                      <a:headEnd type="none" w="med" len="med"/>
                      <a:tailEnd type="none" w="med" len="med"/>
                    </a:lnR>
                    <a:lnT w="12700" cap="flat" cmpd="sng" algn="ctr">
                      <a:solidFill>
                        <a:srgbClr val="9524AC"/>
                      </a:solidFill>
                      <a:prstDash val="solid"/>
                      <a:round/>
                      <a:headEnd type="none" w="med" len="med"/>
                      <a:tailEnd type="none" w="med" len="med"/>
                    </a:lnT>
                    <a:lnB w="12700" cap="flat" cmpd="sng" algn="ctr">
                      <a:solidFill>
                        <a:srgbClr val="9524AC"/>
                      </a:solidFill>
                      <a:prstDash val="solid"/>
                      <a:round/>
                      <a:headEnd type="none" w="med" len="med"/>
                      <a:tailEnd type="none" w="med" len="med"/>
                    </a:lnB>
                  </a:tcPr>
                </a:tc>
                <a:tc>
                  <a:txBody>
                    <a:bodyPr/>
                    <a:lstStyle/>
                    <a:p>
                      <a:pPr>
                        <a:buNone/>
                      </a:pPr>
                      <a:r>
                        <a:rPr lang="es-CO" noProof="0" dirty="0"/>
                        <a:t>Se generaron gráficos para interpretar y comunicar los resultados obtenidos.</a:t>
                      </a:r>
                    </a:p>
                  </a:txBody>
                  <a:tcPr anchor="ctr">
                    <a:lnL w="12700" cap="flat" cmpd="sng" algn="ctr">
                      <a:solidFill>
                        <a:srgbClr val="9524AC"/>
                      </a:solidFill>
                      <a:prstDash val="solid"/>
                      <a:round/>
                      <a:headEnd type="none" w="med" len="med"/>
                      <a:tailEnd type="none" w="med" len="med"/>
                    </a:lnL>
                    <a:lnR w="12700" cap="flat" cmpd="sng" algn="ctr">
                      <a:solidFill>
                        <a:srgbClr val="9524AC"/>
                      </a:solidFill>
                      <a:prstDash val="solid"/>
                      <a:round/>
                      <a:headEnd type="none" w="med" len="med"/>
                      <a:tailEnd type="none" w="med" len="med"/>
                    </a:lnR>
                    <a:lnT w="12700" cap="flat" cmpd="sng" algn="ctr">
                      <a:solidFill>
                        <a:srgbClr val="9524AC"/>
                      </a:solidFill>
                      <a:prstDash val="solid"/>
                      <a:round/>
                      <a:headEnd type="none" w="med" len="med"/>
                      <a:tailEnd type="none" w="med" len="med"/>
                    </a:lnT>
                    <a:lnB w="12700" cap="flat" cmpd="sng" algn="ctr">
                      <a:solidFill>
                        <a:srgbClr val="9524AC"/>
                      </a:solidFill>
                      <a:prstDash val="solid"/>
                      <a:round/>
                      <a:headEnd type="none" w="med" len="med"/>
                      <a:tailEnd type="none" w="med" len="med"/>
                    </a:lnB>
                  </a:tcPr>
                </a:tc>
                <a:tc>
                  <a:txBody>
                    <a:bodyPr/>
                    <a:lstStyle/>
                    <a:p>
                      <a:pPr>
                        <a:buNone/>
                      </a:pPr>
                      <a:r>
                        <a:rPr lang="es-CO" noProof="0" dirty="0"/>
                        <a:t>Facilitar el análisis y la explicación de los hallazgos.</a:t>
                      </a:r>
                    </a:p>
                  </a:txBody>
                  <a:tcPr anchor="ctr">
                    <a:lnL w="12700" cap="flat" cmpd="sng" algn="ctr">
                      <a:solidFill>
                        <a:srgbClr val="9524AC"/>
                      </a:solidFill>
                      <a:prstDash val="solid"/>
                      <a:round/>
                      <a:headEnd type="none" w="med" len="med"/>
                      <a:tailEnd type="none" w="med" len="med"/>
                    </a:lnL>
                    <a:lnR w="12700" cap="flat" cmpd="sng" algn="ctr">
                      <a:solidFill>
                        <a:srgbClr val="9524AC"/>
                      </a:solidFill>
                      <a:prstDash val="solid"/>
                      <a:round/>
                      <a:headEnd type="none" w="med" len="med"/>
                      <a:tailEnd type="none" w="med" len="med"/>
                    </a:lnR>
                    <a:lnT w="12700" cap="flat" cmpd="sng" algn="ctr">
                      <a:solidFill>
                        <a:srgbClr val="9524AC"/>
                      </a:solidFill>
                      <a:prstDash val="solid"/>
                      <a:round/>
                      <a:headEnd type="none" w="med" len="med"/>
                      <a:tailEnd type="none" w="med" len="med"/>
                    </a:lnT>
                    <a:lnB w="12700" cap="flat" cmpd="sng" algn="ctr">
                      <a:solidFill>
                        <a:srgbClr val="9524AC"/>
                      </a:solidFill>
                      <a:prstDash val="solid"/>
                      <a:round/>
                      <a:headEnd type="none" w="med" len="med"/>
                      <a:tailEnd type="none" w="med" len="med"/>
                    </a:lnB>
                  </a:tcPr>
                </a:tc>
                <a:extLst>
                  <a:ext uri="{0D108BD9-81ED-4DB2-BD59-A6C34878D82A}">
                    <a16:rowId xmlns:a16="http://schemas.microsoft.com/office/drawing/2014/main" val="2698087272"/>
                  </a:ext>
                </a:extLst>
              </a:tr>
            </a:tbl>
          </a:graphicData>
        </a:graphic>
      </p:graphicFrame>
      <p:sp>
        <p:nvSpPr>
          <p:cNvPr id="13" name="CuadroTexto 12">
            <a:extLst>
              <a:ext uri="{FF2B5EF4-FFF2-40B4-BE49-F238E27FC236}">
                <a16:creationId xmlns:a16="http://schemas.microsoft.com/office/drawing/2014/main" id="{78969CE1-15AF-4148-3885-EA77E13376E1}"/>
              </a:ext>
            </a:extLst>
          </p:cNvPr>
          <p:cNvSpPr txBox="1"/>
          <p:nvPr/>
        </p:nvSpPr>
        <p:spPr>
          <a:xfrm>
            <a:off x="1143000" y="2343150"/>
            <a:ext cx="12896850" cy="707886"/>
          </a:xfrm>
          <a:prstGeom prst="rect">
            <a:avLst/>
          </a:prstGeom>
          <a:noFill/>
        </p:spPr>
        <p:txBody>
          <a:bodyPr wrap="square">
            <a:spAutoFit/>
          </a:bodyPr>
          <a:lstStyle/>
          <a:p>
            <a:r>
              <a:rPr lang="es-CO" sz="2000" noProof="0" dirty="0">
                <a:latin typeface="Segoe UI" panose="020B0502040204020203" pitchFamily="34" charset="0"/>
                <a:cs typeface="Segoe UI" panose="020B0502040204020203" pitchFamily="34" charset="0"/>
              </a:rPr>
              <a:t>Una vez preparada la matriz de predictores, comenzó el desarrollo del sistema predictivo. El proceso se organizó en seis bloques, cada uno con una función específica para entrenar, evaluar y comparar los modelos</a:t>
            </a:r>
            <a:r>
              <a:rPr lang="es-CO" noProof="0" dirty="0"/>
              <a:t>.</a:t>
            </a:r>
          </a:p>
        </p:txBody>
      </p:sp>
      <p:sp>
        <p:nvSpPr>
          <p:cNvPr id="17" name="Shape 0">
            <a:extLst>
              <a:ext uri="{FF2B5EF4-FFF2-40B4-BE49-F238E27FC236}">
                <a16:creationId xmlns:a16="http://schemas.microsoft.com/office/drawing/2014/main" id="{7513630E-3B3F-CF71-1872-02FE69602D27}"/>
              </a:ext>
            </a:extLst>
          </p:cNvPr>
          <p:cNvSpPr/>
          <p:nvPr/>
        </p:nvSpPr>
        <p:spPr>
          <a:xfrm>
            <a:off x="1143000" y="838200"/>
            <a:ext cx="5592652" cy="419100"/>
          </a:xfrm>
          <a:prstGeom prst="roundRect">
            <a:avLst>
              <a:gd name="adj" fmla="val 50000"/>
            </a:avLst>
          </a:prstGeom>
          <a:solidFill>
            <a:srgbClr val="F4FADF"/>
          </a:solidFill>
          <a:ln/>
        </p:spPr>
        <p:txBody>
          <a:bodyPr/>
          <a:lstStyle/>
          <a:p>
            <a:endParaRPr lang="es-CO" noProof="0" dirty="0"/>
          </a:p>
        </p:txBody>
      </p:sp>
      <p:sp>
        <p:nvSpPr>
          <p:cNvPr id="19" name="Text 1">
            <a:extLst>
              <a:ext uri="{FF2B5EF4-FFF2-40B4-BE49-F238E27FC236}">
                <a16:creationId xmlns:a16="http://schemas.microsoft.com/office/drawing/2014/main" id="{0B5FC144-3CF5-94D1-16B6-12878AB47287}"/>
              </a:ext>
            </a:extLst>
          </p:cNvPr>
          <p:cNvSpPr/>
          <p:nvPr/>
        </p:nvSpPr>
        <p:spPr>
          <a:xfrm>
            <a:off x="1352550" y="933450"/>
            <a:ext cx="5383101" cy="266700"/>
          </a:xfrm>
          <a:prstGeom prst="rect">
            <a:avLst/>
          </a:prstGeom>
          <a:noFill/>
          <a:ln/>
        </p:spPr>
        <p:txBody>
          <a:bodyPr wrap="square" lIns="25400" tIns="25400" rIns="25400" bIns="25400" rtlCol="0" anchor="ctr">
            <a:normAutofit/>
          </a:bodyPr>
          <a:lstStyle/>
          <a:p>
            <a:pPr marL="0" indent="0" algn="l">
              <a:buNone/>
            </a:pPr>
            <a:r>
              <a:rPr lang="es-CO" sz="1350" b="1" kern="0" spc="81" noProof="0" dirty="0">
                <a:solidFill>
                  <a:srgbClr val="7E2C8C"/>
                </a:solidFill>
                <a:latin typeface="Segoe UI" pitchFamily="34" charset="0"/>
                <a:ea typeface="Segoe UI" pitchFamily="34" charset="-122"/>
                <a:cs typeface="Segoe UI" pitchFamily="34" charset="-120"/>
              </a:rPr>
              <a:t>FASE 4 · PREPARACIÓN DE VARIABLES PREDICTORAS</a:t>
            </a:r>
            <a:endParaRPr lang="es-CO" sz="1350" noProof="0" dirty="0"/>
          </a:p>
        </p:txBody>
      </p:sp>
    </p:spTree>
    <p:extLst>
      <p:ext uri="{BB962C8B-B14F-4D97-AF65-F5344CB8AC3E}">
        <p14:creationId xmlns:p14="http://schemas.microsoft.com/office/powerpoint/2010/main" val="42565577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143000" y="838200"/>
            <a:ext cx="5592652" cy="419100"/>
          </a:xfrm>
          <a:prstGeom prst="roundRect">
            <a:avLst>
              <a:gd name="adj" fmla="val 50000"/>
            </a:avLst>
          </a:prstGeom>
          <a:solidFill>
            <a:srgbClr val="F4FADF"/>
          </a:solidFill>
          <a:ln/>
        </p:spPr>
        <p:txBody>
          <a:bodyPr/>
          <a:lstStyle/>
          <a:p>
            <a:endParaRPr lang="es-CO" noProof="0" dirty="0"/>
          </a:p>
        </p:txBody>
      </p:sp>
      <p:sp>
        <p:nvSpPr>
          <p:cNvPr id="3" name="Text 1"/>
          <p:cNvSpPr/>
          <p:nvPr/>
        </p:nvSpPr>
        <p:spPr>
          <a:xfrm>
            <a:off x="1352550" y="933450"/>
            <a:ext cx="5383101" cy="266700"/>
          </a:xfrm>
          <a:prstGeom prst="rect">
            <a:avLst/>
          </a:prstGeom>
          <a:noFill/>
          <a:ln/>
        </p:spPr>
        <p:txBody>
          <a:bodyPr wrap="square" lIns="25400" tIns="25400" rIns="25400" bIns="25400" rtlCol="0" anchor="ctr">
            <a:normAutofit/>
          </a:bodyPr>
          <a:lstStyle/>
          <a:p>
            <a:pPr marL="0" indent="0" algn="l">
              <a:buNone/>
            </a:pPr>
            <a:r>
              <a:rPr lang="es-CO" sz="1350" b="1" kern="0" spc="81" noProof="0" dirty="0">
                <a:solidFill>
                  <a:srgbClr val="7E2C8C"/>
                </a:solidFill>
                <a:latin typeface="Segoe UI" pitchFamily="34" charset="0"/>
                <a:ea typeface="Segoe UI" pitchFamily="34" charset="-122"/>
                <a:cs typeface="Segoe UI" pitchFamily="34" charset="-120"/>
              </a:rPr>
              <a:t>FASE 4 · PREPARACIÓN DE VARIABLES PREDICTORAS</a:t>
            </a:r>
            <a:endParaRPr lang="es-CO" sz="1350" noProof="0" dirty="0"/>
          </a:p>
        </p:txBody>
      </p:sp>
      <p:sp>
        <p:nvSpPr>
          <p:cNvPr id="4" name="Text 2"/>
          <p:cNvSpPr/>
          <p:nvPr/>
        </p:nvSpPr>
        <p:spPr>
          <a:xfrm>
            <a:off x="1143000" y="1619250"/>
            <a:ext cx="14668500" cy="698500"/>
          </a:xfrm>
          <a:prstGeom prst="rect">
            <a:avLst/>
          </a:prstGeom>
          <a:noFill/>
          <a:ln/>
        </p:spPr>
        <p:txBody>
          <a:bodyPr wrap="square" lIns="25400" tIns="25400" rIns="25400" bIns="25400" rtlCol="0" anchor="t">
            <a:normAutofit/>
          </a:bodyPr>
          <a:lstStyle/>
          <a:p>
            <a:pPr marL="0" indent="0" algn="l">
              <a:buNone/>
            </a:pPr>
            <a:r>
              <a:rPr lang="es-CO" sz="3900" b="1" noProof="0" dirty="0">
                <a:solidFill>
                  <a:srgbClr val="3D3D3D"/>
                </a:solidFill>
                <a:latin typeface="Segoe UI" pitchFamily="34" charset="0"/>
                <a:ea typeface="Segoe UI" pitchFamily="34" charset="-122"/>
                <a:cs typeface="Segoe UI" pitchFamily="34" charset="-120"/>
              </a:rPr>
              <a:t>Preparación de los datos para el modelado predictivo</a:t>
            </a:r>
            <a:endParaRPr lang="es-CO" sz="3900" noProof="0" dirty="0"/>
          </a:p>
        </p:txBody>
      </p:sp>
      <p:sp>
        <p:nvSpPr>
          <p:cNvPr id="6" name="Text 4"/>
          <p:cNvSpPr/>
          <p:nvPr/>
        </p:nvSpPr>
        <p:spPr>
          <a:xfrm>
            <a:off x="1085850" y="4137118"/>
            <a:ext cx="12249150" cy="847383"/>
          </a:xfrm>
          <a:prstGeom prst="rect">
            <a:avLst/>
          </a:prstGeom>
          <a:noFill/>
          <a:ln/>
        </p:spPr>
        <p:txBody>
          <a:bodyPr wrap="square" lIns="25400" tIns="25400" rIns="25400" bIns="25400" rtlCol="0" anchor="t">
            <a:normAutofit/>
          </a:bodyPr>
          <a:lstStyle/>
          <a:p>
            <a:pPr marL="0" indent="0" algn="l">
              <a:buNone/>
            </a:pPr>
            <a:r>
              <a:rPr lang="es-CO" sz="2250" b="1" noProof="0" dirty="0">
                <a:solidFill>
                  <a:srgbClr val="7E2C8C"/>
                </a:solidFill>
                <a:latin typeface="Segoe UI" pitchFamily="34" charset="0"/>
                <a:ea typeface="Segoe UI" pitchFamily="34" charset="-122"/>
                <a:cs typeface="Segoe UI" pitchFamily="34" charset="-120"/>
              </a:rPr>
              <a:t>¿Qué transformaciones se realizaron? 1. Construcción de variables predictoras</a:t>
            </a:r>
            <a:endParaRPr lang="es-CO" sz="2250" noProof="0" dirty="0"/>
          </a:p>
        </p:txBody>
      </p:sp>
      <p:sp>
        <p:nvSpPr>
          <p:cNvPr id="21" name="Text 19"/>
          <p:cNvSpPr/>
          <p:nvPr/>
        </p:nvSpPr>
        <p:spPr>
          <a:xfrm>
            <a:off x="1143000" y="9525000"/>
            <a:ext cx="5412720" cy="266700"/>
          </a:xfrm>
          <a:prstGeom prst="rect">
            <a:avLst/>
          </a:prstGeom>
          <a:noFill/>
          <a:ln/>
        </p:spPr>
        <p:txBody>
          <a:bodyPr wrap="square" lIns="25400" tIns="25400" rIns="25400" bIns="25400" rtlCol="0" anchor="t">
            <a:normAutofit/>
          </a:bodyPr>
          <a:lstStyle/>
          <a:p>
            <a:pPr marL="0" indent="0" algn="l">
              <a:buNone/>
            </a:pPr>
            <a:r>
              <a:rPr lang="es-CO" sz="1350" noProof="0" dirty="0">
                <a:solidFill>
                  <a:srgbClr val="6F6F6F"/>
                </a:solidFill>
                <a:latin typeface="Segoe UI" pitchFamily="34" charset="0"/>
                <a:ea typeface="Segoe UI" pitchFamily="34" charset="-122"/>
                <a:cs typeface="Segoe UI" pitchFamily="34" charset="-120"/>
              </a:rPr>
              <a:t>UTS · Cartilla de aprendizaje — Gestión Inteligente de Inventarios</a:t>
            </a:r>
            <a:endParaRPr lang="es-CO" sz="1350" noProof="0" dirty="0"/>
          </a:p>
        </p:txBody>
      </p:sp>
      <p:sp>
        <p:nvSpPr>
          <p:cNvPr id="22" name="Shape 20"/>
          <p:cNvSpPr/>
          <p:nvPr/>
        </p:nvSpPr>
        <p:spPr>
          <a:xfrm>
            <a:off x="16725900" y="9410700"/>
            <a:ext cx="419100" cy="419100"/>
          </a:xfrm>
          <a:prstGeom prst="ellipse">
            <a:avLst/>
          </a:prstGeom>
          <a:solidFill>
            <a:srgbClr val="7E2C8C"/>
          </a:solidFill>
          <a:ln/>
        </p:spPr>
        <p:txBody>
          <a:bodyPr/>
          <a:lstStyle/>
          <a:p>
            <a:endParaRPr lang="es-CO" noProof="0" dirty="0"/>
          </a:p>
        </p:txBody>
      </p:sp>
      <p:sp>
        <p:nvSpPr>
          <p:cNvPr id="23" name="Text 21"/>
          <p:cNvSpPr/>
          <p:nvPr/>
        </p:nvSpPr>
        <p:spPr>
          <a:xfrm>
            <a:off x="16687800" y="9410700"/>
            <a:ext cx="495300" cy="457200"/>
          </a:xfrm>
          <a:prstGeom prst="rect">
            <a:avLst/>
          </a:prstGeom>
          <a:noFill/>
          <a:ln/>
        </p:spPr>
        <p:txBody>
          <a:bodyPr wrap="square" lIns="25400" tIns="25400" rIns="25400" bIns="25400" rtlCol="0" anchor="ctr">
            <a:normAutofit/>
          </a:bodyPr>
          <a:lstStyle/>
          <a:p>
            <a:pPr marL="0" indent="0" algn="ctr">
              <a:buNone/>
            </a:pPr>
            <a:r>
              <a:rPr lang="es-CO" sz="1500" b="1" noProof="0" dirty="0">
                <a:solidFill>
                  <a:srgbClr val="FFFFFF"/>
                </a:solidFill>
                <a:latin typeface="Segoe UI" pitchFamily="34" charset="0"/>
                <a:cs typeface="Segoe UI" pitchFamily="34" charset="-120"/>
              </a:rPr>
              <a:t>22</a:t>
            </a:r>
            <a:endParaRPr lang="es-CO" sz="1500" noProof="0" dirty="0"/>
          </a:p>
        </p:txBody>
      </p:sp>
      <p:sp>
        <p:nvSpPr>
          <p:cNvPr id="27" name="CuadroTexto 26">
            <a:extLst>
              <a:ext uri="{FF2B5EF4-FFF2-40B4-BE49-F238E27FC236}">
                <a16:creationId xmlns:a16="http://schemas.microsoft.com/office/drawing/2014/main" id="{5D6CB6B4-63F2-6956-75F8-D9AF0F050213}"/>
              </a:ext>
            </a:extLst>
          </p:cNvPr>
          <p:cNvSpPr txBox="1"/>
          <p:nvPr/>
        </p:nvSpPr>
        <p:spPr>
          <a:xfrm>
            <a:off x="1085850" y="2464779"/>
            <a:ext cx="16059150" cy="1131079"/>
          </a:xfrm>
          <a:prstGeom prst="rect">
            <a:avLst/>
          </a:prstGeom>
          <a:noFill/>
        </p:spPr>
        <p:txBody>
          <a:bodyPr wrap="square">
            <a:spAutoFit/>
          </a:bodyPr>
          <a:lstStyle/>
          <a:p>
            <a:r>
              <a:rPr lang="es-CO" sz="2250" noProof="0" dirty="0">
                <a:solidFill>
                  <a:srgbClr val="3D3D3D"/>
                </a:solidFill>
                <a:latin typeface="Segoe UI" pitchFamily="34" charset="0"/>
                <a:cs typeface="Segoe UI" pitchFamily="34" charset="-120"/>
              </a:rPr>
              <a:t>Antes de entrenar un modelo predictivo, los datos deben prepararse para que representen únicamente la información que estaría disponible en el momento de realizar una predicción. Este proceso garantiza que el modelo aprenda a anticipar la demanda sin utilizar información del futuro.</a:t>
            </a:r>
          </a:p>
        </p:txBody>
      </p:sp>
      <p:sp>
        <p:nvSpPr>
          <p:cNvPr id="29" name="Shape 3">
            <a:extLst>
              <a:ext uri="{FF2B5EF4-FFF2-40B4-BE49-F238E27FC236}">
                <a16:creationId xmlns:a16="http://schemas.microsoft.com/office/drawing/2014/main" id="{59755ED3-485D-0231-6090-B16DFF5FC121}"/>
              </a:ext>
            </a:extLst>
          </p:cNvPr>
          <p:cNvSpPr/>
          <p:nvPr/>
        </p:nvSpPr>
        <p:spPr>
          <a:xfrm>
            <a:off x="914400" y="5395400"/>
            <a:ext cx="8458200" cy="2596076"/>
          </a:xfrm>
          <a:prstGeom prst="roundRect">
            <a:avLst>
              <a:gd name="adj" fmla="val 11594"/>
            </a:avLst>
          </a:prstGeom>
          <a:solidFill>
            <a:srgbClr val="F4FADF"/>
          </a:solidFill>
          <a:ln/>
        </p:spPr>
        <p:txBody>
          <a:bodyPr/>
          <a:lstStyle/>
          <a:p>
            <a:endParaRPr lang="es-CO" noProof="0" dirty="0"/>
          </a:p>
        </p:txBody>
      </p:sp>
      <p:sp>
        <p:nvSpPr>
          <p:cNvPr id="33" name="Shape 5">
            <a:extLst>
              <a:ext uri="{FF2B5EF4-FFF2-40B4-BE49-F238E27FC236}">
                <a16:creationId xmlns:a16="http://schemas.microsoft.com/office/drawing/2014/main" id="{BE4A7964-25A2-77A2-90E3-20FB15930E43}"/>
              </a:ext>
            </a:extLst>
          </p:cNvPr>
          <p:cNvSpPr/>
          <p:nvPr/>
        </p:nvSpPr>
        <p:spPr>
          <a:xfrm>
            <a:off x="1333500" y="6056532"/>
            <a:ext cx="133350" cy="133350"/>
          </a:xfrm>
          <a:prstGeom prst="roundRect">
            <a:avLst>
              <a:gd name="adj" fmla="val 28571"/>
            </a:avLst>
          </a:prstGeom>
          <a:solidFill>
            <a:srgbClr val="B7D81A"/>
          </a:solidFill>
          <a:ln/>
        </p:spPr>
        <p:txBody>
          <a:bodyPr/>
          <a:lstStyle/>
          <a:p>
            <a:endParaRPr lang="es-CO" noProof="0" dirty="0"/>
          </a:p>
        </p:txBody>
      </p:sp>
      <p:sp>
        <p:nvSpPr>
          <p:cNvPr id="35" name="Text 6">
            <a:extLst>
              <a:ext uri="{FF2B5EF4-FFF2-40B4-BE49-F238E27FC236}">
                <a16:creationId xmlns:a16="http://schemas.microsoft.com/office/drawing/2014/main" id="{D3D07434-F8E0-AF8D-6131-FE571BE334BD}"/>
              </a:ext>
            </a:extLst>
          </p:cNvPr>
          <p:cNvSpPr/>
          <p:nvPr/>
        </p:nvSpPr>
        <p:spPr>
          <a:xfrm>
            <a:off x="1619250" y="5937983"/>
            <a:ext cx="6457950" cy="500577"/>
          </a:xfrm>
          <a:prstGeom prst="rect">
            <a:avLst/>
          </a:prstGeom>
          <a:noFill/>
          <a:ln/>
        </p:spPr>
        <p:txBody>
          <a:bodyPr wrap="square" lIns="25400" tIns="25400" rIns="25400" bIns="25400" rtlCol="0" anchor="t">
            <a:normAutofit/>
          </a:bodyPr>
          <a:lstStyle/>
          <a:p>
            <a:pPr marL="0" indent="0" algn="l">
              <a:buNone/>
            </a:pPr>
            <a:r>
              <a:rPr lang="es-CO" sz="1800" noProof="0" dirty="0">
                <a:solidFill>
                  <a:srgbClr val="3D3D3D"/>
                </a:solidFill>
                <a:latin typeface="Segoe UI" pitchFamily="34" charset="0"/>
                <a:ea typeface="Segoe UI" pitchFamily="34" charset="-122"/>
                <a:cs typeface="Segoe UI" pitchFamily="34" charset="-120"/>
              </a:rPr>
              <a:t>lag_1 a lag_4: demanda de las 4 semanas previas</a:t>
            </a:r>
            <a:endParaRPr lang="es-CO" sz="1800" noProof="0" dirty="0"/>
          </a:p>
        </p:txBody>
      </p:sp>
      <p:sp>
        <p:nvSpPr>
          <p:cNvPr id="37" name="Shape 7">
            <a:extLst>
              <a:ext uri="{FF2B5EF4-FFF2-40B4-BE49-F238E27FC236}">
                <a16:creationId xmlns:a16="http://schemas.microsoft.com/office/drawing/2014/main" id="{4D90DF70-1B72-D236-E9ED-3C45B1F99A03}"/>
              </a:ext>
            </a:extLst>
          </p:cNvPr>
          <p:cNvSpPr/>
          <p:nvPr/>
        </p:nvSpPr>
        <p:spPr>
          <a:xfrm>
            <a:off x="1362075" y="6735444"/>
            <a:ext cx="133350" cy="133350"/>
          </a:xfrm>
          <a:prstGeom prst="roundRect">
            <a:avLst>
              <a:gd name="adj" fmla="val 28571"/>
            </a:avLst>
          </a:prstGeom>
          <a:solidFill>
            <a:srgbClr val="B7D81A"/>
          </a:solidFill>
          <a:ln/>
        </p:spPr>
        <p:txBody>
          <a:bodyPr/>
          <a:lstStyle/>
          <a:p>
            <a:endParaRPr lang="es-CO" noProof="0" dirty="0"/>
          </a:p>
        </p:txBody>
      </p:sp>
      <p:sp>
        <p:nvSpPr>
          <p:cNvPr id="39" name="Text 8">
            <a:extLst>
              <a:ext uri="{FF2B5EF4-FFF2-40B4-BE49-F238E27FC236}">
                <a16:creationId xmlns:a16="http://schemas.microsoft.com/office/drawing/2014/main" id="{A839F6FE-297C-6847-02EA-5E1F6D5D9489}"/>
              </a:ext>
            </a:extLst>
          </p:cNvPr>
          <p:cNvSpPr/>
          <p:nvPr/>
        </p:nvSpPr>
        <p:spPr>
          <a:xfrm>
            <a:off x="1638300" y="6629060"/>
            <a:ext cx="6286500" cy="747540"/>
          </a:xfrm>
          <a:prstGeom prst="rect">
            <a:avLst/>
          </a:prstGeom>
          <a:noFill/>
          <a:ln/>
        </p:spPr>
        <p:txBody>
          <a:bodyPr wrap="square" lIns="25400" tIns="25400" rIns="25400" bIns="25400" rtlCol="0" anchor="t">
            <a:normAutofit/>
          </a:bodyPr>
          <a:lstStyle/>
          <a:p>
            <a:pPr marL="0" indent="0" algn="l">
              <a:buNone/>
            </a:pPr>
            <a:r>
              <a:rPr lang="es-CO" noProof="0" dirty="0" err="1">
                <a:solidFill>
                  <a:srgbClr val="3D3D3D"/>
                </a:solidFill>
                <a:latin typeface="Segoe UI" pitchFamily="34" charset="0"/>
                <a:ea typeface="Segoe UI" pitchFamily="34" charset="-122"/>
                <a:cs typeface="Segoe UI" pitchFamily="34" charset="-120"/>
              </a:rPr>
              <a:t>M</a:t>
            </a:r>
            <a:r>
              <a:rPr lang="es-CO" sz="1800" noProof="0" dirty="0" err="1">
                <a:solidFill>
                  <a:srgbClr val="3D3D3D"/>
                </a:solidFill>
                <a:latin typeface="Segoe UI" pitchFamily="34" charset="0"/>
                <a:ea typeface="Segoe UI" pitchFamily="34" charset="-122"/>
                <a:cs typeface="Segoe UI" pitchFamily="34" charset="-120"/>
              </a:rPr>
              <a:t>edia_historica</a:t>
            </a:r>
            <a:r>
              <a:rPr lang="es-CO" sz="1800" noProof="0" dirty="0">
                <a:solidFill>
                  <a:srgbClr val="3D3D3D"/>
                </a:solidFill>
                <a:latin typeface="Segoe UI" pitchFamily="34" charset="0"/>
                <a:ea typeface="Segoe UI" pitchFamily="34" charset="-122"/>
                <a:cs typeface="Segoe UI" pitchFamily="34" charset="-120"/>
              </a:rPr>
              <a:t>: promedio expansivo, sin incluir la semana t</a:t>
            </a:r>
            <a:endParaRPr lang="es-CO" sz="1800" noProof="0" dirty="0"/>
          </a:p>
        </p:txBody>
      </p:sp>
      <p:sp>
        <p:nvSpPr>
          <p:cNvPr id="41" name="Shape 9">
            <a:extLst>
              <a:ext uri="{FF2B5EF4-FFF2-40B4-BE49-F238E27FC236}">
                <a16:creationId xmlns:a16="http://schemas.microsoft.com/office/drawing/2014/main" id="{F273D961-64B6-E83C-4E11-7FFAFE3BFF3E}"/>
              </a:ext>
            </a:extLst>
          </p:cNvPr>
          <p:cNvSpPr/>
          <p:nvPr/>
        </p:nvSpPr>
        <p:spPr>
          <a:xfrm>
            <a:off x="1343025" y="7376600"/>
            <a:ext cx="133350" cy="133350"/>
          </a:xfrm>
          <a:prstGeom prst="roundRect">
            <a:avLst>
              <a:gd name="adj" fmla="val 28571"/>
            </a:avLst>
          </a:prstGeom>
          <a:solidFill>
            <a:srgbClr val="B7D81A"/>
          </a:solidFill>
          <a:ln/>
        </p:spPr>
        <p:txBody>
          <a:bodyPr/>
          <a:lstStyle/>
          <a:p>
            <a:endParaRPr lang="es-CO" noProof="0" dirty="0"/>
          </a:p>
        </p:txBody>
      </p:sp>
      <p:sp>
        <p:nvSpPr>
          <p:cNvPr id="43" name="Text 10">
            <a:extLst>
              <a:ext uri="{FF2B5EF4-FFF2-40B4-BE49-F238E27FC236}">
                <a16:creationId xmlns:a16="http://schemas.microsoft.com/office/drawing/2014/main" id="{C3244879-1E18-DF59-204F-975C30CF52C8}"/>
              </a:ext>
            </a:extLst>
          </p:cNvPr>
          <p:cNvSpPr/>
          <p:nvPr/>
        </p:nvSpPr>
        <p:spPr>
          <a:xfrm>
            <a:off x="1638300" y="7267576"/>
            <a:ext cx="7048500" cy="723900"/>
          </a:xfrm>
          <a:prstGeom prst="rect">
            <a:avLst/>
          </a:prstGeom>
          <a:noFill/>
          <a:ln/>
        </p:spPr>
        <p:txBody>
          <a:bodyPr wrap="square" lIns="25400" tIns="25400" rIns="25400" bIns="25400" rtlCol="0" anchor="t">
            <a:normAutofit/>
          </a:bodyPr>
          <a:lstStyle/>
          <a:p>
            <a:pPr marL="0" indent="0" algn="l">
              <a:buNone/>
            </a:pPr>
            <a:r>
              <a:rPr lang="es-CO" noProof="0" dirty="0" err="1">
                <a:solidFill>
                  <a:srgbClr val="3D3D3D"/>
                </a:solidFill>
                <a:latin typeface="Segoe UI" pitchFamily="34" charset="0"/>
                <a:ea typeface="Segoe UI" pitchFamily="34" charset="-122"/>
                <a:cs typeface="Segoe UI" pitchFamily="34" charset="-120"/>
              </a:rPr>
              <a:t>E</a:t>
            </a:r>
            <a:r>
              <a:rPr lang="es-CO" sz="1800" noProof="0" dirty="0" err="1">
                <a:solidFill>
                  <a:srgbClr val="3D3D3D"/>
                </a:solidFill>
                <a:latin typeface="Segoe UI" pitchFamily="34" charset="0"/>
                <a:ea typeface="Segoe UI" pitchFamily="34" charset="-122"/>
                <a:cs typeface="Segoe UI" pitchFamily="34" charset="-120"/>
              </a:rPr>
              <a:t>stacional_det</a:t>
            </a:r>
            <a:r>
              <a:rPr lang="es-CO" sz="1800" noProof="0" dirty="0">
                <a:solidFill>
                  <a:srgbClr val="3D3D3D"/>
                </a:solidFill>
                <a:latin typeface="Segoe UI" pitchFamily="34" charset="0"/>
                <a:ea typeface="Segoe UI" pitchFamily="34" charset="-122"/>
                <a:cs typeface="Segoe UI" pitchFamily="34" charset="-120"/>
              </a:rPr>
              <a:t>: componente determinística, conocida ex ante</a:t>
            </a:r>
            <a:endParaRPr lang="es-CO" sz="1800" noProof="0" dirty="0"/>
          </a:p>
        </p:txBody>
      </p:sp>
      <p:sp>
        <p:nvSpPr>
          <p:cNvPr id="45" name="Shape 11">
            <a:extLst>
              <a:ext uri="{FF2B5EF4-FFF2-40B4-BE49-F238E27FC236}">
                <a16:creationId xmlns:a16="http://schemas.microsoft.com/office/drawing/2014/main" id="{95D9D828-A3E4-271E-BACE-F512DA3B448D}"/>
              </a:ext>
            </a:extLst>
          </p:cNvPr>
          <p:cNvSpPr/>
          <p:nvPr/>
        </p:nvSpPr>
        <p:spPr>
          <a:xfrm>
            <a:off x="9296400" y="5395400"/>
            <a:ext cx="8458200" cy="2596076"/>
          </a:xfrm>
          <a:prstGeom prst="roundRect">
            <a:avLst>
              <a:gd name="adj" fmla="val 11594"/>
            </a:avLst>
          </a:prstGeom>
          <a:solidFill>
            <a:srgbClr val="3D3D3D"/>
          </a:solidFill>
          <a:ln/>
        </p:spPr>
        <p:txBody>
          <a:bodyPr/>
          <a:lstStyle/>
          <a:p>
            <a:endParaRPr lang="es-CO" noProof="0" dirty="0"/>
          </a:p>
        </p:txBody>
      </p:sp>
      <p:sp>
        <p:nvSpPr>
          <p:cNvPr id="47" name="Shape 13">
            <a:extLst>
              <a:ext uri="{FF2B5EF4-FFF2-40B4-BE49-F238E27FC236}">
                <a16:creationId xmlns:a16="http://schemas.microsoft.com/office/drawing/2014/main" id="{D5FEC96E-C9E5-8FF5-6B8C-B83C14E0F2E1}"/>
              </a:ext>
            </a:extLst>
          </p:cNvPr>
          <p:cNvSpPr/>
          <p:nvPr/>
        </p:nvSpPr>
        <p:spPr>
          <a:xfrm>
            <a:off x="9715500" y="6056532"/>
            <a:ext cx="133350" cy="133350"/>
          </a:xfrm>
          <a:prstGeom prst="roundRect">
            <a:avLst>
              <a:gd name="adj" fmla="val 28571"/>
            </a:avLst>
          </a:prstGeom>
          <a:solidFill>
            <a:srgbClr val="A867B5"/>
          </a:solidFill>
          <a:ln/>
        </p:spPr>
        <p:txBody>
          <a:bodyPr/>
          <a:lstStyle/>
          <a:p>
            <a:endParaRPr lang="es-CO" noProof="0" dirty="0"/>
          </a:p>
        </p:txBody>
      </p:sp>
      <p:sp>
        <p:nvSpPr>
          <p:cNvPr id="49" name="Text 14">
            <a:extLst>
              <a:ext uri="{FF2B5EF4-FFF2-40B4-BE49-F238E27FC236}">
                <a16:creationId xmlns:a16="http://schemas.microsoft.com/office/drawing/2014/main" id="{8F763A91-9AA4-C6B5-57B5-528444F6DFA0}"/>
              </a:ext>
            </a:extLst>
          </p:cNvPr>
          <p:cNvSpPr/>
          <p:nvPr/>
        </p:nvSpPr>
        <p:spPr>
          <a:xfrm>
            <a:off x="10001250" y="5777474"/>
            <a:ext cx="4629150" cy="723900"/>
          </a:xfrm>
          <a:prstGeom prst="rect">
            <a:avLst/>
          </a:prstGeom>
          <a:noFill/>
          <a:ln/>
        </p:spPr>
        <p:txBody>
          <a:bodyPr wrap="square" lIns="25400" tIns="25400" rIns="25400" bIns="25400" rtlCol="0" anchor="t">
            <a:normAutofit/>
          </a:bodyPr>
          <a:lstStyle/>
          <a:p>
            <a:pPr marL="0" indent="0" algn="l">
              <a:buNone/>
            </a:pPr>
            <a:r>
              <a:rPr lang="es-CO" sz="1800" noProof="0" dirty="0">
                <a:solidFill>
                  <a:srgbClr val="FFFFFF"/>
                </a:solidFill>
                <a:latin typeface="Segoe UI" pitchFamily="34" charset="0"/>
                <a:ea typeface="Segoe UI" pitchFamily="34" charset="-122"/>
                <a:cs typeface="Segoe UI" pitchFamily="34" charset="-120"/>
              </a:rPr>
              <a:t>ventas, </a:t>
            </a:r>
            <a:r>
              <a:rPr lang="es-CO" sz="1800" noProof="0" dirty="0" err="1">
                <a:solidFill>
                  <a:srgbClr val="FFFFFF"/>
                </a:solidFill>
                <a:latin typeface="Segoe UI" pitchFamily="34" charset="0"/>
                <a:ea typeface="Segoe UI" pitchFamily="34" charset="-122"/>
                <a:cs typeface="Segoe UI" pitchFamily="34" charset="-120"/>
              </a:rPr>
              <a:t>inventario_final</a:t>
            </a:r>
            <a:r>
              <a:rPr lang="es-CO" sz="1800" noProof="0" dirty="0">
                <a:solidFill>
                  <a:srgbClr val="FFFFFF"/>
                </a:solidFill>
                <a:latin typeface="Segoe UI" pitchFamily="34" charset="0"/>
                <a:ea typeface="Segoe UI" pitchFamily="34" charset="-122"/>
                <a:cs typeface="Segoe UI" pitchFamily="34" charset="-120"/>
              </a:rPr>
              <a:t>, </a:t>
            </a:r>
            <a:r>
              <a:rPr lang="es-CO" sz="1800" noProof="0" dirty="0" err="1">
                <a:solidFill>
                  <a:srgbClr val="FFFFFF"/>
                </a:solidFill>
                <a:latin typeface="Segoe UI" pitchFamily="34" charset="0"/>
                <a:ea typeface="Segoe UI" pitchFamily="34" charset="-122"/>
                <a:cs typeface="Segoe UI" pitchFamily="34" charset="-120"/>
              </a:rPr>
              <a:t>quiebre_stock</a:t>
            </a:r>
            <a:r>
              <a:rPr lang="es-CO" sz="1800" noProof="0" dirty="0">
                <a:solidFill>
                  <a:srgbClr val="FFFFFF"/>
                </a:solidFill>
                <a:latin typeface="Segoe UI" pitchFamily="34" charset="0"/>
                <a:ea typeface="Segoe UI" pitchFamily="34" charset="-122"/>
                <a:cs typeface="Segoe UI" pitchFamily="34" charset="-120"/>
              </a:rPr>
              <a:t>: resultado de la semana t</a:t>
            </a:r>
            <a:endParaRPr lang="es-CO" sz="1800" noProof="0" dirty="0"/>
          </a:p>
        </p:txBody>
      </p:sp>
      <p:sp>
        <p:nvSpPr>
          <p:cNvPr id="51" name="Shape 15">
            <a:extLst>
              <a:ext uri="{FF2B5EF4-FFF2-40B4-BE49-F238E27FC236}">
                <a16:creationId xmlns:a16="http://schemas.microsoft.com/office/drawing/2014/main" id="{50B594B0-B52F-ACBC-BE5A-CB3C6CDA22D2}"/>
              </a:ext>
            </a:extLst>
          </p:cNvPr>
          <p:cNvSpPr/>
          <p:nvPr/>
        </p:nvSpPr>
        <p:spPr>
          <a:xfrm>
            <a:off x="9705975" y="6773887"/>
            <a:ext cx="133350" cy="133350"/>
          </a:xfrm>
          <a:prstGeom prst="roundRect">
            <a:avLst>
              <a:gd name="adj" fmla="val 28571"/>
            </a:avLst>
          </a:prstGeom>
          <a:solidFill>
            <a:srgbClr val="A867B5"/>
          </a:solidFill>
          <a:ln/>
        </p:spPr>
        <p:txBody>
          <a:bodyPr/>
          <a:lstStyle/>
          <a:p>
            <a:endParaRPr lang="es-CO" noProof="0" dirty="0"/>
          </a:p>
        </p:txBody>
      </p:sp>
      <p:sp>
        <p:nvSpPr>
          <p:cNvPr id="53" name="Text 16">
            <a:extLst>
              <a:ext uri="{FF2B5EF4-FFF2-40B4-BE49-F238E27FC236}">
                <a16:creationId xmlns:a16="http://schemas.microsoft.com/office/drawing/2014/main" id="{1DA618D0-0DED-2D68-6AAE-401D0750DD9E}"/>
              </a:ext>
            </a:extLst>
          </p:cNvPr>
          <p:cNvSpPr/>
          <p:nvPr/>
        </p:nvSpPr>
        <p:spPr>
          <a:xfrm>
            <a:off x="10001250" y="6572983"/>
            <a:ext cx="6134100" cy="613117"/>
          </a:xfrm>
          <a:prstGeom prst="rect">
            <a:avLst/>
          </a:prstGeom>
          <a:noFill/>
          <a:ln/>
        </p:spPr>
        <p:txBody>
          <a:bodyPr wrap="square" lIns="25400" tIns="25400" rIns="25400" bIns="25400" rtlCol="0" anchor="t">
            <a:normAutofit/>
          </a:bodyPr>
          <a:lstStyle/>
          <a:p>
            <a:pPr marL="0" indent="0" algn="l">
              <a:buNone/>
            </a:pPr>
            <a:r>
              <a:rPr lang="es-CO" sz="1800" noProof="0" dirty="0" err="1">
                <a:solidFill>
                  <a:srgbClr val="FFFFFF"/>
                </a:solidFill>
                <a:latin typeface="Segoe UI" pitchFamily="34" charset="0"/>
                <a:ea typeface="Segoe UI" pitchFamily="34" charset="-122"/>
                <a:cs typeface="Segoe UI" pitchFamily="34" charset="-120"/>
              </a:rPr>
              <a:t>demanda_insatisfecha</a:t>
            </a:r>
            <a:r>
              <a:rPr lang="es-CO" sz="1800" noProof="0" dirty="0">
                <a:solidFill>
                  <a:srgbClr val="FFFFFF"/>
                </a:solidFill>
                <a:latin typeface="Segoe UI" pitchFamily="34" charset="0"/>
                <a:ea typeface="Segoe UI" pitchFamily="34" charset="-122"/>
                <a:cs typeface="Segoe UI" pitchFamily="34" charset="-120"/>
              </a:rPr>
              <a:t>, </a:t>
            </a:r>
            <a:r>
              <a:rPr lang="es-CO" sz="1800" noProof="0" dirty="0" err="1">
                <a:solidFill>
                  <a:srgbClr val="FFFFFF"/>
                </a:solidFill>
                <a:latin typeface="Segoe UI" pitchFamily="34" charset="0"/>
                <a:ea typeface="Segoe UI" pitchFamily="34" charset="-122"/>
                <a:cs typeface="Segoe UI" pitchFamily="34" charset="-120"/>
              </a:rPr>
              <a:t>unidades_recibidas</a:t>
            </a:r>
            <a:r>
              <a:rPr lang="es-CO" sz="1800" noProof="0" dirty="0">
                <a:solidFill>
                  <a:srgbClr val="FFFFFF"/>
                </a:solidFill>
                <a:latin typeface="Segoe UI" pitchFamily="34" charset="0"/>
                <a:ea typeface="Segoe UI" pitchFamily="34" charset="-122"/>
                <a:cs typeface="Segoe UI" pitchFamily="34" charset="-120"/>
              </a:rPr>
              <a:t>: dependen de la demanda de t</a:t>
            </a:r>
            <a:endParaRPr lang="es-CO" sz="1800" noProof="0" dirty="0"/>
          </a:p>
        </p:txBody>
      </p:sp>
      <p:sp>
        <p:nvSpPr>
          <p:cNvPr id="55" name="Shape 17">
            <a:extLst>
              <a:ext uri="{FF2B5EF4-FFF2-40B4-BE49-F238E27FC236}">
                <a16:creationId xmlns:a16="http://schemas.microsoft.com/office/drawing/2014/main" id="{1DB8DDEA-AFF3-6A6A-F872-C2EB028A2AAB}"/>
              </a:ext>
            </a:extLst>
          </p:cNvPr>
          <p:cNvSpPr/>
          <p:nvPr/>
        </p:nvSpPr>
        <p:spPr>
          <a:xfrm>
            <a:off x="9715500" y="7376600"/>
            <a:ext cx="133350" cy="133350"/>
          </a:xfrm>
          <a:prstGeom prst="roundRect">
            <a:avLst>
              <a:gd name="adj" fmla="val 28571"/>
            </a:avLst>
          </a:prstGeom>
          <a:solidFill>
            <a:srgbClr val="A867B5"/>
          </a:solidFill>
          <a:ln/>
        </p:spPr>
        <p:txBody>
          <a:bodyPr/>
          <a:lstStyle/>
          <a:p>
            <a:endParaRPr lang="es-CO" noProof="0" dirty="0"/>
          </a:p>
        </p:txBody>
      </p:sp>
      <p:sp>
        <p:nvSpPr>
          <p:cNvPr id="57" name="Text 18">
            <a:extLst>
              <a:ext uri="{FF2B5EF4-FFF2-40B4-BE49-F238E27FC236}">
                <a16:creationId xmlns:a16="http://schemas.microsoft.com/office/drawing/2014/main" id="{A776740F-8598-9734-67B4-D4B58AF00BDC}"/>
              </a:ext>
            </a:extLst>
          </p:cNvPr>
          <p:cNvSpPr/>
          <p:nvPr/>
        </p:nvSpPr>
        <p:spPr>
          <a:xfrm>
            <a:off x="10001250" y="7300400"/>
            <a:ext cx="4158496" cy="691076"/>
          </a:xfrm>
          <a:prstGeom prst="rect">
            <a:avLst/>
          </a:prstGeom>
          <a:noFill/>
          <a:ln/>
        </p:spPr>
        <p:txBody>
          <a:bodyPr wrap="square" lIns="25400" tIns="25400" rIns="25400" bIns="25400" rtlCol="0" anchor="t">
            <a:normAutofit/>
          </a:bodyPr>
          <a:lstStyle/>
          <a:p>
            <a:pPr marL="0" indent="0" algn="l">
              <a:buNone/>
            </a:pPr>
            <a:r>
              <a:rPr lang="es-CO" sz="1800" noProof="0" dirty="0" err="1">
                <a:solidFill>
                  <a:srgbClr val="FFFFFF"/>
                </a:solidFill>
                <a:latin typeface="Segoe UI" pitchFamily="34" charset="0"/>
                <a:ea typeface="Segoe UI" pitchFamily="34" charset="-122"/>
                <a:cs typeface="Segoe UI" pitchFamily="34" charset="-120"/>
              </a:rPr>
              <a:t>costo_unitario</a:t>
            </a:r>
            <a:r>
              <a:rPr lang="es-CO" sz="1800" noProof="0" dirty="0">
                <a:solidFill>
                  <a:srgbClr val="FFFFFF"/>
                </a:solidFill>
                <a:latin typeface="Segoe UI" pitchFamily="34" charset="0"/>
                <a:ea typeface="Segoe UI" pitchFamily="34" charset="-122"/>
                <a:cs typeface="Segoe UI" pitchFamily="34" charset="-120"/>
              </a:rPr>
              <a:t>, </a:t>
            </a:r>
            <a:r>
              <a:rPr lang="es-CO" sz="1800" noProof="0" dirty="0" err="1">
                <a:solidFill>
                  <a:srgbClr val="FFFFFF"/>
                </a:solidFill>
                <a:latin typeface="Segoe UI" pitchFamily="34" charset="0"/>
                <a:ea typeface="Segoe UI" pitchFamily="34" charset="-122"/>
                <a:cs typeface="Segoe UI" pitchFamily="34" charset="-120"/>
              </a:rPr>
              <a:t>precio_venta</a:t>
            </a:r>
            <a:r>
              <a:rPr lang="es-CO" sz="1800" noProof="0" dirty="0">
                <a:solidFill>
                  <a:srgbClr val="FFFFFF"/>
                </a:solidFill>
                <a:latin typeface="Segoe UI" pitchFamily="34" charset="0"/>
                <a:ea typeface="Segoe UI" pitchFamily="34" charset="-122"/>
                <a:cs typeface="Segoe UI" pitchFamily="34" charset="-120"/>
              </a:rPr>
              <a:t>, margen: no causan la demanda</a:t>
            </a:r>
            <a:endParaRPr lang="es-CO" sz="1800" noProof="0" dirty="0"/>
          </a:p>
        </p:txBody>
      </p:sp>
      <p:sp>
        <p:nvSpPr>
          <p:cNvPr id="59" name="CuadroTexto 58">
            <a:extLst>
              <a:ext uri="{FF2B5EF4-FFF2-40B4-BE49-F238E27FC236}">
                <a16:creationId xmlns:a16="http://schemas.microsoft.com/office/drawing/2014/main" id="{E15B11CC-1463-B32C-6C7A-EFC4C0C01F29}"/>
              </a:ext>
            </a:extLst>
          </p:cNvPr>
          <p:cNvSpPr txBox="1"/>
          <p:nvPr/>
        </p:nvSpPr>
        <p:spPr>
          <a:xfrm>
            <a:off x="1085850" y="4684234"/>
            <a:ext cx="9144000" cy="369332"/>
          </a:xfrm>
          <a:prstGeom prst="rect">
            <a:avLst/>
          </a:prstGeom>
          <a:noFill/>
        </p:spPr>
        <p:txBody>
          <a:bodyPr wrap="square">
            <a:spAutoFit/>
          </a:bodyPr>
          <a:lstStyle/>
          <a:p>
            <a:r>
              <a:rPr lang="es-CO" noProof="0" dirty="0">
                <a:solidFill>
                  <a:srgbClr val="3D3D3D"/>
                </a:solidFill>
                <a:latin typeface="Segoe UI" pitchFamily="34" charset="0"/>
                <a:cs typeface="Segoe UI" pitchFamily="34" charset="-120"/>
              </a:rPr>
              <a:t>Se generaron nuevas variables a partir del historial de demanda de cada SKU:</a:t>
            </a:r>
          </a:p>
        </p:txBody>
      </p:sp>
      <p:sp>
        <p:nvSpPr>
          <p:cNvPr id="61" name="CuadroTexto 60">
            <a:extLst>
              <a:ext uri="{FF2B5EF4-FFF2-40B4-BE49-F238E27FC236}">
                <a16:creationId xmlns:a16="http://schemas.microsoft.com/office/drawing/2014/main" id="{58224A13-10E5-A613-955E-4BDC64402731}"/>
              </a:ext>
            </a:extLst>
          </p:cNvPr>
          <p:cNvSpPr txBox="1"/>
          <p:nvPr/>
        </p:nvSpPr>
        <p:spPr>
          <a:xfrm>
            <a:off x="914400" y="8333310"/>
            <a:ext cx="6248400" cy="892552"/>
          </a:xfrm>
          <a:prstGeom prst="rect">
            <a:avLst/>
          </a:prstGeom>
          <a:noFill/>
        </p:spPr>
        <p:txBody>
          <a:bodyPr wrap="square">
            <a:spAutoFit/>
          </a:bodyPr>
          <a:lstStyle/>
          <a:p>
            <a:pPr algn="just"/>
            <a:r>
              <a:rPr lang="es-CO" b="1" noProof="0" dirty="0">
                <a:solidFill>
                  <a:srgbClr val="3D3D3D"/>
                </a:solidFill>
                <a:latin typeface="Segoe UI" pitchFamily="34" charset="0"/>
                <a:cs typeface="Segoe UI" pitchFamily="34" charset="-120"/>
              </a:rPr>
              <a:t>Nota: </a:t>
            </a:r>
            <a:r>
              <a:rPr lang="es-CO" sz="1600" noProof="0" dirty="0">
                <a:solidFill>
                  <a:srgbClr val="3D3D3D"/>
                </a:solidFill>
                <a:latin typeface="Segoe UI" pitchFamily="34" charset="0"/>
                <a:cs typeface="Segoe UI" pitchFamily="34" charset="-120"/>
              </a:rPr>
              <a:t>Importante: Todas estas variables se construyeron utilizando únicamente información disponible antes de la semana que se desea predecir.</a:t>
            </a:r>
            <a:endParaRPr lang="es-CO" sz="2250" noProof="0" dirty="0">
              <a:solidFill>
                <a:srgbClr val="3D3D3D"/>
              </a:solidFill>
              <a:latin typeface="Segoe UI" pitchFamily="34" charset="0"/>
              <a:cs typeface="Segoe UI" pitchFamily="34" charset="-12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FA8DFE-80DE-50C1-050F-6996F2F514DD}"/>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D60FF5CE-8A10-8881-7212-826D0D19C852}"/>
              </a:ext>
            </a:extLst>
          </p:cNvPr>
          <p:cNvSpPr/>
          <p:nvPr/>
        </p:nvSpPr>
        <p:spPr>
          <a:xfrm>
            <a:off x="1143000" y="1619250"/>
            <a:ext cx="10791825" cy="1358900"/>
          </a:xfrm>
          <a:prstGeom prst="rect">
            <a:avLst/>
          </a:prstGeom>
          <a:noFill/>
          <a:ln/>
        </p:spPr>
        <p:txBody>
          <a:bodyPr wrap="square" lIns="25400" tIns="25400" rIns="25400" bIns="25400" rtlCol="0" anchor="t">
            <a:normAutofit/>
          </a:bodyPr>
          <a:lstStyle/>
          <a:p>
            <a:pPr marL="0" indent="0" algn="l">
              <a:buNone/>
            </a:pPr>
            <a:r>
              <a:rPr lang="es-CO" sz="3900" b="1" noProof="0" dirty="0">
                <a:solidFill>
                  <a:srgbClr val="3D3D3D"/>
                </a:solidFill>
                <a:latin typeface="Segoe UI" pitchFamily="34" charset="0"/>
                <a:ea typeface="Segoe UI" pitchFamily="34" charset="-122"/>
                <a:cs typeface="Segoe UI" pitchFamily="34" charset="-120"/>
              </a:rPr>
              <a:t>Partición temporal de los datos: 80/20</a:t>
            </a:r>
            <a:endParaRPr lang="es-CO" sz="3900" noProof="0" dirty="0"/>
          </a:p>
        </p:txBody>
      </p:sp>
      <p:sp>
        <p:nvSpPr>
          <p:cNvPr id="5" name="Text 3">
            <a:extLst>
              <a:ext uri="{FF2B5EF4-FFF2-40B4-BE49-F238E27FC236}">
                <a16:creationId xmlns:a16="http://schemas.microsoft.com/office/drawing/2014/main" id="{FA09E1FF-4708-7B4D-5C96-04F245A12E92}"/>
              </a:ext>
            </a:extLst>
          </p:cNvPr>
          <p:cNvSpPr/>
          <p:nvPr/>
        </p:nvSpPr>
        <p:spPr>
          <a:xfrm>
            <a:off x="1143000" y="3048000"/>
            <a:ext cx="10248900" cy="3543300"/>
          </a:xfrm>
          <a:prstGeom prst="rect">
            <a:avLst/>
          </a:prstGeom>
          <a:noFill/>
          <a:ln/>
        </p:spPr>
        <p:txBody>
          <a:bodyPr wrap="square" lIns="25400" tIns="25400" rIns="25400" bIns="25400" rtlCol="0" anchor="t">
            <a:normAutofit/>
          </a:bodyPr>
          <a:lstStyle/>
          <a:p>
            <a:pPr marL="0" indent="0" algn="l">
              <a:lnSpc>
                <a:spcPct val="120000"/>
              </a:lnSpc>
              <a:buNone/>
            </a:pPr>
            <a:r>
              <a:rPr lang="es-CO" sz="2250" noProof="0" dirty="0">
                <a:solidFill>
                  <a:srgbClr val="3D3D3D"/>
                </a:solidFill>
                <a:latin typeface="Segoe UI" pitchFamily="34" charset="0"/>
                <a:ea typeface="Segoe UI" pitchFamily="34" charset="-122"/>
                <a:cs typeface="Segoe UI" pitchFamily="34" charset="-120"/>
              </a:rPr>
              <a:t>Una vez construidas las variables predictoras, el conjunto de datos se dividió respetando el orden cronológico.</a:t>
            </a:r>
          </a:p>
          <a:p>
            <a:pPr marL="0" indent="0" algn="l">
              <a:lnSpc>
                <a:spcPct val="120000"/>
              </a:lnSpc>
              <a:buNone/>
            </a:pPr>
            <a:endParaRPr lang="es-CO" sz="2250" noProof="0" dirty="0">
              <a:solidFill>
                <a:srgbClr val="3D3D3D"/>
              </a:solidFill>
              <a:latin typeface="Segoe UI" pitchFamily="34" charset="0"/>
              <a:ea typeface="Segoe UI" pitchFamily="34" charset="-122"/>
              <a:cs typeface="Segoe UI" pitchFamily="34" charset="-120"/>
            </a:endParaRPr>
          </a:p>
          <a:p>
            <a:pPr marL="342900" indent="-342900" algn="l">
              <a:lnSpc>
                <a:spcPct val="120000"/>
              </a:lnSpc>
              <a:buFont typeface="Arial" panose="020B0604020202020204" pitchFamily="34" charset="0"/>
              <a:buChar char="•"/>
            </a:pPr>
            <a:r>
              <a:rPr lang="es-CO" sz="2250" b="1" noProof="0" dirty="0">
                <a:solidFill>
                  <a:srgbClr val="3D3D3D"/>
                </a:solidFill>
                <a:latin typeface="Segoe UI" pitchFamily="34" charset="0"/>
                <a:ea typeface="Segoe UI" pitchFamily="34" charset="-122"/>
                <a:cs typeface="Segoe UI" pitchFamily="34" charset="-120"/>
              </a:rPr>
              <a:t>Semanas 1 a 42: entrenamiento del modelo.</a:t>
            </a:r>
          </a:p>
          <a:p>
            <a:pPr marL="342900" indent="-342900" algn="l">
              <a:lnSpc>
                <a:spcPct val="120000"/>
              </a:lnSpc>
              <a:buFont typeface="Arial" panose="020B0604020202020204" pitchFamily="34" charset="0"/>
              <a:buChar char="•"/>
            </a:pPr>
            <a:r>
              <a:rPr lang="es-CO" sz="2250" b="1" noProof="0" dirty="0">
                <a:solidFill>
                  <a:srgbClr val="3D3D3D"/>
                </a:solidFill>
                <a:latin typeface="Segoe UI" pitchFamily="34" charset="0"/>
                <a:ea typeface="Segoe UI" pitchFamily="34" charset="-122"/>
                <a:cs typeface="Segoe UI" pitchFamily="34" charset="-120"/>
              </a:rPr>
              <a:t>Semanas 43 a 52: validación del modelo.</a:t>
            </a:r>
          </a:p>
          <a:p>
            <a:pPr marL="0" indent="0" algn="l">
              <a:lnSpc>
                <a:spcPct val="120000"/>
              </a:lnSpc>
              <a:buNone/>
            </a:pPr>
            <a:endParaRPr lang="es-CO" sz="2250" noProof="0" dirty="0">
              <a:solidFill>
                <a:srgbClr val="3D3D3D"/>
              </a:solidFill>
              <a:latin typeface="Segoe UI" pitchFamily="34" charset="0"/>
              <a:ea typeface="Segoe UI" pitchFamily="34" charset="-122"/>
              <a:cs typeface="Segoe UI" pitchFamily="34" charset="-120"/>
            </a:endParaRPr>
          </a:p>
          <a:p>
            <a:pPr marL="0" indent="0" algn="l">
              <a:lnSpc>
                <a:spcPct val="120000"/>
              </a:lnSpc>
              <a:buNone/>
            </a:pPr>
            <a:r>
              <a:rPr lang="es-CO" sz="2250" noProof="0" dirty="0">
                <a:solidFill>
                  <a:srgbClr val="3D3D3D"/>
                </a:solidFill>
                <a:latin typeface="Segoe UI" pitchFamily="34" charset="0"/>
                <a:ea typeface="Segoe UI" pitchFamily="34" charset="-122"/>
                <a:cs typeface="Segoe UI" pitchFamily="34" charset="-120"/>
              </a:rPr>
              <a:t>Esta división evita que el modelo utilice información del futuro para aprender, una condición indispensable en problemas de predicción de series de tiempo.</a:t>
            </a:r>
            <a:endParaRPr lang="es-CO" sz="2250" noProof="0" dirty="0"/>
          </a:p>
        </p:txBody>
      </p:sp>
      <p:sp>
        <p:nvSpPr>
          <p:cNvPr id="6" name="Shape 4">
            <a:extLst>
              <a:ext uri="{FF2B5EF4-FFF2-40B4-BE49-F238E27FC236}">
                <a16:creationId xmlns:a16="http://schemas.microsoft.com/office/drawing/2014/main" id="{3A1FBA70-95CC-7E9F-7F2B-FC2106C9775C}"/>
              </a:ext>
            </a:extLst>
          </p:cNvPr>
          <p:cNvSpPr/>
          <p:nvPr/>
        </p:nvSpPr>
        <p:spPr>
          <a:xfrm>
            <a:off x="12407502" y="2714625"/>
            <a:ext cx="5591175" cy="5248275"/>
          </a:xfrm>
          <a:prstGeom prst="roundRect">
            <a:avLst>
              <a:gd name="adj" fmla="val 10180"/>
            </a:avLst>
          </a:prstGeom>
          <a:solidFill>
            <a:srgbClr val="F4FADF"/>
          </a:solidFill>
          <a:ln/>
        </p:spPr>
        <p:txBody>
          <a:bodyPr/>
          <a:lstStyle/>
          <a:p>
            <a:endParaRPr lang="es-CO" noProof="0" dirty="0"/>
          </a:p>
        </p:txBody>
      </p:sp>
      <p:sp>
        <p:nvSpPr>
          <p:cNvPr id="7" name="Shape 5">
            <a:extLst>
              <a:ext uri="{FF2B5EF4-FFF2-40B4-BE49-F238E27FC236}">
                <a16:creationId xmlns:a16="http://schemas.microsoft.com/office/drawing/2014/main" id="{F4B470F3-524C-0A98-1F2E-CC83F5E541C4}"/>
              </a:ext>
            </a:extLst>
          </p:cNvPr>
          <p:cNvSpPr/>
          <p:nvPr/>
        </p:nvSpPr>
        <p:spPr>
          <a:xfrm>
            <a:off x="12763500" y="3048000"/>
            <a:ext cx="495300" cy="495300"/>
          </a:xfrm>
          <a:prstGeom prst="roundRect">
            <a:avLst>
              <a:gd name="adj" fmla="val 30769"/>
            </a:avLst>
          </a:prstGeom>
          <a:solidFill>
            <a:srgbClr val="B7D81A"/>
          </a:solidFill>
          <a:ln/>
        </p:spPr>
        <p:txBody>
          <a:bodyPr/>
          <a:lstStyle/>
          <a:p>
            <a:endParaRPr lang="es-CO" noProof="0" dirty="0"/>
          </a:p>
        </p:txBody>
      </p:sp>
      <p:sp>
        <p:nvSpPr>
          <p:cNvPr id="8" name="Text 6">
            <a:extLst>
              <a:ext uri="{FF2B5EF4-FFF2-40B4-BE49-F238E27FC236}">
                <a16:creationId xmlns:a16="http://schemas.microsoft.com/office/drawing/2014/main" id="{E88DB34C-8861-4C25-8D4F-59C9A3646759}"/>
              </a:ext>
            </a:extLst>
          </p:cNvPr>
          <p:cNvSpPr/>
          <p:nvPr/>
        </p:nvSpPr>
        <p:spPr>
          <a:xfrm>
            <a:off x="13475492" y="3162299"/>
            <a:ext cx="4879183" cy="457200"/>
          </a:xfrm>
          <a:prstGeom prst="rect">
            <a:avLst/>
          </a:prstGeom>
          <a:noFill/>
          <a:ln/>
        </p:spPr>
        <p:txBody>
          <a:bodyPr wrap="square" lIns="25400" tIns="25400" rIns="25400" bIns="25400" rtlCol="0" anchor="t">
            <a:normAutofit/>
          </a:bodyPr>
          <a:lstStyle/>
          <a:p>
            <a:pPr marL="0" indent="0" algn="l">
              <a:buNone/>
            </a:pPr>
            <a:r>
              <a:rPr lang="es-CO" sz="1650" b="1" noProof="0" dirty="0">
                <a:solidFill>
                  <a:srgbClr val="7E2C8C"/>
                </a:solidFill>
                <a:latin typeface="Segoe UI" pitchFamily="34" charset="0"/>
                <a:ea typeface="Segoe UI" pitchFamily="34" charset="-122"/>
                <a:cs typeface="Segoe UI" pitchFamily="34" charset="-120"/>
              </a:rPr>
              <a:t>Validación de las variables predictoras</a:t>
            </a:r>
            <a:endParaRPr lang="es-CO" sz="1650" noProof="0" dirty="0"/>
          </a:p>
        </p:txBody>
      </p:sp>
      <p:sp>
        <p:nvSpPr>
          <p:cNvPr id="9" name="Text 7">
            <a:extLst>
              <a:ext uri="{FF2B5EF4-FFF2-40B4-BE49-F238E27FC236}">
                <a16:creationId xmlns:a16="http://schemas.microsoft.com/office/drawing/2014/main" id="{5D7077CE-2DF9-1513-2D9F-7E2EFE495964}"/>
              </a:ext>
            </a:extLst>
          </p:cNvPr>
          <p:cNvSpPr/>
          <p:nvPr/>
        </p:nvSpPr>
        <p:spPr>
          <a:xfrm>
            <a:off x="12763497" y="3762375"/>
            <a:ext cx="4879183" cy="4057650"/>
          </a:xfrm>
          <a:prstGeom prst="rect">
            <a:avLst/>
          </a:prstGeom>
          <a:noFill/>
          <a:ln/>
        </p:spPr>
        <p:txBody>
          <a:bodyPr wrap="square" lIns="25400" tIns="25400" rIns="25400" bIns="25400" rtlCol="0" anchor="t">
            <a:normAutofit/>
          </a:bodyPr>
          <a:lstStyle/>
          <a:p>
            <a:pPr marL="0" indent="0" algn="just">
              <a:lnSpc>
                <a:spcPct val="112500"/>
              </a:lnSpc>
              <a:buNone/>
            </a:pPr>
            <a:r>
              <a:rPr lang="es-CO" sz="1950" noProof="0" dirty="0">
                <a:solidFill>
                  <a:srgbClr val="3D3D3D"/>
                </a:solidFill>
                <a:latin typeface="Segoe UI" pitchFamily="34" charset="0"/>
                <a:ea typeface="Segoe UI" pitchFamily="34" charset="-122"/>
                <a:cs typeface="Segoe UI" pitchFamily="34" charset="-120"/>
              </a:rPr>
              <a:t>Para comprobar que todas las variables fueron calculadas correctamente, se desarrolló un script independiente. Este script reconstruyó cada variable predictora y la comparó con la matriz utilizada para entrenar el modelo, verificando que no existieran errores ni uso de información futura. Resultado de la validación13 verificaciones ejecutadas13 verificaciones superadas Matriz de predictores: </a:t>
            </a:r>
            <a:r>
              <a:rPr lang="es-CO" sz="1950" b="1" noProof="0" dirty="0">
                <a:solidFill>
                  <a:srgbClr val="3D3D3D"/>
                </a:solidFill>
                <a:latin typeface="Segoe UI" pitchFamily="34" charset="0"/>
                <a:ea typeface="Segoe UI" pitchFamily="34" charset="-122"/>
                <a:cs typeface="Segoe UI" pitchFamily="34" charset="-120"/>
              </a:rPr>
              <a:t>APTA </a:t>
            </a:r>
            <a:r>
              <a:rPr lang="es-CO" sz="1950" noProof="0" dirty="0">
                <a:solidFill>
                  <a:srgbClr val="3D3D3D"/>
                </a:solidFill>
                <a:latin typeface="Segoe UI" pitchFamily="34" charset="0"/>
                <a:ea typeface="Segoe UI" pitchFamily="34" charset="-122"/>
                <a:cs typeface="Segoe UI" pitchFamily="34" charset="-120"/>
              </a:rPr>
              <a:t>para el modelado predictivo</a:t>
            </a:r>
            <a:endParaRPr lang="es-CO" sz="1950" noProof="0" dirty="0"/>
          </a:p>
        </p:txBody>
      </p:sp>
      <p:sp>
        <p:nvSpPr>
          <p:cNvPr id="10" name="Text 8">
            <a:extLst>
              <a:ext uri="{FF2B5EF4-FFF2-40B4-BE49-F238E27FC236}">
                <a16:creationId xmlns:a16="http://schemas.microsoft.com/office/drawing/2014/main" id="{2E69FDE7-3F98-583D-EE0D-40CB2A09FE30}"/>
              </a:ext>
            </a:extLst>
          </p:cNvPr>
          <p:cNvSpPr/>
          <p:nvPr/>
        </p:nvSpPr>
        <p:spPr>
          <a:xfrm>
            <a:off x="1143000" y="9525000"/>
            <a:ext cx="5412720" cy="266700"/>
          </a:xfrm>
          <a:prstGeom prst="rect">
            <a:avLst/>
          </a:prstGeom>
          <a:noFill/>
          <a:ln/>
        </p:spPr>
        <p:txBody>
          <a:bodyPr wrap="square" lIns="25400" tIns="25400" rIns="25400" bIns="25400" rtlCol="0" anchor="t">
            <a:normAutofit/>
          </a:bodyPr>
          <a:lstStyle/>
          <a:p>
            <a:pPr marL="0" indent="0" algn="l">
              <a:buNone/>
            </a:pPr>
            <a:r>
              <a:rPr lang="es-CO" sz="1350" noProof="0" dirty="0">
                <a:solidFill>
                  <a:srgbClr val="6F6F6F"/>
                </a:solidFill>
                <a:latin typeface="Segoe UI" pitchFamily="34" charset="0"/>
                <a:ea typeface="Segoe UI" pitchFamily="34" charset="-122"/>
                <a:cs typeface="Segoe UI" pitchFamily="34" charset="-120"/>
              </a:rPr>
              <a:t>UTS · Cartilla de aprendizaje — Gestión Inteligente de Inventarios</a:t>
            </a:r>
            <a:endParaRPr lang="es-CO" sz="1350" noProof="0" dirty="0"/>
          </a:p>
        </p:txBody>
      </p:sp>
      <p:sp>
        <p:nvSpPr>
          <p:cNvPr id="11" name="Shape 9">
            <a:extLst>
              <a:ext uri="{FF2B5EF4-FFF2-40B4-BE49-F238E27FC236}">
                <a16:creationId xmlns:a16="http://schemas.microsoft.com/office/drawing/2014/main" id="{3A2CAEFF-1140-B405-FD66-2DBAADF5FAE5}"/>
              </a:ext>
            </a:extLst>
          </p:cNvPr>
          <p:cNvSpPr/>
          <p:nvPr/>
        </p:nvSpPr>
        <p:spPr>
          <a:xfrm>
            <a:off x="16725900" y="9410700"/>
            <a:ext cx="419100" cy="419100"/>
          </a:xfrm>
          <a:prstGeom prst="ellipse">
            <a:avLst/>
          </a:prstGeom>
          <a:solidFill>
            <a:srgbClr val="7E2C8C"/>
          </a:solidFill>
          <a:ln/>
        </p:spPr>
        <p:txBody>
          <a:bodyPr/>
          <a:lstStyle/>
          <a:p>
            <a:endParaRPr lang="es-CO" noProof="0" dirty="0"/>
          </a:p>
        </p:txBody>
      </p:sp>
      <p:sp>
        <p:nvSpPr>
          <p:cNvPr id="12" name="Text 10">
            <a:extLst>
              <a:ext uri="{FF2B5EF4-FFF2-40B4-BE49-F238E27FC236}">
                <a16:creationId xmlns:a16="http://schemas.microsoft.com/office/drawing/2014/main" id="{4157CF35-7F35-6E2A-947F-644FB10A1CE4}"/>
              </a:ext>
            </a:extLst>
          </p:cNvPr>
          <p:cNvSpPr/>
          <p:nvPr/>
        </p:nvSpPr>
        <p:spPr>
          <a:xfrm>
            <a:off x="16687800" y="9410700"/>
            <a:ext cx="495300" cy="457200"/>
          </a:xfrm>
          <a:prstGeom prst="rect">
            <a:avLst/>
          </a:prstGeom>
          <a:noFill/>
          <a:ln/>
        </p:spPr>
        <p:txBody>
          <a:bodyPr wrap="square" lIns="25400" tIns="25400" rIns="25400" bIns="25400" rtlCol="0" anchor="ctr">
            <a:normAutofit/>
          </a:bodyPr>
          <a:lstStyle/>
          <a:p>
            <a:pPr marL="0" indent="0" algn="ctr">
              <a:buNone/>
            </a:pPr>
            <a:r>
              <a:rPr lang="es-CO" sz="1500" b="1" noProof="0" dirty="0">
                <a:solidFill>
                  <a:srgbClr val="FFFFFF"/>
                </a:solidFill>
                <a:latin typeface="Segoe UI" pitchFamily="34" charset="0"/>
                <a:cs typeface="Segoe UI" pitchFamily="34" charset="-120"/>
              </a:rPr>
              <a:t>23</a:t>
            </a:r>
            <a:endParaRPr lang="es-CO" sz="1500" noProof="0" dirty="0"/>
          </a:p>
        </p:txBody>
      </p:sp>
      <p:sp>
        <p:nvSpPr>
          <p:cNvPr id="3" name="CuadroTexto 2">
            <a:extLst>
              <a:ext uri="{FF2B5EF4-FFF2-40B4-BE49-F238E27FC236}">
                <a16:creationId xmlns:a16="http://schemas.microsoft.com/office/drawing/2014/main" id="{CCFE9080-A862-2B03-BD2D-059CB8E60346}"/>
              </a:ext>
            </a:extLst>
          </p:cNvPr>
          <p:cNvSpPr txBox="1"/>
          <p:nvPr/>
        </p:nvSpPr>
        <p:spPr>
          <a:xfrm>
            <a:off x="1143000" y="6712623"/>
            <a:ext cx="9182100" cy="1777410"/>
          </a:xfrm>
          <a:prstGeom prst="rect">
            <a:avLst/>
          </a:prstGeom>
          <a:noFill/>
        </p:spPr>
        <p:txBody>
          <a:bodyPr wrap="square">
            <a:spAutoFit/>
          </a:bodyPr>
          <a:lstStyle/>
          <a:p>
            <a:r>
              <a:rPr lang="es-CO" sz="2400" b="1" noProof="0" dirty="0">
                <a:solidFill>
                  <a:srgbClr val="3D3D3D"/>
                </a:solidFill>
                <a:latin typeface="Segoe UI" pitchFamily="34" charset="0"/>
                <a:cs typeface="Segoe UI" pitchFamily="34" charset="-120"/>
              </a:rPr>
              <a:t>Predicción one-step-</a:t>
            </a:r>
            <a:r>
              <a:rPr lang="es-CO" sz="2400" b="1" noProof="0" dirty="0" err="1">
                <a:solidFill>
                  <a:srgbClr val="3D3D3D"/>
                </a:solidFill>
                <a:latin typeface="Segoe UI" pitchFamily="34" charset="0"/>
                <a:cs typeface="Segoe UI" pitchFamily="34" charset="-120"/>
              </a:rPr>
              <a:t>ahead</a:t>
            </a:r>
            <a:endParaRPr lang="es-CO" sz="2400" b="1" noProof="0" dirty="0">
              <a:solidFill>
                <a:srgbClr val="3D3D3D"/>
              </a:solidFill>
              <a:latin typeface="Segoe UI" pitchFamily="34" charset="0"/>
              <a:cs typeface="Segoe UI" pitchFamily="34" charset="-120"/>
            </a:endParaRPr>
          </a:p>
          <a:p>
            <a:endParaRPr lang="es-CO" b="1" noProof="0" dirty="0">
              <a:solidFill>
                <a:srgbClr val="3D3D3D"/>
              </a:solidFill>
              <a:latin typeface="Segoe UI" pitchFamily="34" charset="0"/>
              <a:cs typeface="Segoe UI" pitchFamily="34" charset="-120"/>
            </a:endParaRPr>
          </a:p>
          <a:p>
            <a:r>
              <a:rPr lang="es-CO" sz="2250" noProof="0" dirty="0">
                <a:solidFill>
                  <a:srgbClr val="3D3D3D"/>
                </a:solidFill>
                <a:latin typeface="Segoe UI" pitchFamily="34" charset="0"/>
                <a:cs typeface="Segoe UI" pitchFamily="34" charset="-120"/>
              </a:rPr>
              <a:t>El modelo predice la demanda de una semana utilizando únicamente la información disponible hasta la semana anterior. Esto evita el uso de datos futuros y hace que la predicción sea realista</a:t>
            </a:r>
          </a:p>
        </p:txBody>
      </p:sp>
      <p:sp>
        <p:nvSpPr>
          <p:cNvPr id="15" name="Shape 0">
            <a:extLst>
              <a:ext uri="{FF2B5EF4-FFF2-40B4-BE49-F238E27FC236}">
                <a16:creationId xmlns:a16="http://schemas.microsoft.com/office/drawing/2014/main" id="{70A781F6-3577-6E88-D9B2-1962A6EB9F58}"/>
              </a:ext>
            </a:extLst>
          </p:cNvPr>
          <p:cNvSpPr/>
          <p:nvPr/>
        </p:nvSpPr>
        <p:spPr>
          <a:xfrm>
            <a:off x="1143000" y="838200"/>
            <a:ext cx="5592652" cy="419100"/>
          </a:xfrm>
          <a:prstGeom prst="roundRect">
            <a:avLst>
              <a:gd name="adj" fmla="val 50000"/>
            </a:avLst>
          </a:prstGeom>
          <a:solidFill>
            <a:srgbClr val="F4FADF"/>
          </a:solidFill>
          <a:ln/>
        </p:spPr>
        <p:txBody>
          <a:bodyPr/>
          <a:lstStyle/>
          <a:p>
            <a:endParaRPr lang="es-CO" noProof="0" dirty="0"/>
          </a:p>
        </p:txBody>
      </p:sp>
      <p:sp>
        <p:nvSpPr>
          <p:cNvPr id="18" name="Text 1">
            <a:extLst>
              <a:ext uri="{FF2B5EF4-FFF2-40B4-BE49-F238E27FC236}">
                <a16:creationId xmlns:a16="http://schemas.microsoft.com/office/drawing/2014/main" id="{4B3DE74D-1B0F-4EFF-9BFC-D1DEC6481675}"/>
              </a:ext>
            </a:extLst>
          </p:cNvPr>
          <p:cNvSpPr/>
          <p:nvPr/>
        </p:nvSpPr>
        <p:spPr>
          <a:xfrm>
            <a:off x="1352550" y="933450"/>
            <a:ext cx="5383101" cy="266700"/>
          </a:xfrm>
          <a:prstGeom prst="rect">
            <a:avLst/>
          </a:prstGeom>
          <a:noFill/>
          <a:ln/>
        </p:spPr>
        <p:txBody>
          <a:bodyPr wrap="square" lIns="25400" tIns="25400" rIns="25400" bIns="25400" rtlCol="0" anchor="ctr">
            <a:normAutofit/>
          </a:bodyPr>
          <a:lstStyle/>
          <a:p>
            <a:pPr marL="0" indent="0" algn="l">
              <a:buNone/>
            </a:pPr>
            <a:r>
              <a:rPr lang="es-CO" sz="1350" b="1" kern="0" spc="81" noProof="0" dirty="0">
                <a:solidFill>
                  <a:srgbClr val="7E2C8C"/>
                </a:solidFill>
                <a:latin typeface="Segoe UI" pitchFamily="34" charset="0"/>
                <a:ea typeface="Segoe UI" pitchFamily="34" charset="-122"/>
                <a:cs typeface="Segoe UI" pitchFamily="34" charset="-120"/>
              </a:rPr>
              <a:t>FASE 4 · PREPARACIÓN DE VARIABLES PREDICTORAS</a:t>
            </a:r>
            <a:endParaRPr lang="es-CO" sz="1350" noProof="0" dirty="0"/>
          </a:p>
        </p:txBody>
      </p:sp>
    </p:spTree>
    <p:extLst>
      <p:ext uri="{BB962C8B-B14F-4D97-AF65-F5344CB8AC3E}">
        <p14:creationId xmlns:p14="http://schemas.microsoft.com/office/powerpoint/2010/main" val="21194840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9524AC"/>
        </a:solidFill>
        <a:effectLst/>
      </p:bgPr>
    </p:bg>
    <p:spTree>
      <p:nvGrpSpPr>
        <p:cNvPr id="1" name=""/>
        <p:cNvGrpSpPr/>
        <p:nvPr/>
      </p:nvGrpSpPr>
      <p:grpSpPr>
        <a:xfrm>
          <a:off x="0" y="0"/>
          <a:ext cx="0" cy="0"/>
          <a:chOff x="0" y="0"/>
          <a:chExt cx="0" cy="0"/>
        </a:xfrm>
      </p:grpSpPr>
      <p:sp>
        <p:nvSpPr>
          <p:cNvPr id="4" name="Text 2"/>
          <p:cNvSpPr/>
          <p:nvPr/>
        </p:nvSpPr>
        <p:spPr>
          <a:xfrm>
            <a:off x="1143000" y="1619250"/>
            <a:ext cx="13620750" cy="698500"/>
          </a:xfrm>
          <a:prstGeom prst="rect">
            <a:avLst/>
          </a:prstGeom>
          <a:noFill/>
          <a:ln/>
        </p:spPr>
        <p:txBody>
          <a:bodyPr wrap="square" lIns="25400" tIns="25400" rIns="25400" bIns="25400" rtlCol="0" anchor="t">
            <a:normAutofit/>
          </a:bodyPr>
          <a:lstStyle/>
          <a:p>
            <a:pPr marL="0" indent="0" algn="l">
              <a:buNone/>
            </a:pPr>
            <a:r>
              <a:rPr lang="es-CO" sz="3900" b="1" noProof="0" dirty="0">
                <a:solidFill>
                  <a:srgbClr val="FFFFFF"/>
                </a:solidFill>
                <a:latin typeface="Segoe UI" pitchFamily="34" charset="0"/>
                <a:ea typeface="Segoe UI" pitchFamily="34" charset="-122"/>
                <a:cs typeface="Segoe UI" pitchFamily="34" charset="-120"/>
              </a:rPr>
              <a:t>Validación de las variables predictoras</a:t>
            </a:r>
            <a:endParaRPr lang="es-CO" sz="3900" noProof="0" dirty="0"/>
          </a:p>
        </p:txBody>
      </p:sp>
      <p:sp>
        <p:nvSpPr>
          <p:cNvPr id="5" name="Shape 3"/>
          <p:cNvSpPr/>
          <p:nvPr/>
        </p:nvSpPr>
        <p:spPr>
          <a:xfrm>
            <a:off x="1143000" y="3619500"/>
            <a:ext cx="4381500" cy="4000500"/>
          </a:xfrm>
          <a:prstGeom prst="roundRect">
            <a:avLst>
              <a:gd name="adj" fmla="val 7619"/>
            </a:avLst>
          </a:prstGeom>
          <a:solidFill>
            <a:schemeClr val="bg1">
              <a:lumMod val="75000"/>
            </a:schemeClr>
          </a:solidFill>
          <a:ln/>
        </p:spPr>
        <p:txBody>
          <a:bodyPr/>
          <a:lstStyle/>
          <a:p>
            <a:endParaRPr lang="es-CO" noProof="0" dirty="0"/>
          </a:p>
        </p:txBody>
      </p:sp>
      <p:sp>
        <p:nvSpPr>
          <p:cNvPr id="6" name="Shape 4"/>
          <p:cNvSpPr/>
          <p:nvPr/>
        </p:nvSpPr>
        <p:spPr>
          <a:xfrm>
            <a:off x="1524000" y="4000500"/>
            <a:ext cx="419100" cy="419100"/>
          </a:xfrm>
          <a:prstGeom prst="roundRect">
            <a:avLst>
              <a:gd name="adj" fmla="val 27273"/>
            </a:avLst>
          </a:prstGeom>
          <a:solidFill>
            <a:srgbClr val="B7D81A"/>
          </a:solidFill>
          <a:ln/>
        </p:spPr>
        <p:txBody>
          <a:bodyPr/>
          <a:lstStyle/>
          <a:p>
            <a:endParaRPr lang="es-CO" noProof="0" dirty="0"/>
          </a:p>
        </p:txBody>
      </p:sp>
      <p:sp>
        <p:nvSpPr>
          <p:cNvPr id="7" name="Text 5"/>
          <p:cNvSpPr/>
          <p:nvPr/>
        </p:nvSpPr>
        <p:spPr>
          <a:xfrm>
            <a:off x="1524000" y="6146800"/>
            <a:ext cx="3981450" cy="850900"/>
          </a:xfrm>
          <a:prstGeom prst="rect">
            <a:avLst/>
          </a:prstGeom>
          <a:noFill/>
          <a:ln/>
        </p:spPr>
        <p:txBody>
          <a:bodyPr wrap="square" lIns="25400" tIns="25400" rIns="25400" bIns="25400" rtlCol="0" anchor="t">
            <a:normAutofit/>
          </a:bodyPr>
          <a:lstStyle/>
          <a:p>
            <a:pPr marL="0" indent="0" algn="l">
              <a:buNone/>
            </a:pPr>
            <a:r>
              <a:rPr lang="es-CO" sz="4800" b="1" noProof="0" dirty="0">
                <a:solidFill>
                  <a:srgbClr val="FFFFFF"/>
                </a:solidFill>
                <a:latin typeface="Segoe UI" pitchFamily="34" charset="0"/>
                <a:ea typeface="Segoe UI" pitchFamily="34" charset="-122"/>
                <a:cs typeface="Segoe UI" pitchFamily="34" charset="-120"/>
              </a:rPr>
              <a:t>13</a:t>
            </a:r>
            <a:endParaRPr lang="es-CO" sz="4800" noProof="0" dirty="0"/>
          </a:p>
        </p:txBody>
      </p:sp>
      <p:sp>
        <p:nvSpPr>
          <p:cNvPr id="8" name="Text 6"/>
          <p:cNvSpPr/>
          <p:nvPr/>
        </p:nvSpPr>
        <p:spPr>
          <a:xfrm>
            <a:off x="1524000" y="6959600"/>
            <a:ext cx="3981450" cy="317500"/>
          </a:xfrm>
          <a:prstGeom prst="rect">
            <a:avLst/>
          </a:prstGeom>
          <a:noFill/>
          <a:ln/>
        </p:spPr>
        <p:txBody>
          <a:bodyPr wrap="square" lIns="25400" tIns="25400" rIns="25400" bIns="25400" rtlCol="0" anchor="t">
            <a:normAutofit/>
          </a:bodyPr>
          <a:lstStyle/>
          <a:p>
            <a:pPr marL="0" indent="0" algn="l">
              <a:buNone/>
            </a:pPr>
            <a:r>
              <a:rPr lang="es-CO" sz="1650" noProof="0" dirty="0">
                <a:latin typeface="Segoe UI" pitchFamily="34" charset="0"/>
                <a:ea typeface="Segoe UI" pitchFamily="34" charset="-122"/>
                <a:cs typeface="Segoe UI" pitchFamily="34" charset="-120"/>
              </a:rPr>
              <a:t>verificaciones ejecutadas</a:t>
            </a:r>
            <a:endParaRPr lang="es-CO" sz="1650" noProof="0" dirty="0"/>
          </a:p>
        </p:txBody>
      </p:sp>
      <p:sp>
        <p:nvSpPr>
          <p:cNvPr id="9" name="Shape 7"/>
          <p:cNvSpPr/>
          <p:nvPr/>
        </p:nvSpPr>
        <p:spPr>
          <a:xfrm>
            <a:off x="5143500" y="3619500"/>
            <a:ext cx="4381500" cy="4000500"/>
          </a:xfrm>
          <a:prstGeom prst="roundRect">
            <a:avLst>
              <a:gd name="adj" fmla="val 7619"/>
            </a:avLst>
          </a:prstGeom>
          <a:solidFill>
            <a:srgbClr val="D6F38D"/>
          </a:solidFill>
          <a:ln/>
        </p:spPr>
        <p:txBody>
          <a:bodyPr/>
          <a:lstStyle/>
          <a:p>
            <a:endParaRPr lang="es-CO" noProof="0" dirty="0"/>
          </a:p>
        </p:txBody>
      </p:sp>
      <p:sp>
        <p:nvSpPr>
          <p:cNvPr id="10" name="Shape 8"/>
          <p:cNvSpPr/>
          <p:nvPr/>
        </p:nvSpPr>
        <p:spPr>
          <a:xfrm>
            <a:off x="5524500" y="4000500"/>
            <a:ext cx="419100" cy="419100"/>
          </a:xfrm>
          <a:prstGeom prst="roundRect">
            <a:avLst>
              <a:gd name="adj" fmla="val 27273"/>
            </a:avLst>
          </a:prstGeom>
          <a:solidFill>
            <a:srgbClr val="A867B5"/>
          </a:solidFill>
          <a:ln/>
        </p:spPr>
        <p:txBody>
          <a:bodyPr/>
          <a:lstStyle/>
          <a:p>
            <a:endParaRPr lang="es-CO" noProof="0" dirty="0"/>
          </a:p>
        </p:txBody>
      </p:sp>
      <p:sp>
        <p:nvSpPr>
          <p:cNvPr id="11" name="Text 9"/>
          <p:cNvSpPr/>
          <p:nvPr/>
        </p:nvSpPr>
        <p:spPr>
          <a:xfrm>
            <a:off x="5524500" y="6146800"/>
            <a:ext cx="3981450" cy="850900"/>
          </a:xfrm>
          <a:prstGeom prst="rect">
            <a:avLst/>
          </a:prstGeom>
          <a:noFill/>
          <a:ln/>
        </p:spPr>
        <p:txBody>
          <a:bodyPr wrap="square" lIns="25400" tIns="25400" rIns="25400" bIns="25400" rtlCol="0" anchor="t">
            <a:normAutofit/>
          </a:bodyPr>
          <a:lstStyle/>
          <a:p>
            <a:pPr marL="0" indent="0" algn="l">
              <a:buNone/>
            </a:pPr>
            <a:r>
              <a:rPr lang="es-CO" sz="4800" b="1" noProof="0" dirty="0">
                <a:solidFill>
                  <a:srgbClr val="FFFFFF"/>
                </a:solidFill>
                <a:latin typeface="Segoe UI" pitchFamily="34" charset="0"/>
                <a:ea typeface="Segoe UI" pitchFamily="34" charset="-122"/>
                <a:cs typeface="Segoe UI" pitchFamily="34" charset="-120"/>
              </a:rPr>
              <a:t>13</a:t>
            </a:r>
            <a:endParaRPr lang="es-CO" sz="4800" noProof="0" dirty="0"/>
          </a:p>
        </p:txBody>
      </p:sp>
      <p:sp>
        <p:nvSpPr>
          <p:cNvPr id="12" name="Text 10"/>
          <p:cNvSpPr/>
          <p:nvPr/>
        </p:nvSpPr>
        <p:spPr>
          <a:xfrm>
            <a:off x="5524500" y="6959600"/>
            <a:ext cx="3981450" cy="317500"/>
          </a:xfrm>
          <a:prstGeom prst="rect">
            <a:avLst/>
          </a:prstGeom>
          <a:noFill/>
          <a:ln/>
        </p:spPr>
        <p:txBody>
          <a:bodyPr wrap="square" lIns="25400" tIns="25400" rIns="25400" bIns="25400" rtlCol="0" anchor="t">
            <a:normAutofit/>
          </a:bodyPr>
          <a:lstStyle/>
          <a:p>
            <a:pPr marL="0" indent="0" algn="l">
              <a:buNone/>
            </a:pPr>
            <a:r>
              <a:rPr lang="es-CO" sz="1650" noProof="0" dirty="0">
                <a:latin typeface="Segoe UI" pitchFamily="34" charset="0"/>
                <a:ea typeface="Segoe UI" pitchFamily="34" charset="-122"/>
                <a:cs typeface="Segoe UI" pitchFamily="34" charset="-120"/>
              </a:rPr>
              <a:t>verificaciones superadas</a:t>
            </a:r>
            <a:endParaRPr lang="es-CO" sz="1650" noProof="0" dirty="0"/>
          </a:p>
        </p:txBody>
      </p:sp>
      <p:sp>
        <p:nvSpPr>
          <p:cNvPr id="13" name="Shape 11"/>
          <p:cNvSpPr/>
          <p:nvPr/>
        </p:nvSpPr>
        <p:spPr>
          <a:xfrm>
            <a:off x="9144000" y="3619500"/>
            <a:ext cx="4381500" cy="4000500"/>
          </a:xfrm>
          <a:prstGeom prst="roundRect">
            <a:avLst>
              <a:gd name="adj" fmla="val 7619"/>
            </a:avLst>
          </a:prstGeom>
          <a:solidFill>
            <a:srgbClr val="8F3B9C"/>
          </a:solidFill>
          <a:ln/>
        </p:spPr>
        <p:txBody>
          <a:bodyPr/>
          <a:lstStyle/>
          <a:p>
            <a:endParaRPr lang="es-CO" noProof="0" dirty="0"/>
          </a:p>
        </p:txBody>
      </p:sp>
      <p:sp>
        <p:nvSpPr>
          <p:cNvPr id="14" name="Shape 12"/>
          <p:cNvSpPr/>
          <p:nvPr/>
        </p:nvSpPr>
        <p:spPr>
          <a:xfrm>
            <a:off x="9525000" y="4000500"/>
            <a:ext cx="419100" cy="419100"/>
          </a:xfrm>
          <a:prstGeom prst="roundRect">
            <a:avLst>
              <a:gd name="adj" fmla="val 27273"/>
            </a:avLst>
          </a:prstGeom>
          <a:solidFill>
            <a:srgbClr val="DDF28A"/>
          </a:solidFill>
          <a:ln/>
        </p:spPr>
        <p:txBody>
          <a:bodyPr/>
          <a:lstStyle/>
          <a:p>
            <a:endParaRPr lang="es-CO" noProof="0" dirty="0"/>
          </a:p>
        </p:txBody>
      </p:sp>
      <p:sp>
        <p:nvSpPr>
          <p:cNvPr id="15" name="Text 13"/>
          <p:cNvSpPr/>
          <p:nvPr/>
        </p:nvSpPr>
        <p:spPr>
          <a:xfrm>
            <a:off x="9525000" y="6146800"/>
            <a:ext cx="3981450" cy="850900"/>
          </a:xfrm>
          <a:prstGeom prst="rect">
            <a:avLst/>
          </a:prstGeom>
          <a:noFill/>
          <a:ln/>
        </p:spPr>
        <p:txBody>
          <a:bodyPr wrap="square" lIns="25400" tIns="25400" rIns="25400" bIns="25400" rtlCol="0" anchor="t">
            <a:normAutofit/>
          </a:bodyPr>
          <a:lstStyle/>
          <a:p>
            <a:pPr marL="0" indent="0" algn="l">
              <a:buNone/>
            </a:pPr>
            <a:r>
              <a:rPr lang="es-CO" sz="4800" b="1" noProof="0" dirty="0">
                <a:solidFill>
                  <a:srgbClr val="FFFFFF"/>
                </a:solidFill>
                <a:latin typeface="Segoe UI" pitchFamily="34" charset="0"/>
                <a:ea typeface="Segoe UI" pitchFamily="34" charset="-122"/>
                <a:cs typeface="Segoe UI" pitchFamily="34" charset="-120"/>
              </a:rPr>
              <a:t>5.760</a:t>
            </a:r>
            <a:endParaRPr lang="es-CO" sz="4800" noProof="0" dirty="0"/>
          </a:p>
        </p:txBody>
      </p:sp>
      <p:sp>
        <p:nvSpPr>
          <p:cNvPr id="16" name="Text 14"/>
          <p:cNvSpPr/>
          <p:nvPr/>
        </p:nvSpPr>
        <p:spPr>
          <a:xfrm>
            <a:off x="9525000" y="6959600"/>
            <a:ext cx="3981450" cy="317500"/>
          </a:xfrm>
          <a:prstGeom prst="rect">
            <a:avLst/>
          </a:prstGeom>
          <a:noFill/>
          <a:ln/>
        </p:spPr>
        <p:txBody>
          <a:bodyPr wrap="square" lIns="25400" tIns="25400" rIns="25400" bIns="25400" rtlCol="0" anchor="t">
            <a:normAutofit/>
          </a:bodyPr>
          <a:lstStyle/>
          <a:p>
            <a:pPr marL="0" indent="0" algn="l">
              <a:buNone/>
            </a:pPr>
            <a:r>
              <a:rPr lang="es-CO" sz="1650" noProof="0" dirty="0">
                <a:solidFill>
                  <a:srgbClr val="DDF28A"/>
                </a:solidFill>
                <a:latin typeface="Segoe UI" pitchFamily="34" charset="0"/>
                <a:ea typeface="Segoe UI" pitchFamily="34" charset="-122"/>
                <a:cs typeface="Segoe UI" pitchFamily="34" charset="-120"/>
              </a:rPr>
              <a:t>filas en la matriz de modelado</a:t>
            </a:r>
            <a:endParaRPr lang="es-CO" sz="1650" noProof="0" dirty="0"/>
          </a:p>
        </p:txBody>
      </p:sp>
      <p:sp>
        <p:nvSpPr>
          <p:cNvPr id="17" name="Shape 15"/>
          <p:cNvSpPr/>
          <p:nvPr/>
        </p:nvSpPr>
        <p:spPr>
          <a:xfrm>
            <a:off x="13144500" y="3619500"/>
            <a:ext cx="4762500" cy="4000500"/>
          </a:xfrm>
          <a:prstGeom prst="roundRect">
            <a:avLst>
              <a:gd name="adj" fmla="val 7619"/>
            </a:avLst>
          </a:prstGeom>
          <a:solidFill>
            <a:srgbClr val="B7D81A"/>
          </a:solidFill>
          <a:ln/>
        </p:spPr>
        <p:txBody>
          <a:bodyPr/>
          <a:lstStyle/>
          <a:p>
            <a:endParaRPr lang="es-CO" noProof="0" dirty="0"/>
          </a:p>
        </p:txBody>
      </p:sp>
      <p:sp>
        <p:nvSpPr>
          <p:cNvPr id="18" name="Shape 16"/>
          <p:cNvSpPr/>
          <p:nvPr/>
        </p:nvSpPr>
        <p:spPr>
          <a:xfrm>
            <a:off x="13525500" y="4000500"/>
            <a:ext cx="419100" cy="419100"/>
          </a:xfrm>
          <a:prstGeom prst="roundRect">
            <a:avLst>
              <a:gd name="adj" fmla="val 27273"/>
            </a:avLst>
          </a:prstGeom>
          <a:solidFill>
            <a:srgbClr val="FFFFFF"/>
          </a:solidFill>
          <a:ln/>
        </p:spPr>
        <p:txBody>
          <a:bodyPr/>
          <a:lstStyle/>
          <a:p>
            <a:endParaRPr lang="es-CO" noProof="0" dirty="0"/>
          </a:p>
        </p:txBody>
      </p:sp>
      <p:sp>
        <p:nvSpPr>
          <p:cNvPr id="19" name="Text 17"/>
          <p:cNvSpPr/>
          <p:nvPr/>
        </p:nvSpPr>
        <p:spPr>
          <a:xfrm>
            <a:off x="13525500" y="6146800"/>
            <a:ext cx="4400550" cy="850900"/>
          </a:xfrm>
          <a:prstGeom prst="rect">
            <a:avLst/>
          </a:prstGeom>
          <a:noFill/>
          <a:ln/>
        </p:spPr>
        <p:txBody>
          <a:bodyPr wrap="square" lIns="25400" tIns="25400" rIns="25400" bIns="25400" rtlCol="0" anchor="t">
            <a:normAutofit/>
          </a:bodyPr>
          <a:lstStyle/>
          <a:p>
            <a:pPr marL="0" indent="0" algn="l">
              <a:buNone/>
            </a:pPr>
            <a:r>
              <a:rPr lang="es-CO" sz="4800" b="1" noProof="0" dirty="0">
                <a:solidFill>
                  <a:srgbClr val="3D3D3D"/>
                </a:solidFill>
                <a:latin typeface="Segoe UI" pitchFamily="34" charset="0"/>
                <a:ea typeface="Segoe UI" pitchFamily="34" charset="-122"/>
                <a:cs typeface="Segoe UI" pitchFamily="34" charset="-120"/>
              </a:rPr>
              <a:t>APTA</a:t>
            </a:r>
            <a:endParaRPr lang="es-CO" sz="4800" noProof="0" dirty="0"/>
          </a:p>
        </p:txBody>
      </p:sp>
      <p:sp>
        <p:nvSpPr>
          <p:cNvPr id="20" name="Text 18"/>
          <p:cNvSpPr/>
          <p:nvPr/>
        </p:nvSpPr>
        <p:spPr>
          <a:xfrm>
            <a:off x="13525500" y="6959600"/>
            <a:ext cx="4400550" cy="317500"/>
          </a:xfrm>
          <a:prstGeom prst="rect">
            <a:avLst/>
          </a:prstGeom>
          <a:noFill/>
          <a:ln/>
        </p:spPr>
        <p:txBody>
          <a:bodyPr wrap="square" lIns="25400" tIns="25400" rIns="25400" bIns="25400" rtlCol="0" anchor="t">
            <a:normAutofit/>
          </a:bodyPr>
          <a:lstStyle/>
          <a:p>
            <a:pPr marL="0" indent="0" algn="l">
              <a:buNone/>
            </a:pPr>
            <a:r>
              <a:rPr lang="es-CO" sz="1650" noProof="0" dirty="0">
                <a:solidFill>
                  <a:srgbClr val="3D3D3D"/>
                </a:solidFill>
                <a:latin typeface="Segoe UI" pitchFamily="34" charset="0"/>
                <a:ea typeface="Segoe UI" pitchFamily="34" charset="-122"/>
                <a:cs typeface="Segoe UI" pitchFamily="34" charset="-120"/>
              </a:rPr>
              <a:t>sin fuga temporal de información</a:t>
            </a:r>
            <a:endParaRPr lang="es-CO" sz="1650" noProof="0" dirty="0"/>
          </a:p>
        </p:txBody>
      </p:sp>
      <p:sp>
        <p:nvSpPr>
          <p:cNvPr id="21" name="Text 19"/>
          <p:cNvSpPr/>
          <p:nvPr/>
        </p:nvSpPr>
        <p:spPr>
          <a:xfrm>
            <a:off x="1143000" y="9525000"/>
            <a:ext cx="5412720" cy="266700"/>
          </a:xfrm>
          <a:prstGeom prst="rect">
            <a:avLst/>
          </a:prstGeom>
          <a:noFill/>
          <a:ln/>
        </p:spPr>
        <p:txBody>
          <a:bodyPr wrap="square" lIns="25400" tIns="25400" rIns="25400" bIns="25400" rtlCol="0" anchor="t">
            <a:normAutofit/>
          </a:bodyPr>
          <a:lstStyle/>
          <a:p>
            <a:pPr marL="0" indent="0" algn="l">
              <a:buNone/>
            </a:pPr>
            <a:r>
              <a:rPr lang="es-CO" sz="1350" noProof="0" dirty="0">
                <a:solidFill>
                  <a:srgbClr val="DDF28A"/>
                </a:solidFill>
                <a:latin typeface="Segoe UI" pitchFamily="34" charset="0"/>
                <a:ea typeface="Segoe UI" pitchFamily="34" charset="-122"/>
                <a:cs typeface="Segoe UI" pitchFamily="34" charset="-120"/>
              </a:rPr>
              <a:t>UTS · Cartilla de aprendizaje — Gestión Inteligente de Inventarios</a:t>
            </a:r>
            <a:endParaRPr lang="es-CO" sz="1350" noProof="0" dirty="0"/>
          </a:p>
        </p:txBody>
      </p:sp>
      <p:sp>
        <p:nvSpPr>
          <p:cNvPr id="22" name="Shape 20"/>
          <p:cNvSpPr/>
          <p:nvPr/>
        </p:nvSpPr>
        <p:spPr>
          <a:xfrm>
            <a:off x="16725900" y="9410700"/>
            <a:ext cx="419100" cy="419100"/>
          </a:xfrm>
          <a:prstGeom prst="ellipse">
            <a:avLst/>
          </a:prstGeom>
          <a:solidFill>
            <a:srgbClr val="FFFFFF"/>
          </a:solidFill>
          <a:ln/>
        </p:spPr>
        <p:txBody>
          <a:bodyPr/>
          <a:lstStyle/>
          <a:p>
            <a:endParaRPr lang="es-CO" noProof="0" dirty="0"/>
          </a:p>
        </p:txBody>
      </p:sp>
      <p:sp>
        <p:nvSpPr>
          <p:cNvPr id="23" name="Text 21"/>
          <p:cNvSpPr/>
          <p:nvPr/>
        </p:nvSpPr>
        <p:spPr>
          <a:xfrm>
            <a:off x="16687800" y="9410700"/>
            <a:ext cx="495300" cy="457200"/>
          </a:xfrm>
          <a:prstGeom prst="rect">
            <a:avLst/>
          </a:prstGeom>
          <a:noFill/>
          <a:ln/>
        </p:spPr>
        <p:txBody>
          <a:bodyPr wrap="square" lIns="25400" tIns="25400" rIns="25400" bIns="25400" rtlCol="0" anchor="ctr">
            <a:normAutofit/>
          </a:bodyPr>
          <a:lstStyle/>
          <a:p>
            <a:pPr marL="0" indent="0" algn="ctr">
              <a:buNone/>
            </a:pPr>
            <a:r>
              <a:rPr lang="es-CO" sz="1500" b="1" noProof="0" dirty="0">
                <a:solidFill>
                  <a:srgbClr val="7E2C8C"/>
                </a:solidFill>
                <a:latin typeface="Segoe UI" pitchFamily="34" charset="0"/>
                <a:cs typeface="Segoe UI" pitchFamily="34" charset="-120"/>
              </a:rPr>
              <a:t>24</a:t>
            </a:r>
            <a:endParaRPr lang="es-CO" sz="1500" noProof="0" dirty="0"/>
          </a:p>
        </p:txBody>
      </p:sp>
      <p:sp>
        <p:nvSpPr>
          <p:cNvPr id="25" name="CuadroTexto 24">
            <a:extLst>
              <a:ext uri="{FF2B5EF4-FFF2-40B4-BE49-F238E27FC236}">
                <a16:creationId xmlns:a16="http://schemas.microsoft.com/office/drawing/2014/main" id="{14AF51DC-7FC2-70CF-806A-389B8E0250E3}"/>
              </a:ext>
            </a:extLst>
          </p:cNvPr>
          <p:cNvSpPr txBox="1"/>
          <p:nvPr/>
        </p:nvSpPr>
        <p:spPr>
          <a:xfrm>
            <a:off x="1326495" y="8159750"/>
            <a:ext cx="12618106" cy="646331"/>
          </a:xfrm>
          <a:prstGeom prst="rect">
            <a:avLst/>
          </a:prstGeom>
          <a:noFill/>
        </p:spPr>
        <p:txBody>
          <a:bodyPr wrap="square">
            <a:spAutoFit/>
          </a:bodyPr>
          <a:lstStyle/>
          <a:p>
            <a:pPr>
              <a:buNone/>
            </a:pPr>
            <a:r>
              <a:rPr lang="es-CO" noProof="0" dirty="0">
                <a:solidFill>
                  <a:schemeClr val="bg1"/>
                </a:solidFill>
              </a:rPr>
              <a:t>Nota: Como las primeras cuatro semanas no disponen de un historial suficiente para calcular los rezagos, fueron excluidas del análisis.</a:t>
            </a:r>
          </a:p>
          <a:p>
            <a:pPr>
              <a:buNone/>
            </a:pPr>
            <a:r>
              <a:rPr lang="es-CO" b="1" noProof="0" dirty="0">
                <a:solidFill>
                  <a:schemeClr val="bg1"/>
                </a:solidFill>
              </a:rPr>
              <a:t>El conjunto de datos pasó de:</a:t>
            </a:r>
            <a:r>
              <a:rPr lang="es-CO" noProof="0" dirty="0">
                <a:solidFill>
                  <a:schemeClr val="bg1"/>
                </a:solidFill>
              </a:rPr>
              <a:t> </a:t>
            </a:r>
            <a:r>
              <a:rPr lang="es-CO" b="1" noProof="0" dirty="0">
                <a:solidFill>
                  <a:schemeClr val="bg1"/>
                </a:solidFill>
              </a:rPr>
              <a:t>6.240 registros → 5.760 registros</a:t>
            </a:r>
            <a:endParaRPr lang="es-CO" noProof="0" dirty="0">
              <a:solidFill>
                <a:schemeClr val="bg1"/>
              </a:solidFill>
            </a:endParaRPr>
          </a:p>
        </p:txBody>
      </p:sp>
      <p:sp>
        <p:nvSpPr>
          <p:cNvPr id="27" name="Shape 0">
            <a:extLst>
              <a:ext uri="{FF2B5EF4-FFF2-40B4-BE49-F238E27FC236}">
                <a16:creationId xmlns:a16="http://schemas.microsoft.com/office/drawing/2014/main" id="{D269EA4D-B457-78A8-72DD-D8F8F2DB62FE}"/>
              </a:ext>
            </a:extLst>
          </p:cNvPr>
          <p:cNvSpPr/>
          <p:nvPr/>
        </p:nvSpPr>
        <p:spPr>
          <a:xfrm>
            <a:off x="1143000" y="838200"/>
            <a:ext cx="5592652" cy="419100"/>
          </a:xfrm>
          <a:prstGeom prst="roundRect">
            <a:avLst>
              <a:gd name="adj" fmla="val 50000"/>
            </a:avLst>
          </a:prstGeom>
          <a:solidFill>
            <a:srgbClr val="F4FADF"/>
          </a:solidFill>
          <a:ln/>
        </p:spPr>
        <p:txBody>
          <a:bodyPr/>
          <a:lstStyle/>
          <a:p>
            <a:endParaRPr lang="es-CO" noProof="0" dirty="0"/>
          </a:p>
        </p:txBody>
      </p:sp>
      <p:sp>
        <p:nvSpPr>
          <p:cNvPr id="29" name="Text 1">
            <a:extLst>
              <a:ext uri="{FF2B5EF4-FFF2-40B4-BE49-F238E27FC236}">
                <a16:creationId xmlns:a16="http://schemas.microsoft.com/office/drawing/2014/main" id="{43265981-4EC6-9295-D015-B9ECD120490A}"/>
              </a:ext>
            </a:extLst>
          </p:cNvPr>
          <p:cNvSpPr/>
          <p:nvPr/>
        </p:nvSpPr>
        <p:spPr>
          <a:xfrm>
            <a:off x="1352550" y="933450"/>
            <a:ext cx="5383101" cy="266700"/>
          </a:xfrm>
          <a:prstGeom prst="rect">
            <a:avLst/>
          </a:prstGeom>
          <a:noFill/>
          <a:ln/>
        </p:spPr>
        <p:txBody>
          <a:bodyPr wrap="square" lIns="25400" tIns="25400" rIns="25400" bIns="25400" rtlCol="0" anchor="ctr">
            <a:normAutofit/>
          </a:bodyPr>
          <a:lstStyle/>
          <a:p>
            <a:pPr marL="0" indent="0" algn="l">
              <a:buNone/>
            </a:pPr>
            <a:r>
              <a:rPr lang="es-CO" sz="1350" b="1" kern="0" spc="81" noProof="0" dirty="0">
                <a:solidFill>
                  <a:srgbClr val="7E2C8C"/>
                </a:solidFill>
                <a:latin typeface="Segoe UI" pitchFamily="34" charset="0"/>
                <a:ea typeface="Segoe UI" pitchFamily="34" charset="-122"/>
                <a:cs typeface="Segoe UI" pitchFamily="34" charset="-120"/>
              </a:rPr>
              <a:t>FASE 4 · PREPARACIÓN DE VARIABLES PREDICTORAS</a:t>
            </a:r>
            <a:endParaRPr lang="es-CO" sz="1350" noProof="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1143000" y="1619250"/>
            <a:ext cx="13620750" cy="698500"/>
          </a:xfrm>
          <a:prstGeom prst="rect">
            <a:avLst/>
          </a:prstGeom>
          <a:noFill/>
          <a:ln/>
        </p:spPr>
        <p:txBody>
          <a:bodyPr wrap="square" lIns="25400" tIns="25400" rIns="25400" bIns="25400" rtlCol="0" anchor="t">
            <a:normAutofit/>
          </a:bodyPr>
          <a:lstStyle/>
          <a:p>
            <a:pPr marL="0" indent="0" algn="l">
              <a:buNone/>
            </a:pPr>
            <a:r>
              <a:rPr lang="es-CO" sz="3900" b="1" noProof="0" dirty="0">
                <a:solidFill>
                  <a:srgbClr val="3D3D3D"/>
                </a:solidFill>
                <a:latin typeface="Segoe UI" pitchFamily="34" charset="0"/>
                <a:ea typeface="Segoe UI" pitchFamily="34" charset="-122"/>
                <a:cs typeface="Segoe UI" pitchFamily="34" charset="-120"/>
              </a:rPr>
              <a:t>Script: Construcción del modelo predictivo</a:t>
            </a:r>
            <a:endParaRPr lang="es-CO" sz="3900" noProof="0" dirty="0"/>
          </a:p>
        </p:txBody>
      </p:sp>
      <p:sp>
        <p:nvSpPr>
          <p:cNvPr id="5" name="Shape 3"/>
          <p:cNvSpPr/>
          <p:nvPr/>
        </p:nvSpPr>
        <p:spPr>
          <a:xfrm>
            <a:off x="1143000" y="3238500"/>
            <a:ext cx="10287000" cy="5715000"/>
          </a:xfrm>
          <a:prstGeom prst="roundRect">
            <a:avLst>
              <a:gd name="adj" fmla="val 4000"/>
            </a:avLst>
          </a:prstGeom>
          <a:solidFill>
            <a:srgbClr val="2B2B33"/>
          </a:solidFill>
          <a:ln/>
        </p:spPr>
        <p:txBody>
          <a:bodyPr/>
          <a:lstStyle/>
          <a:p>
            <a:endParaRPr lang="es-CO" noProof="0" dirty="0"/>
          </a:p>
        </p:txBody>
      </p:sp>
      <p:sp>
        <p:nvSpPr>
          <p:cNvPr id="6" name="Shape 4"/>
          <p:cNvSpPr/>
          <p:nvPr/>
        </p:nvSpPr>
        <p:spPr>
          <a:xfrm>
            <a:off x="1143000" y="3238500"/>
            <a:ext cx="10287000" cy="533400"/>
          </a:xfrm>
          <a:prstGeom prst="rect">
            <a:avLst/>
          </a:prstGeom>
          <a:solidFill>
            <a:srgbClr val="1E1E24"/>
          </a:solidFill>
          <a:ln/>
        </p:spPr>
        <p:txBody>
          <a:bodyPr/>
          <a:lstStyle/>
          <a:p>
            <a:endParaRPr lang="es-CO" noProof="0" dirty="0"/>
          </a:p>
        </p:txBody>
      </p:sp>
      <p:sp>
        <p:nvSpPr>
          <p:cNvPr id="7" name="Shape 5"/>
          <p:cNvSpPr/>
          <p:nvPr/>
        </p:nvSpPr>
        <p:spPr>
          <a:xfrm>
            <a:off x="1409700" y="3438525"/>
            <a:ext cx="133350" cy="133350"/>
          </a:xfrm>
          <a:prstGeom prst="ellipse">
            <a:avLst/>
          </a:prstGeom>
          <a:solidFill>
            <a:srgbClr val="7E2C8C"/>
          </a:solidFill>
          <a:ln/>
        </p:spPr>
        <p:txBody>
          <a:bodyPr/>
          <a:lstStyle/>
          <a:p>
            <a:endParaRPr lang="es-CO" noProof="0" dirty="0"/>
          </a:p>
        </p:txBody>
      </p:sp>
      <p:sp>
        <p:nvSpPr>
          <p:cNvPr id="8" name="Shape 6"/>
          <p:cNvSpPr/>
          <p:nvPr/>
        </p:nvSpPr>
        <p:spPr>
          <a:xfrm>
            <a:off x="1657350" y="3438525"/>
            <a:ext cx="133350" cy="133350"/>
          </a:xfrm>
          <a:prstGeom prst="ellipse">
            <a:avLst/>
          </a:prstGeom>
          <a:solidFill>
            <a:srgbClr val="B7D81A"/>
          </a:solidFill>
          <a:ln/>
        </p:spPr>
        <p:txBody>
          <a:bodyPr/>
          <a:lstStyle/>
          <a:p>
            <a:endParaRPr lang="es-CO" noProof="0" dirty="0"/>
          </a:p>
        </p:txBody>
      </p:sp>
      <p:sp>
        <p:nvSpPr>
          <p:cNvPr id="9" name="Shape 7"/>
          <p:cNvSpPr/>
          <p:nvPr/>
        </p:nvSpPr>
        <p:spPr>
          <a:xfrm>
            <a:off x="1905000" y="3438525"/>
            <a:ext cx="133350" cy="133350"/>
          </a:xfrm>
          <a:prstGeom prst="ellipse">
            <a:avLst/>
          </a:prstGeom>
          <a:solidFill>
            <a:srgbClr val="A867B5"/>
          </a:solidFill>
          <a:ln/>
        </p:spPr>
        <p:txBody>
          <a:bodyPr/>
          <a:lstStyle/>
          <a:p>
            <a:endParaRPr lang="es-CO" noProof="0" dirty="0"/>
          </a:p>
        </p:txBody>
      </p:sp>
      <p:sp>
        <p:nvSpPr>
          <p:cNvPr id="10" name="Text 8"/>
          <p:cNvSpPr/>
          <p:nvPr/>
        </p:nvSpPr>
        <p:spPr>
          <a:xfrm>
            <a:off x="2305050" y="3403600"/>
            <a:ext cx="1659047" cy="241300"/>
          </a:xfrm>
          <a:prstGeom prst="rect">
            <a:avLst/>
          </a:prstGeom>
          <a:noFill/>
          <a:ln/>
        </p:spPr>
        <p:txBody>
          <a:bodyPr wrap="square" lIns="25400" tIns="25400" rIns="25400" bIns="25400" rtlCol="0" anchor="t">
            <a:normAutofit fontScale="62500" lnSpcReduction="20000"/>
          </a:bodyPr>
          <a:lstStyle/>
          <a:p>
            <a:pPr marL="0" indent="0" algn="l">
              <a:buNone/>
            </a:pPr>
            <a:r>
              <a:rPr lang="es-CO" sz="1350" noProof="0" dirty="0">
                <a:solidFill>
                  <a:srgbClr val="E9E9E9"/>
                </a:solidFill>
                <a:latin typeface="Courier New" pitchFamily="34" charset="0"/>
                <a:ea typeface="Courier New" pitchFamily="34" charset="-122"/>
                <a:cs typeface="Courier New" pitchFamily="34" charset="-120"/>
              </a:rPr>
              <a:t>matriz_predictores_OE2.R</a:t>
            </a:r>
            <a:endParaRPr lang="es-CO" sz="1350" noProof="0" dirty="0"/>
          </a:p>
        </p:txBody>
      </p:sp>
      <p:sp>
        <p:nvSpPr>
          <p:cNvPr id="11" name="Text 9"/>
          <p:cNvSpPr/>
          <p:nvPr/>
        </p:nvSpPr>
        <p:spPr>
          <a:xfrm>
            <a:off x="1485900" y="4076700"/>
            <a:ext cx="9889236" cy="418108"/>
          </a:xfrm>
          <a:prstGeom prst="rect">
            <a:avLst/>
          </a:prstGeom>
          <a:noFill/>
          <a:ln/>
        </p:spPr>
        <p:txBody>
          <a:bodyPr wrap="square" lIns="25400" tIns="25400" rIns="25400" bIns="25400" rtlCol="0" anchor="t">
            <a:normAutofit lnSpcReduction="10000"/>
          </a:bodyPr>
          <a:lstStyle/>
          <a:p>
            <a:pPr marL="0" indent="0" algn="l">
              <a:lnSpc>
                <a:spcPct val="171000"/>
              </a:lnSpc>
              <a:buNone/>
            </a:pPr>
            <a:r>
              <a:rPr lang="es-CO" sz="1575" noProof="0" dirty="0">
                <a:solidFill>
                  <a:srgbClr val="6F6F6F"/>
                </a:solidFill>
                <a:latin typeface="Courier New" pitchFamily="34" charset="0"/>
                <a:ea typeface="Courier New" pitchFamily="34" charset="-122"/>
                <a:cs typeface="Courier New" pitchFamily="34" charset="-120"/>
              </a:rPr>
              <a:t>01 </a:t>
            </a:r>
            <a:r>
              <a:rPr lang="es-CO" sz="1575" noProof="0" dirty="0" err="1">
                <a:solidFill>
                  <a:srgbClr val="B7D81A"/>
                </a:solidFill>
                <a:latin typeface="Courier New" pitchFamily="34" charset="0"/>
                <a:ea typeface="Courier New" pitchFamily="34" charset="-122"/>
                <a:cs typeface="Courier New" pitchFamily="34" charset="-120"/>
              </a:rPr>
              <a:t>for</a:t>
            </a:r>
            <a:r>
              <a:rPr lang="es-CO" sz="1575" noProof="0" dirty="0">
                <a:solidFill>
                  <a:srgbClr val="E9E9E9"/>
                </a:solidFill>
                <a:latin typeface="Courier New" pitchFamily="34" charset="0"/>
                <a:ea typeface="Courier New" pitchFamily="34" charset="-122"/>
                <a:cs typeface="Courier New" pitchFamily="34" charset="-120"/>
              </a:rPr>
              <a:t> (k in 1:4)</a:t>
            </a:r>
            <a:endParaRPr lang="es-CO" sz="1575" noProof="0" dirty="0"/>
          </a:p>
        </p:txBody>
      </p:sp>
      <p:sp>
        <p:nvSpPr>
          <p:cNvPr id="12" name="Text 10"/>
          <p:cNvSpPr/>
          <p:nvPr/>
        </p:nvSpPr>
        <p:spPr>
          <a:xfrm>
            <a:off x="1485900" y="4456708"/>
            <a:ext cx="9889236" cy="418108"/>
          </a:xfrm>
          <a:prstGeom prst="rect">
            <a:avLst/>
          </a:prstGeom>
          <a:noFill/>
          <a:ln/>
        </p:spPr>
        <p:txBody>
          <a:bodyPr wrap="square" lIns="25400" tIns="25400" rIns="25400" bIns="25400" rtlCol="0" anchor="t">
            <a:normAutofit lnSpcReduction="10000"/>
          </a:bodyPr>
          <a:lstStyle/>
          <a:p>
            <a:pPr marL="0" indent="0" algn="l">
              <a:lnSpc>
                <a:spcPct val="171000"/>
              </a:lnSpc>
              <a:buNone/>
            </a:pPr>
            <a:r>
              <a:rPr lang="es-CO" sz="1575" noProof="0" dirty="0">
                <a:solidFill>
                  <a:srgbClr val="6F6F6F"/>
                </a:solidFill>
                <a:latin typeface="Courier New" pitchFamily="34" charset="0"/>
                <a:ea typeface="Courier New" pitchFamily="34" charset="-122"/>
                <a:cs typeface="Courier New" pitchFamily="34" charset="-120"/>
              </a:rPr>
              <a:t>02 </a:t>
            </a:r>
            <a:r>
              <a:rPr lang="es-CO" sz="1575" noProof="0" dirty="0">
                <a:solidFill>
                  <a:srgbClr val="B7D81A"/>
                </a:solidFill>
                <a:latin typeface="Courier New" pitchFamily="34" charset="0"/>
                <a:ea typeface="Courier New" pitchFamily="34" charset="-122"/>
                <a:cs typeface="Courier New" pitchFamily="34" charset="-120"/>
              </a:rPr>
              <a:t>  d[[</a:t>
            </a:r>
            <a:r>
              <a:rPr lang="es-CO" sz="1575" noProof="0" dirty="0" err="1">
                <a:solidFill>
                  <a:srgbClr val="B7D81A"/>
                </a:solidFill>
                <a:latin typeface="Courier New" pitchFamily="34" charset="0"/>
                <a:ea typeface="Courier New" pitchFamily="34" charset="-122"/>
                <a:cs typeface="Courier New" pitchFamily="34" charset="-120"/>
              </a:rPr>
              <a:t>lag_k</a:t>
            </a:r>
            <a:r>
              <a:rPr lang="es-CO" sz="1575" noProof="0" dirty="0">
                <a:solidFill>
                  <a:srgbClr val="B7D81A"/>
                </a:solidFill>
                <a:latin typeface="Courier New" pitchFamily="34" charset="0"/>
                <a:ea typeface="Courier New" pitchFamily="34" charset="-122"/>
                <a:cs typeface="Courier New" pitchFamily="34" charset="-120"/>
              </a:rPr>
              <a:t>]]</a:t>
            </a:r>
            <a:r>
              <a:rPr lang="es-CO" sz="1575" noProof="0" dirty="0">
                <a:solidFill>
                  <a:srgbClr val="E9E9E9"/>
                </a:solidFill>
                <a:latin typeface="Courier New" pitchFamily="34" charset="0"/>
                <a:ea typeface="Courier New" pitchFamily="34" charset="-122"/>
                <a:cs typeface="Courier New" pitchFamily="34" charset="-120"/>
              </a:rPr>
              <a:t> &lt;- ave(demanda, SKU, ...)</a:t>
            </a:r>
            <a:endParaRPr lang="es-CO" sz="1575" noProof="0" dirty="0"/>
          </a:p>
        </p:txBody>
      </p:sp>
      <p:sp>
        <p:nvSpPr>
          <p:cNvPr id="13" name="Text 11"/>
          <p:cNvSpPr/>
          <p:nvPr/>
        </p:nvSpPr>
        <p:spPr>
          <a:xfrm>
            <a:off x="1485900" y="4836716"/>
            <a:ext cx="9889236" cy="418108"/>
          </a:xfrm>
          <a:prstGeom prst="rect">
            <a:avLst/>
          </a:prstGeom>
          <a:noFill/>
          <a:ln/>
        </p:spPr>
        <p:txBody>
          <a:bodyPr wrap="square" lIns="25400" tIns="25400" rIns="25400" bIns="25400" rtlCol="0" anchor="t">
            <a:normAutofit lnSpcReduction="10000"/>
          </a:bodyPr>
          <a:lstStyle/>
          <a:p>
            <a:pPr marL="0" indent="0" algn="l">
              <a:lnSpc>
                <a:spcPct val="171000"/>
              </a:lnSpc>
              <a:buNone/>
            </a:pPr>
            <a:r>
              <a:rPr lang="es-CO" sz="1575" noProof="0" dirty="0">
                <a:solidFill>
                  <a:srgbClr val="6F6F6F"/>
                </a:solidFill>
                <a:latin typeface="Courier New" pitchFamily="34" charset="0"/>
                <a:ea typeface="Courier New" pitchFamily="34" charset="-122"/>
                <a:cs typeface="Courier New" pitchFamily="34" charset="-120"/>
              </a:rPr>
              <a:t>03</a:t>
            </a:r>
            <a:endParaRPr lang="es-CO" sz="1575" noProof="0" dirty="0"/>
          </a:p>
        </p:txBody>
      </p:sp>
      <p:sp>
        <p:nvSpPr>
          <p:cNvPr id="14" name="Text 12"/>
          <p:cNvSpPr/>
          <p:nvPr/>
        </p:nvSpPr>
        <p:spPr>
          <a:xfrm>
            <a:off x="1485900" y="5216723"/>
            <a:ext cx="9889236" cy="418108"/>
          </a:xfrm>
          <a:prstGeom prst="rect">
            <a:avLst/>
          </a:prstGeom>
          <a:noFill/>
          <a:ln/>
        </p:spPr>
        <p:txBody>
          <a:bodyPr wrap="square" lIns="25400" tIns="25400" rIns="25400" bIns="25400" rtlCol="0" anchor="t">
            <a:normAutofit lnSpcReduction="10000"/>
          </a:bodyPr>
          <a:lstStyle/>
          <a:p>
            <a:pPr marL="0" indent="0" algn="l">
              <a:lnSpc>
                <a:spcPct val="171000"/>
              </a:lnSpc>
              <a:buNone/>
            </a:pPr>
            <a:r>
              <a:rPr lang="es-CO" sz="1575" noProof="0" dirty="0">
                <a:solidFill>
                  <a:srgbClr val="6F6F6F"/>
                </a:solidFill>
                <a:latin typeface="Courier New" pitchFamily="34" charset="0"/>
                <a:ea typeface="Courier New" pitchFamily="34" charset="-122"/>
                <a:cs typeface="Courier New" pitchFamily="34" charset="-120"/>
              </a:rPr>
              <a:t>04 </a:t>
            </a:r>
            <a:r>
              <a:rPr lang="es-CO" sz="1575" noProof="0" dirty="0" err="1">
                <a:solidFill>
                  <a:srgbClr val="E9E9E9"/>
                </a:solidFill>
                <a:latin typeface="Courier New" pitchFamily="34" charset="0"/>
                <a:ea typeface="Courier New" pitchFamily="34" charset="-122"/>
                <a:cs typeface="Courier New" pitchFamily="34" charset="-120"/>
              </a:rPr>
              <a:t>media_hist</a:t>
            </a:r>
            <a:r>
              <a:rPr lang="es-CO" sz="1575" noProof="0" dirty="0">
                <a:solidFill>
                  <a:srgbClr val="B7D81A"/>
                </a:solidFill>
                <a:latin typeface="Courier New" pitchFamily="34" charset="0"/>
                <a:ea typeface="Courier New" pitchFamily="34" charset="-122"/>
                <a:cs typeface="Courier New" pitchFamily="34" charset="-120"/>
              </a:rPr>
              <a:t> &lt;- ave(</a:t>
            </a:r>
            <a:r>
              <a:rPr lang="es-CO" sz="1575" noProof="0" dirty="0">
                <a:solidFill>
                  <a:srgbClr val="E9E9E9"/>
                </a:solidFill>
                <a:latin typeface="Courier New" pitchFamily="34" charset="0"/>
                <a:ea typeface="Courier New" pitchFamily="34" charset="-122"/>
                <a:cs typeface="Courier New" pitchFamily="34" charset="-120"/>
              </a:rPr>
              <a:t>(</a:t>
            </a:r>
            <a:r>
              <a:rPr lang="es-CO" sz="1575" noProof="0" dirty="0">
                <a:solidFill>
                  <a:srgbClr val="DDF28A"/>
                </a:solidFill>
                <a:latin typeface="Courier New" pitchFamily="34" charset="0"/>
                <a:ea typeface="Courier New" pitchFamily="34" charset="-122"/>
                <a:cs typeface="Courier New" pitchFamily="34" charset="-120"/>
              </a:rPr>
              <a:t>demanda, SKU, FUN = expansiva</a:t>
            </a:r>
            <a:r>
              <a:rPr lang="es-CO" sz="1575" noProof="0" dirty="0">
                <a:solidFill>
                  <a:srgbClr val="E9E9E9"/>
                </a:solidFill>
                <a:latin typeface="Courier New" pitchFamily="34" charset="0"/>
                <a:ea typeface="Courier New" pitchFamily="34" charset="-122"/>
                <a:cs typeface="Courier New" pitchFamily="34" charset="-120"/>
              </a:rPr>
              <a:t>)</a:t>
            </a:r>
            <a:endParaRPr lang="es-CO" sz="1575" noProof="0" dirty="0"/>
          </a:p>
        </p:txBody>
      </p:sp>
      <p:sp>
        <p:nvSpPr>
          <p:cNvPr id="15" name="Text 13"/>
          <p:cNvSpPr/>
          <p:nvPr/>
        </p:nvSpPr>
        <p:spPr>
          <a:xfrm>
            <a:off x="1485900" y="5596732"/>
            <a:ext cx="9889236" cy="418108"/>
          </a:xfrm>
          <a:prstGeom prst="rect">
            <a:avLst/>
          </a:prstGeom>
          <a:noFill/>
          <a:ln/>
        </p:spPr>
        <p:txBody>
          <a:bodyPr wrap="square" lIns="25400" tIns="25400" rIns="25400" bIns="25400" rtlCol="0" anchor="t">
            <a:normAutofit lnSpcReduction="10000"/>
          </a:bodyPr>
          <a:lstStyle/>
          <a:p>
            <a:pPr marL="0" indent="0" algn="l">
              <a:lnSpc>
                <a:spcPct val="171000"/>
              </a:lnSpc>
              <a:buNone/>
            </a:pPr>
            <a:r>
              <a:rPr lang="es-CO" sz="1575" noProof="0" dirty="0">
                <a:solidFill>
                  <a:srgbClr val="6F6F6F"/>
                </a:solidFill>
                <a:latin typeface="Courier New" pitchFamily="34" charset="0"/>
                <a:ea typeface="Courier New" pitchFamily="34" charset="-122"/>
                <a:cs typeface="Courier New" pitchFamily="34" charset="-120"/>
              </a:rPr>
              <a:t>05 </a:t>
            </a:r>
            <a:r>
              <a:rPr lang="es-CO" sz="1575" noProof="0" dirty="0" err="1">
                <a:solidFill>
                  <a:srgbClr val="E9E9E9"/>
                </a:solidFill>
                <a:latin typeface="Courier New" pitchFamily="34" charset="0"/>
                <a:ea typeface="Courier New" pitchFamily="34" charset="-122"/>
                <a:cs typeface="Courier New" pitchFamily="34" charset="-120"/>
              </a:rPr>
              <a:t>dm$conjunto</a:t>
            </a:r>
            <a:r>
              <a:rPr lang="es-CO" sz="1575" noProof="0" dirty="0">
                <a:solidFill>
                  <a:srgbClr val="B7D81A"/>
                </a:solidFill>
                <a:latin typeface="Courier New" pitchFamily="34" charset="0"/>
                <a:ea typeface="Courier New" pitchFamily="34" charset="-122"/>
                <a:cs typeface="Courier New" pitchFamily="34" charset="-120"/>
              </a:rPr>
              <a:t> &lt;- </a:t>
            </a:r>
            <a:r>
              <a:rPr lang="es-CO" sz="1575" noProof="0" dirty="0" err="1">
                <a:solidFill>
                  <a:srgbClr val="B7D81A"/>
                </a:solidFill>
                <a:latin typeface="Courier New" pitchFamily="34" charset="0"/>
                <a:ea typeface="Courier New" pitchFamily="34" charset="-122"/>
                <a:cs typeface="Courier New" pitchFamily="34" charset="-120"/>
              </a:rPr>
              <a:t>ifelse</a:t>
            </a:r>
            <a:r>
              <a:rPr lang="es-CO" sz="1575" noProof="0" dirty="0">
                <a:solidFill>
                  <a:srgbClr val="B7D81A"/>
                </a:solidFill>
                <a:latin typeface="Courier New" pitchFamily="34" charset="0"/>
                <a:ea typeface="Courier New" pitchFamily="34" charset="-122"/>
                <a:cs typeface="Courier New" pitchFamily="34" charset="-120"/>
              </a:rPr>
              <a:t>(</a:t>
            </a:r>
            <a:r>
              <a:rPr lang="es-CO" sz="1575" noProof="0" dirty="0">
                <a:solidFill>
                  <a:srgbClr val="E9E9E9"/>
                </a:solidFill>
                <a:latin typeface="Courier New" pitchFamily="34" charset="0"/>
                <a:ea typeface="Courier New" pitchFamily="34" charset="-122"/>
                <a:cs typeface="Courier New" pitchFamily="34" charset="-120"/>
              </a:rPr>
              <a:t>semana&lt;=42, "</a:t>
            </a:r>
            <a:r>
              <a:rPr lang="es-CO" sz="1575" noProof="0" dirty="0" err="1">
                <a:solidFill>
                  <a:srgbClr val="E9E9E9"/>
                </a:solidFill>
                <a:latin typeface="Courier New" pitchFamily="34" charset="0"/>
                <a:ea typeface="Courier New" pitchFamily="34" charset="-122"/>
                <a:cs typeface="Courier New" pitchFamily="34" charset="-120"/>
              </a:rPr>
              <a:t>train</a:t>
            </a:r>
            <a:r>
              <a:rPr lang="es-CO" sz="1575" noProof="0" dirty="0">
                <a:solidFill>
                  <a:srgbClr val="E9E9E9"/>
                </a:solidFill>
                <a:latin typeface="Courier New" pitchFamily="34" charset="0"/>
                <a:ea typeface="Courier New" pitchFamily="34" charset="-122"/>
                <a:cs typeface="Courier New" pitchFamily="34" charset="-120"/>
              </a:rPr>
              <a:t>", "</a:t>
            </a:r>
            <a:r>
              <a:rPr lang="es-CO" sz="1575" noProof="0" dirty="0" err="1">
                <a:solidFill>
                  <a:srgbClr val="E9E9E9"/>
                </a:solidFill>
                <a:latin typeface="Courier New" pitchFamily="34" charset="0"/>
                <a:ea typeface="Courier New" pitchFamily="34" charset="-122"/>
                <a:cs typeface="Courier New" pitchFamily="34" charset="-120"/>
              </a:rPr>
              <a:t>valid</a:t>
            </a:r>
            <a:r>
              <a:rPr lang="es-CO" sz="1575" noProof="0" dirty="0">
                <a:solidFill>
                  <a:srgbClr val="E9E9E9"/>
                </a:solidFill>
                <a:latin typeface="Courier New" pitchFamily="34" charset="0"/>
                <a:ea typeface="Courier New" pitchFamily="34" charset="-122"/>
                <a:cs typeface="Courier New" pitchFamily="34" charset="-120"/>
              </a:rPr>
              <a:t>")</a:t>
            </a:r>
            <a:endParaRPr lang="es-CO" sz="1575" noProof="0" dirty="0"/>
          </a:p>
        </p:txBody>
      </p:sp>
      <p:sp>
        <p:nvSpPr>
          <p:cNvPr id="16" name="Text 14"/>
          <p:cNvSpPr/>
          <p:nvPr/>
        </p:nvSpPr>
        <p:spPr>
          <a:xfrm>
            <a:off x="1485900" y="5976739"/>
            <a:ext cx="9889236" cy="418108"/>
          </a:xfrm>
          <a:prstGeom prst="rect">
            <a:avLst/>
          </a:prstGeom>
          <a:noFill/>
          <a:ln/>
        </p:spPr>
        <p:txBody>
          <a:bodyPr wrap="square" lIns="25400" tIns="25400" rIns="25400" bIns="25400" rtlCol="0" anchor="t">
            <a:normAutofit lnSpcReduction="10000"/>
          </a:bodyPr>
          <a:lstStyle/>
          <a:p>
            <a:pPr marL="0" indent="0" algn="l">
              <a:lnSpc>
                <a:spcPct val="171000"/>
              </a:lnSpc>
              <a:buNone/>
            </a:pPr>
            <a:r>
              <a:rPr lang="es-CO" sz="1575" noProof="0" dirty="0">
                <a:solidFill>
                  <a:srgbClr val="6F6F6F"/>
                </a:solidFill>
                <a:latin typeface="Courier New" pitchFamily="34" charset="0"/>
                <a:ea typeface="Courier New" pitchFamily="34" charset="-122"/>
                <a:cs typeface="Courier New" pitchFamily="34" charset="-120"/>
              </a:rPr>
              <a:t>06</a:t>
            </a:r>
            <a:endParaRPr lang="es-CO" sz="1575" noProof="0" dirty="0"/>
          </a:p>
        </p:txBody>
      </p:sp>
      <p:sp>
        <p:nvSpPr>
          <p:cNvPr id="17" name="Text 15"/>
          <p:cNvSpPr/>
          <p:nvPr/>
        </p:nvSpPr>
        <p:spPr>
          <a:xfrm>
            <a:off x="1485900" y="6356747"/>
            <a:ext cx="9889236" cy="418108"/>
          </a:xfrm>
          <a:prstGeom prst="rect">
            <a:avLst/>
          </a:prstGeom>
          <a:noFill/>
          <a:ln/>
        </p:spPr>
        <p:txBody>
          <a:bodyPr wrap="square" lIns="25400" tIns="25400" rIns="25400" bIns="25400" rtlCol="0" anchor="t">
            <a:normAutofit lnSpcReduction="10000"/>
          </a:bodyPr>
          <a:lstStyle/>
          <a:p>
            <a:pPr marL="0" indent="0" algn="l">
              <a:lnSpc>
                <a:spcPct val="171000"/>
              </a:lnSpc>
              <a:buNone/>
            </a:pPr>
            <a:r>
              <a:rPr lang="es-CO" sz="1575" noProof="0" dirty="0">
                <a:solidFill>
                  <a:srgbClr val="6F6F6F"/>
                </a:solidFill>
                <a:latin typeface="Courier New" pitchFamily="34" charset="0"/>
                <a:ea typeface="Courier New" pitchFamily="34" charset="-122"/>
                <a:cs typeface="Courier New" pitchFamily="34" charset="-120"/>
              </a:rPr>
              <a:t>07 </a:t>
            </a:r>
            <a:r>
              <a:rPr lang="es-CO" sz="1575" noProof="0" dirty="0">
                <a:solidFill>
                  <a:srgbClr val="E9E9E9"/>
                </a:solidFill>
                <a:latin typeface="Courier New" pitchFamily="34" charset="0"/>
                <a:ea typeface="Courier New" pitchFamily="34" charset="-122"/>
                <a:cs typeface="Courier New" pitchFamily="34" charset="-120"/>
              </a:rPr>
              <a:t>write.csv</a:t>
            </a:r>
            <a:r>
              <a:rPr lang="es-CO" sz="1575" noProof="0" dirty="0">
                <a:solidFill>
                  <a:srgbClr val="B7D81A"/>
                </a:solidFill>
                <a:latin typeface="Courier New" pitchFamily="34" charset="0"/>
                <a:ea typeface="Courier New" pitchFamily="34" charset="-122"/>
                <a:cs typeface="Courier New" pitchFamily="34" charset="-120"/>
              </a:rPr>
              <a:t>(dm,</a:t>
            </a:r>
            <a:r>
              <a:rPr lang="es-CO" sz="1575" noProof="0" dirty="0">
                <a:solidFill>
                  <a:srgbClr val="E9E9E9"/>
                </a:solidFill>
                <a:latin typeface="Courier New" pitchFamily="34" charset="0"/>
                <a:ea typeface="Courier New" pitchFamily="34" charset="-122"/>
                <a:cs typeface="Courier New" pitchFamily="34" charset="-120"/>
              </a:rPr>
              <a:t> "matriz_modelado_OE2.csv")</a:t>
            </a:r>
            <a:endParaRPr lang="es-CO" sz="1575" noProof="0" dirty="0"/>
          </a:p>
        </p:txBody>
      </p:sp>
      <p:sp>
        <p:nvSpPr>
          <p:cNvPr id="18" name="Text 16"/>
          <p:cNvSpPr/>
          <p:nvPr/>
        </p:nvSpPr>
        <p:spPr>
          <a:xfrm>
            <a:off x="1485900" y="6736755"/>
            <a:ext cx="9889236" cy="418108"/>
          </a:xfrm>
          <a:prstGeom prst="rect">
            <a:avLst/>
          </a:prstGeom>
          <a:noFill/>
          <a:ln/>
        </p:spPr>
        <p:txBody>
          <a:bodyPr wrap="square" lIns="25400" tIns="25400" rIns="25400" bIns="25400" rtlCol="0" anchor="t">
            <a:normAutofit lnSpcReduction="10000"/>
          </a:bodyPr>
          <a:lstStyle/>
          <a:p>
            <a:pPr marL="0" indent="0" algn="l">
              <a:lnSpc>
                <a:spcPct val="171000"/>
              </a:lnSpc>
              <a:buNone/>
            </a:pPr>
            <a:r>
              <a:rPr lang="es-CO" sz="1575" noProof="0" dirty="0">
                <a:solidFill>
                  <a:srgbClr val="6F6F6F"/>
                </a:solidFill>
                <a:latin typeface="Courier New" pitchFamily="34" charset="0"/>
                <a:ea typeface="Courier New" pitchFamily="34" charset="-122"/>
                <a:cs typeface="Courier New" pitchFamily="34" charset="-120"/>
              </a:rPr>
              <a:t>08 </a:t>
            </a:r>
            <a:r>
              <a:rPr lang="es-CO" sz="1575" noProof="0" dirty="0">
                <a:solidFill>
                  <a:srgbClr val="E9E9E9"/>
                </a:solidFill>
                <a:latin typeface="Courier New" pitchFamily="34" charset="0"/>
                <a:ea typeface="Courier New" pitchFamily="34" charset="-122"/>
                <a:cs typeface="Courier New" pitchFamily="34" charset="-120"/>
              </a:rPr>
              <a:t># excluye ventas, </a:t>
            </a:r>
            <a:r>
              <a:rPr lang="es-CO" sz="1575" noProof="0" dirty="0" err="1">
                <a:solidFill>
                  <a:srgbClr val="E9E9E9"/>
                </a:solidFill>
                <a:latin typeface="Courier New" pitchFamily="34" charset="0"/>
                <a:ea typeface="Courier New" pitchFamily="34" charset="-122"/>
                <a:cs typeface="Courier New" pitchFamily="34" charset="-120"/>
              </a:rPr>
              <a:t>inventario_final</a:t>
            </a:r>
            <a:r>
              <a:rPr lang="es-CO" sz="1575" noProof="0" dirty="0">
                <a:solidFill>
                  <a:srgbClr val="E9E9E9"/>
                </a:solidFill>
                <a:latin typeface="Courier New" pitchFamily="34" charset="0"/>
                <a:ea typeface="Courier New" pitchFamily="34" charset="-122"/>
                <a:cs typeface="Courier New" pitchFamily="34" charset="-120"/>
              </a:rPr>
              <a:t>, </a:t>
            </a:r>
            <a:r>
              <a:rPr lang="es-CO" sz="1575" noProof="0" dirty="0" err="1">
                <a:solidFill>
                  <a:srgbClr val="E9E9E9"/>
                </a:solidFill>
                <a:latin typeface="Courier New" pitchFamily="34" charset="0"/>
                <a:ea typeface="Courier New" pitchFamily="34" charset="-122"/>
                <a:cs typeface="Courier New" pitchFamily="34" charset="-120"/>
              </a:rPr>
              <a:t>quiebre_stock</a:t>
            </a:r>
            <a:r>
              <a:rPr lang="es-CO" sz="1575" noProof="0" dirty="0">
                <a:solidFill>
                  <a:srgbClr val="B7D81A"/>
                </a:solidFill>
                <a:latin typeface="Courier New" pitchFamily="34" charset="0"/>
                <a:ea typeface="Courier New" pitchFamily="34" charset="-122"/>
                <a:cs typeface="Courier New" pitchFamily="34" charset="-120"/>
              </a:rPr>
              <a:t> </a:t>
            </a:r>
            <a:r>
              <a:rPr lang="es-CO" sz="1575" noProof="0" dirty="0">
                <a:solidFill>
                  <a:srgbClr val="E9E9E9"/>
                </a:solidFill>
                <a:latin typeface="Courier New" pitchFamily="34" charset="0"/>
                <a:ea typeface="Courier New" pitchFamily="34" charset="-122"/>
                <a:cs typeface="Courier New" pitchFamily="34" charset="-120"/>
              </a:rPr>
              <a:t> </a:t>
            </a:r>
            <a:endParaRPr lang="es-CO" sz="1575" noProof="0" dirty="0"/>
          </a:p>
        </p:txBody>
      </p:sp>
      <p:sp>
        <p:nvSpPr>
          <p:cNvPr id="19" name="Text 17"/>
          <p:cNvSpPr/>
          <p:nvPr/>
        </p:nvSpPr>
        <p:spPr>
          <a:xfrm>
            <a:off x="1485900" y="7116763"/>
            <a:ext cx="9889236" cy="418108"/>
          </a:xfrm>
          <a:prstGeom prst="rect">
            <a:avLst/>
          </a:prstGeom>
          <a:noFill/>
          <a:ln/>
        </p:spPr>
        <p:txBody>
          <a:bodyPr wrap="square" lIns="25400" tIns="25400" rIns="25400" bIns="25400" rtlCol="0" anchor="t">
            <a:normAutofit lnSpcReduction="10000"/>
          </a:bodyPr>
          <a:lstStyle/>
          <a:p>
            <a:pPr marL="0" indent="0" algn="l">
              <a:lnSpc>
                <a:spcPct val="171000"/>
              </a:lnSpc>
              <a:buNone/>
            </a:pPr>
            <a:r>
              <a:rPr lang="es-CO" sz="1575" noProof="0" dirty="0">
                <a:solidFill>
                  <a:srgbClr val="6F6F6F"/>
                </a:solidFill>
                <a:latin typeface="Courier New" pitchFamily="34" charset="0"/>
                <a:ea typeface="Courier New" pitchFamily="34" charset="-122"/>
                <a:cs typeface="Courier New" pitchFamily="34" charset="-120"/>
              </a:rPr>
              <a:t>09 </a:t>
            </a:r>
            <a:r>
              <a:rPr lang="es-CO" sz="1575" noProof="0" dirty="0">
                <a:solidFill>
                  <a:srgbClr val="B7D81A"/>
                </a:solidFill>
                <a:latin typeface="Courier New" pitchFamily="34" charset="0"/>
                <a:ea typeface="Courier New" pitchFamily="34" charset="-122"/>
                <a:cs typeface="Courier New" pitchFamily="34" charset="-120"/>
              </a:rPr>
              <a:t># validar_predictores_OE2.R certifica el resultado</a:t>
            </a:r>
            <a:r>
              <a:rPr lang="es-CO" sz="1575" noProof="0" dirty="0">
                <a:solidFill>
                  <a:srgbClr val="E9E9E9"/>
                </a:solidFill>
                <a:latin typeface="Courier New" pitchFamily="34" charset="0"/>
                <a:ea typeface="Courier New" pitchFamily="34" charset="-122"/>
                <a:cs typeface="Courier New" pitchFamily="34" charset="-120"/>
              </a:rPr>
              <a:t> </a:t>
            </a:r>
            <a:endParaRPr lang="es-CO" sz="1575" noProof="0" dirty="0"/>
          </a:p>
        </p:txBody>
      </p:sp>
      <p:sp>
        <p:nvSpPr>
          <p:cNvPr id="20" name="Shape 18"/>
          <p:cNvSpPr/>
          <p:nvPr/>
        </p:nvSpPr>
        <p:spPr>
          <a:xfrm>
            <a:off x="12420600" y="2693789"/>
            <a:ext cx="4686300" cy="2869803"/>
          </a:xfrm>
          <a:prstGeom prst="roundRect">
            <a:avLst>
              <a:gd name="adj" fmla="val 9293"/>
            </a:avLst>
          </a:prstGeom>
          <a:solidFill>
            <a:srgbClr val="F4FADF"/>
          </a:solidFill>
          <a:ln/>
        </p:spPr>
        <p:txBody>
          <a:bodyPr/>
          <a:lstStyle/>
          <a:p>
            <a:endParaRPr lang="es-CO" noProof="0" dirty="0"/>
          </a:p>
        </p:txBody>
      </p:sp>
      <p:sp>
        <p:nvSpPr>
          <p:cNvPr id="21" name="Text 19"/>
          <p:cNvSpPr/>
          <p:nvPr/>
        </p:nvSpPr>
        <p:spPr>
          <a:xfrm>
            <a:off x="12801600" y="3027561"/>
            <a:ext cx="4400550" cy="317500"/>
          </a:xfrm>
          <a:prstGeom prst="rect">
            <a:avLst/>
          </a:prstGeom>
          <a:noFill/>
          <a:ln/>
        </p:spPr>
        <p:txBody>
          <a:bodyPr wrap="square" lIns="25400" tIns="25400" rIns="25400" bIns="25400" rtlCol="0" anchor="t">
            <a:normAutofit/>
          </a:bodyPr>
          <a:lstStyle/>
          <a:p>
            <a:pPr marL="0" indent="0" algn="l">
              <a:buNone/>
            </a:pPr>
            <a:r>
              <a:rPr lang="es-CO" sz="1650" b="1" noProof="0" dirty="0">
                <a:solidFill>
                  <a:srgbClr val="7E2C8C"/>
                </a:solidFill>
                <a:latin typeface="Segoe UI" pitchFamily="34" charset="0"/>
                <a:ea typeface="Segoe UI" pitchFamily="34" charset="-122"/>
                <a:cs typeface="Segoe UI" pitchFamily="34" charset="-120"/>
              </a:rPr>
              <a:t>Entrenamiento del modelo MLR</a:t>
            </a:r>
            <a:endParaRPr lang="es-CO" sz="1650" noProof="0" dirty="0"/>
          </a:p>
        </p:txBody>
      </p:sp>
      <p:sp>
        <p:nvSpPr>
          <p:cNvPr id="22" name="Text 20"/>
          <p:cNvSpPr/>
          <p:nvPr/>
        </p:nvSpPr>
        <p:spPr>
          <a:xfrm>
            <a:off x="12757785" y="3529311"/>
            <a:ext cx="4120515" cy="1790303"/>
          </a:xfrm>
          <a:prstGeom prst="rect">
            <a:avLst/>
          </a:prstGeom>
          <a:noFill/>
          <a:ln/>
        </p:spPr>
        <p:txBody>
          <a:bodyPr wrap="square" lIns="25400" tIns="25400" rIns="25400" bIns="25400" rtlCol="0" anchor="t">
            <a:normAutofit lnSpcReduction="10000"/>
          </a:bodyPr>
          <a:lstStyle/>
          <a:p>
            <a:pPr marL="0" indent="0" algn="l">
              <a:lnSpc>
                <a:spcPct val="120000"/>
              </a:lnSpc>
              <a:buNone/>
            </a:pPr>
            <a:r>
              <a:rPr lang="es-CO" sz="1725" noProof="0" dirty="0">
                <a:solidFill>
                  <a:srgbClr val="3D3D3D"/>
                </a:solidFill>
                <a:latin typeface="Segoe UI" pitchFamily="34" charset="0"/>
                <a:ea typeface="Segoe UI" pitchFamily="34" charset="-122"/>
                <a:cs typeface="Segoe UI" pitchFamily="34" charset="-120"/>
              </a:rPr>
              <a:t>Se entrenó una regresión lineal múltiple utilizando los rezagos, la media histórica y la estacionalidad. También se evaluó si la familia del producto mejoraba el modelo; al no aportar diferencias significativas, fue descartada.</a:t>
            </a:r>
            <a:endParaRPr lang="es-CO" sz="1725" noProof="0" dirty="0"/>
          </a:p>
        </p:txBody>
      </p:sp>
      <p:sp>
        <p:nvSpPr>
          <p:cNvPr id="23" name="Text 21"/>
          <p:cNvSpPr/>
          <p:nvPr/>
        </p:nvSpPr>
        <p:spPr>
          <a:xfrm>
            <a:off x="1143000" y="9525000"/>
            <a:ext cx="5412720" cy="266700"/>
          </a:xfrm>
          <a:prstGeom prst="rect">
            <a:avLst/>
          </a:prstGeom>
          <a:noFill/>
          <a:ln/>
        </p:spPr>
        <p:txBody>
          <a:bodyPr wrap="square" lIns="25400" tIns="25400" rIns="25400" bIns="25400" rtlCol="0" anchor="t">
            <a:normAutofit/>
          </a:bodyPr>
          <a:lstStyle/>
          <a:p>
            <a:pPr marL="0" indent="0" algn="l">
              <a:buNone/>
            </a:pPr>
            <a:r>
              <a:rPr lang="es-CO" sz="1350" noProof="0" dirty="0">
                <a:solidFill>
                  <a:srgbClr val="6F6F6F"/>
                </a:solidFill>
                <a:latin typeface="Segoe UI" pitchFamily="34" charset="0"/>
                <a:ea typeface="Segoe UI" pitchFamily="34" charset="-122"/>
                <a:cs typeface="Segoe UI" pitchFamily="34" charset="-120"/>
              </a:rPr>
              <a:t>UTS · Cartilla de aprendizaje — Gestión Inteligente de Inventarios</a:t>
            </a:r>
            <a:endParaRPr lang="es-CO" sz="1350" noProof="0" dirty="0"/>
          </a:p>
        </p:txBody>
      </p:sp>
      <p:sp>
        <p:nvSpPr>
          <p:cNvPr id="24" name="Shape 22"/>
          <p:cNvSpPr/>
          <p:nvPr/>
        </p:nvSpPr>
        <p:spPr>
          <a:xfrm>
            <a:off x="16725900" y="9410700"/>
            <a:ext cx="419100" cy="419100"/>
          </a:xfrm>
          <a:prstGeom prst="ellipse">
            <a:avLst/>
          </a:prstGeom>
          <a:solidFill>
            <a:srgbClr val="7E2C8C"/>
          </a:solidFill>
          <a:ln/>
        </p:spPr>
        <p:txBody>
          <a:bodyPr/>
          <a:lstStyle/>
          <a:p>
            <a:endParaRPr lang="es-CO" noProof="0" dirty="0"/>
          </a:p>
        </p:txBody>
      </p:sp>
      <p:sp>
        <p:nvSpPr>
          <p:cNvPr id="25" name="Text 23"/>
          <p:cNvSpPr/>
          <p:nvPr/>
        </p:nvSpPr>
        <p:spPr>
          <a:xfrm>
            <a:off x="16687800" y="9410700"/>
            <a:ext cx="495300" cy="457200"/>
          </a:xfrm>
          <a:prstGeom prst="rect">
            <a:avLst/>
          </a:prstGeom>
          <a:noFill/>
          <a:ln/>
        </p:spPr>
        <p:txBody>
          <a:bodyPr wrap="square" lIns="25400" tIns="25400" rIns="25400" bIns="25400" rtlCol="0" anchor="ctr">
            <a:normAutofit/>
          </a:bodyPr>
          <a:lstStyle/>
          <a:p>
            <a:pPr marL="0" indent="0" algn="ctr">
              <a:buNone/>
            </a:pPr>
            <a:r>
              <a:rPr lang="es-CO" sz="1500" b="1" noProof="0" dirty="0">
                <a:solidFill>
                  <a:srgbClr val="FFFFFF"/>
                </a:solidFill>
                <a:latin typeface="Segoe UI" pitchFamily="34" charset="0"/>
                <a:cs typeface="Segoe UI" pitchFamily="34" charset="-120"/>
              </a:rPr>
              <a:t>25</a:t>
            </a:r>
            <a:endParaRPr lang="es-CO" sz="1500" noProof="0" dirty="0"/>
          </a:p>
        </p:txBody>
      </p:sp>
      <p:sp>
        <p:nvSpPr>
          <p:cNvPr id="27" name="Shape 18">
            <a:extLst>
              <a:ext uri="{FF2B5EF4-FFF2-40B4-BE49-F238E27FC236}">
                <a16:creationId xmlns:a16="http://schemas.microsoft.com/office/drawing/2014/main" id="{E4C39DB8-37D4-77EF-8832-66A6732715D2}"/>
              </a:ext>
            </a:extLst>
          </p:cNvPr>
          <p:cNvSpPr/>
          <p:nvPr/>
        </p:nvSpPr>
        <p:spPr>
          <a:xfrm>
            <a:off x="12420600" y="6014840"/>
            <a:ext cx="4686300" cy="2869803"/>
          </a:xfrm>
          <a:prstGeom prst="roundRect">
            <a:avLst>
              <a:gd name="adj" fmla="val 9293"/>
            </a:avLst>
          </a:prstGeom>
          <a:solidFill>
            <a:srgbClr val="F4FADF"/>
          </a:solidFill>
          <a:ln/>
        </p:spPr>
        <p:txBody>
          <a:bodyPr/>
          <a:lstStyle/>
          <a:p>
            <a:endParaRPr lang="es-CO" noProof="0" dirty="0"/>
          </a:p>
          <a:p>
            <a:endParaRPr lang="es-CO" noProof="0" dirty="0"/>
          </a:p>
          <a:p>
            <a:endParaRPr lang="es-CO" noProof="0" dirty="0"/>
          </a:p>
        </p:txBody>
      </p:sp>
      <p:sp>
        <p:nvSpPr>
          <p:cNvPr id="29" name="Text 19">
            <a:extLst>
              <a:ext uri="{FF2B5EF4-FFF2-40B4-BE49-F238E27FC236}">
                <a16:creationId xmlns:a16="http://schemas.microsoft.com/office/drawing/2014/main" id="{2AEF9398-5F2F-4CB0-BBB0-6AD48B644673}"/>
              </a:ext>
            </a:extLst>
          </p:cNvPr>
          <p:cNvSpPr/>
          <p:nvPr/>
        </p:nvSpPr>
        <p:spPr>
          <a:xfrm>
            <a:off x="12801600" y="6355357"/>
            <a:ext cx="4400550" cy="317500"/>
          </a:xfrm>
          <a:prstGeom prst="rect">
            <a:avLst/>
          </a:prstGeom>
          <a:noFill/>
          <a:ln/>
        </p:spPr>
        <p:txBody>
          <a:bodyPr wrap="square" lIns="25400" tIns="25400" rIns="25400" bIns="25400" rtlCol="0" anchor="t">
            <a:normAutofit/>
          </a:bodyPr>
          <a:lstStyle/>
          <a:p>
            <a:pPr marL="0" indent="0" algn="l">
              <a:buNone/>
            </a:pPr>
            <a:r>
              <a:rPr lang="es-CO" sz="1650" b="1" noProof="0" dirty="0">
                <a:solidFill>
                  <a:srgbClr val="7E2C8C"/>
                </a:solidFill>
                <a:latin typeface="Segoe UI" pitchFamily="34" charset="0"/>
                <a:ea typeface="Segoe UI" pitchFamily="34" charset="-122"/>
                <a:cs typeface="Segoe UI" pitchFamily="34" charset="-120"/>
              </a:rPr>
              <a:t>Entrenamiento del modelo CART</a:t>
            </a:r>
            <a:endParaRPr lang="es-CO" sz="1650" noProof="0" dirty="0"/>
          </a:p>
        </p:txBody>
      </p:sp>
      <p:sp>
        <p:nvSpPr>
          <p:cNvPr id="31" name="Text 20">
            <a:extLst>
              <a:ext uri="{FF2B5EF4-FFF2-40B4-BE49-F238E27FC236}">
                <a16:creationId xmlns:a16="http://schemas.microsoft.com/office/drawing/2014/main" id="{5A51F264-84EB-4124-07D0-98857FEBA4A7}"/>
              </a:ext>
            </a:extLst>
          </p:cNvPr>
          <p:cNvSpPr/>
          <p:nvPr/>
        </p:nvSpPr>
        <p:spPr>
          <a:xfrm>
            <a:off x="12801600" y="6877447"/>
            <a:ext cx="4120515" cy="1790303"/>
          </a:xfrm>
          <a:prstGeom prst="rect">
            <a:avLst/>
          </a:prstGeom>
          <a:noFill/>
          <a:ln/>
        </p:spPr>
        <p:txBody>
          <a:bodyPr wrap="square" lIns="25400" tIns="25400" rIns="25400" bIns="25400" rtlCol="0" anchor="t">
            <a:normAutofit/>
          </a:bodyPr>
          <a:lstStyle/>
          <a:p>
            <a:pPr marL="0" indent="0" algn="l">
              <a:lnSpc>
                <a:spcPct val="120000"/>
              </a:lnSpc>
              <a:buNone/>
            </a:pPr>
            <a:r>
              <a:rPr lang="es-CO" sz="1725" noProof="0" dirty="0">
                <a:solidFill>
                  <a:srgbClr val="3D3D3D"/>
                </a:solidFill>
                <a:latin typeface="Segoe UI" pitchFamily="34" charset="0"/>
                <a:ea typeface="Segoe UI" pitchFamily="34" charset="-122"/>
                <a:cs typeface="Segoe UI" pitchFamily="34" charset="-120"/>
              </a:rPr>
              <a:t>Se construyó un árbol de decisión que posteriormente fue podado para conservar únicamente la estructura que ofrecía el mejor equilibrio entre precisión y complejidad.</a:t>
            </a:r>
          </a:p>
          <a:p>
            <a:pPr marL="0" indent="0" algn="l">
              <a:lnSpc>
                <a:spcPct val="120000"/>
              </a:lnSpc>
              <a:buNone/>
            </a:pPr>
            <a:endParaRPr lang="es-CO" sz="1725" noProof="0" dirty="0"/>
          </a:p>
        </p:txBody>
      </p:sp>
      <p:sp>
        <p:nvSpPr>
          <p:cNvPr id="33" name="Shape 0">
            <a:extLst>
              <a:ext uri="{FF2B5EF4-FFF2-40B4-BE49-F238E27FC236}">
                <a16:creationId xmlns:a16="http://schemas.microsoft.com/office/drawing/2014/main" id="{718BD4EE-B8F6-D0AD-6841-C4BF28DED617}"/>
              </a:ext>
            </a:extLst>
          </p:cNvPr>
          <p:cNvSpPr/>
          <p:nvPr/>
        </p:nvSpPr>
        <p:spPr>
          <a:xfrm>
            <a:off x="1143000" y="838200"/>
            <a:ext cx="5592652" cy="419100"/>
          </a:xfrm>
          <a:prstGeom prst="roundRect">
            <a:avLst>
              <a:gd name="adj" fmla="val 50000"/>
            </a:avLst>
          </a:prstGeom>
          <a:solidFill>
            <a:srgbClr val="F4FADF"/>
          </a:solidFill>
          <a:ln/>
        </p:spPr>
        <p:txBody>
          <a:bodyPr/>
          <a:lstStyle/>
          <a:p>
            <a:endParaRPr lang="es-CO" noProof="0" dirty="0"/>
          </a:p>
        </p:txBody>
      </p:sp>
      <p:sp>
        <p:nvSpPr>
          <p:cNvPr id="35" name="Text 1">
            <a:extLst>
              <a:ext uri="{FF2B5EF4-FFF2-40B4-BE49-F238E27FC236}">
                <a16:creationId xmlns:a16="http://schemas.microsoft.com/office/drawing/2014/main" id="{012FF68B-15D1-99DF-5EFC-F64A6BBC7003}"/>
              </a:ext>
            </a:extLst>
          </p:cNvPr>
          <p:cNvSpPr/>
          <p:nvPr/>
        </p:nvSpPr>
        <p:spPr>
          <a:xfrm>
            <a:off x="1352550" y="933450"/>
            <a:ext cx="5383101" cy="266700"/>
          </a:xfrm>
          <a:prstGeom prst="rect">
            <a:avLst/>
          </a:prstGeom>
          <a:noFill/>
          <a:ln/>
        </p:spPr>
        <p:txBody>
          <a:bodyPr wrap="square" lIns="25400" tIns="25400" rIns="25400" bIns="25400" rtlCol="0" anchor="ctr">
            <a:normAutofit/>
          </a:bodyPr>
          <a:lstStyle/>
          <a:p>
            <a:pPr marL="0" indent="0" algn="l">
              <a:buNone/>
            </a:pPr>
            <a:r>
              <a:rPr lang="es-CO" sz="1350" b="1" kern="0" spc="81" noProof="0" dirty="0">
                <a:solidFill>
                  <a:srgbClr val="7E2C8C"/>
                </a:solidFill>
                <a:latin typeface="Segoe UI" pitchFamily="34" charset="0"/>
                <a:ea typeface="Segoe UI" pitchFamily="34" charset="-122"/>
                <a:cs typeface="Segoe UI" pitchFamily="34" charset="-120"/>
              </a:rPr>
              <a:t>FASE 5 · MODELADO PREDICTIVO Y COMPARACIÓN  </a:t>
            </a:r>
            <a:endParaRPr lang="es-CO" sz="1350" noProof="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1143000" y="1619250"/>
            <a:ext cx="13620750" cy="698500"/>
          </a:xfrm>
          <a:prstGeom prst="rect">
            <a:avLst/>
          </a:prstGeom>
          <a:noFill/>
          <a:ln/>
        </p:spPr>
        <p:txBody>
          <a:bodyPr wrap="square" lIns="25400" tIns="25400" rIns="25400" bIns="25400" rtlCol="0" anchor="t">
            <a:normAutofit/>
          </a:bodyPr>
          <a:lstStyle/>
          <a:p>
            <a:pPr marL="0" indent="0" algn="l">
              <a:buNone/>
            </a:pPr>
            <a:r>
              <a:rPr lang="es-CO" sz="3900" b="1" noProof="0" dirty="0">
                <a:solidFill>
                  <a:srgbClr val="3D3D3D"/>
                </a:solidFill>
                <a:latin typeface="Segoe UI" pitchFamily="34" charset="0"/>
                <a:ea typeface="Segoe UI" pitchFamily="34" charset="-122"/>
                <a:cs typeface="Segoe UI" pitchFamily="34" charset="-120"/>
              </a:rPr>
              <a:t>Resultados del modelo predictivo</a:t>
            </a:r>
            <a:endParaRPr lang="es-CO" sz="3900" noProof="0" dirty="0"/>
          </a:p>
        </p:txBody>
      </p:sp>
      <p:sp>
        <p:nvSpPr>
          <p:cNvPr id="5" name="Shape 3"/>
          <p:cNvSpPr/>
          <p:nvPr/>
        </p:nvSpPr>
        <p:spPr>
          <a:xfrm>
            <a:off x="1143000" y="3238500"/>
            <a:ext cx="9258300" cy="4686300"/>
          </a:xfrm>
          <a:prstGeom prst="roundRect">
            <a:avLst>
              <a:gd name="adj" fmla="val 5691"/>
            </a:avLst>
          </a:prstGeom>
          <a:ln/>
        </p:spPr>
        <p:style>
          <a:lnRef idx="2">
            <a:schemeClr val="accent6"/>
          </a:lnRef>
          <a:fillRef idx="1">
            <a:schemeClr val="lt1"/>
          </a:fillRef>
          <a:effectRef idx="0">
            <a:schemeClr val="accent6"/>
          </a:effectRef>
          <a:fontRef idx="minor">
            <a:schemeClr val="dk1"/>
          </a:fontRef>
        </p:style>
        <p:txBody>
          <a:bodyPr/>
          <a:lstStyle/>
          <a:p>
            <a:endParaRPr lang="es-CO" noProof="0" dirty="0"/>
          </a:p>
        </p:txBody>
      </p:sp>
      <p:sp>
        <p:nvSpPr>
          <p:cNvPr id="6" name="Text 4"/>
          <p:cNvSpPr/>
          <p:nvPr/>
        </p:nvSpPr>
        <p:spPr>
          <a:xfrm>
            <a:off x="1485900" y="3581400"/>
            <a:ext cx="9429750" cy="317500"/>
          </a:xfrm>
          <a:prstGeom prst="rect">
            <a:avLst/>
          </a:prstGeom>
          <a:noFill/>
          <a:ln/>
        </p:spPr>
        <p:txBody>
          <a:bodyPr wrap="square" lIns="25400" tIns="25400" rIns="25400" bIns="25400" rtlCol="0" anchor="t">
            <a:normAutofit/>
          </a:bodyPr>
          <a:lstStyle/>
          <a:p>
            <a:pPr marL="0" indent="0" algn="l">
              <a:buNone/>
            </a:pPr>
            <a:r>
              <a:rPr lang="es-CO" sz="1650" b="1" noProof="0" dirty="0">
                <a:solidFill>
                  <a:srgbClr val="3D3D3D"/>
                </a:solidFill>
                <a:latin typeface="Segoe UI" pitchFamily="34" charset="0"/>
                <a:ea typeface="Segoe UI" pitchFamily="34" charset="-122"/>
                <a:cs typeface="Segoe UI" pitchFamily="34" charset="-120"/>
              </a:rPr>
              <a:t>Demanda observada vs. predicha (validación)</a:t>
            </a:r>
            <a:endParaRPr lang="es-CO" sz="1650" noProof="0" dirty="0"/>
          </a:p>
        </p:txBody>
      </p:sp>
      <p:pic>
        <p:nvPicPr>
          <p:cNvPr id="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85900" y="4051300"/>
            <a:ext cx="8572500" cy="2476500"/>
          </a:xfrm>
          <a:prstGeom prst="rect">
            <a:avLst/>
          </a:prstGeom>
        </p:spPr>
      </p:pic>
      <p:sp>
        <p:nvSpPr>
          <p:cNvPr id="8" name="Shape 5"/>
          <p:cNvSpPr/>
          <p:nvPr/>
        </p:nvSpPr>
        <p:spPr>
          <a:xfrm>
            <a:off x="1485900" y="6772275"/>
            <a:ext cx="228600" cy="57150"/>
          </a:xfrm>
          <a:prstGeom prst="rect">
            <a:avLst/>
          </a:prstGeom>
          <a:solidFill>
            <a:srgbClr val="7E2C8C"/>
          </a:solidFill>
          <a:ln/>
        </p:spPr>
        <p:txBody>
          <a:bodyPr/>
          <a:lstStyle/>
          <a:p>
            <a:endParaRPr lang="es-CO" noProof="0" dirty="0"/>
          </a:p>
        </p:txBody>
      </p:sp>
      <p:sp>
        <p:nvSpPr>
          <p:cNvPr id="9" name="Text 6"/>
          <p:cNvSpPr/>
          <p:nvPr/>
        </p:nvSpPr>
        <p:spPr>
          <a:xfrm>
            <a:off x="1809750" y="6680200"/>
            <a:ext cx="1189831" cy="279400"/>
          </a:xfrm>
          <a:prstGeom prst="rect">
            <a:avLst/>
          </a:prstGeom>
          <a:noFill/>
          <a:ln/>
        </p:spPr>
        <p:txBody>
          <a:bodyPr wrap="square" lIns="25400" tIns="25400" rIns="25400" bIns="25400" rtlCol="0" anchor="t">
            <a:normAutofit/>
          </a:bodyPr>
          <a:lstStyle/>
          <a:p>
            <a:pPr marL="0" indent="0" algn="l">
              <a:buNone/>
            </a:pPr>
            <a:r>
              <a:rPr lang="es-CO" sz="1425" noProof="0" dirty="0">
                <a:solidFill>
                  <a:srgbClr val="6F6F6F"/>
                </a:solidFill>
                <a:latin typeface="Segoe UI" pitchFamily="34" charset="0"/>
                <a:ea typeface="Segoe UI" pitchFamily="34" charset="-122"/>
                <a:cs typeface="Segoe UI" pitchFamily="34" charset="-120"/>
              </a:rPr>
              <a:t>Observada</a:t>
            </a:r>
            <a:endParaRPr lang="es-CO" sz="1425" noProof="0" dirty="0"/>
          </a:p>
        </p:txBody>
      </p:sp>
      <p:sp>
        <p:nvSpPr>
          <p:cNvPr id="10" name="Shape 7"/>
          <p:cNvSpPr/>
          <p:nvPr/>
        </p:nvSpPr>
        <p:spPr>
          <a:xfrm>
            <a:off x="3190081" y="6772275"/>
            <a:ext cx="228600" cy="57150"/>
          </a:xfrm>
          <a:prstGeom prst="rect">
            <a:avLst/>
          </a:prstGeom>
          <a:solidFill>
            <a:srgbClr val="B7D81A"/>
          </a:solidFill>
          <a:ln/>
        </p:spPr>
        <p:txBody>
          <a:bodyPr/>
          <a:lstStyle/>
          <a:p>
            <a:endParaRPr lang="es-CO" noProof="0" dirty="0"/>
          </a:p>
        </p:txBody>
      </p:sp>
      <p:sp>
        <p:nvSpPr>
          <p:cNvPr id="11" name="Text 8"/>
          <p:cNvSpPr/>
          <p:nvPr/>
        </p:nvSpPr>
        <p:spPr>
          <a:xfrm>
            <a:off x="3513931" y="6680200"/>
            <a:ext cx="926604" cy="279400"/>
          </a:xfrm>
          <a:prstGeom prst="rect">
            <a:avLst/>
          </a:prstGeom>
          <a:noFill/>
          <a:ln/>
        </p:spPr>
        <p:txBody>
          <a:bodyPr wrap="square" lIns="25400" tIns="25400" rIns="25400" bIns="25400" rtlCol="0" anchor="t">
            <a:normAutofit/>
          </a:bodyPr>
          <a:lstStyle/>
          <a:p>
            <a:pPr marL="0" indent="0" algn="l">
              <a:buNone/>
            </a:pPr>
            <a:r>
              <a:rPr lang="es-CO" sz="1425" noProof="0" dirty="0">
                <a:solidFill>
                  <a:srgbClr val="6F6F6F"/>
                </a:solidFill>
                <a:latin typeface="Segoe UI" pitchFamily="34" charset="0"/>
                <a:ea typeface="Segoe UI" pitchFamily="34" charset="-122"/>
                <a:cs typeface="Segoe UI" pitchFamily="34" charset="-120"/>
              </a:rPr>
              <a:t>Predicha</a:t>
            </a:r>
            <a:endParaRPr lang="es-CO" sz="1425" noProof="0" dirty="0"/>
          </a:p>
        </p:txBody>
      </p:sp>
      <p:sp>
        <p:nvSpPr>
          <p:cNvPr id="12" name="Shape 9"/>
          <p:cNvSpPr/>
          <p:nvPr/>
        </p:nvSpPr>
        <p:spPr>
          <a:xfrm>
            <a:off x="10096500" y="3238500"/>
            <a:ext cx="7048500" cy="990600"/>
          </a:xfrm>
          <a:prstGeom prst="roundRect">
            <a:avLst>
              <a:gd name="adj" fmla="val 23077"/>
            </a:avLst>
          </a:prstGeom>
          <a:solidFill>
            <a:srgbClr val="7E2C8C"/>
          </a:solidFill>
          <a:ln/>
        </p:spPr>
        <p:txBody>
          <a:bodyPr/>
          <a:lstStyle/>
          <a:p>
            <a:endParaRPr lang="es-CO" noProof="0" dirty="0"/>
          </a:p>
        </p:txBody>
      </p:sp>
      <p:sp>
        <p:nvSpPr>
          <p:cNvPr id="13" name="Text 10"/>
          <p:cNvSpPr/>
          <p:nvPr/>
        </p:nvSpPr>
        <p:spPr>
          <a:xfrm>
            <a:off x="10401300" y="3581400"/>
            <a:ext cx="672604" cy="342900"/>
          </a:xfrm>
          <a:prstGeom prst="rect">
            <a:avLst/>
          </a:prstGeom>
          <a:noFill/>
          <a:ln/>
        </p:spPr>
        <p:txBody>
          <a:bodyPr wrap="square" lIns="25400" tIns="25400" rIns="25400" bIns="25400" rtlCol="0" anchor="t">
            <a:normAutofit fontScale="62500" lnSpcReduction="20000"/>
          </a:bodyPr>
          <a:lstStyle/>
          <a:p>
            <a:pPr marL="0" indent="0" algn="l">
              <a:buNone/>
            </a:pPr>
            <a:r>
              <a:rPr lang="es-CO" sz="1800" noProof="0" dirty="0">
                <a:solidFill>
                  <a:srgbClr val="DDF28A"/>
                </a:solidFill>
                <a:latin typeface="Segoe UI" pitchFamily="34" charset="0"/>
                <a:ea typeface="Segoe UI" pitchFamily="34" charset="-122"/>
                <a:cs typeface="Segoe UI" pitchFamily="34" charset="-120"/>
              </a:rPr>
              <a:t>WAPE (CART)</a:t>
            </a:r>
            <a:endParaRPr lang="es-CO" sz="1800" noProof="0" dirty="0"/>
          </a:p>
        </p:txBody>
      </p:sp>
      <p:sp>
        <p:nvSpPr>
          <p:cNvPr id="14" name="Text 11"/>
          <p:cNvSpPr/>
          <p:nvPr/>
        </p:nvSpPr>
        <p:spPr>
          <a:xfrm>
            <a:off x="16055380" y="3505200"/>
            <a:ext cx="861020" cy="495300"/>
          </a:xfrm>
          <a:prstGeom prst="rect">
            <a:avLst/>
          </a:prstGeom>
          <a:noFill/>
          <a:ln/>
        </p:spPr>
        <p:txBody>
          <a:bodyPr wrap="square" lIns="25400" tIns="25400" rIns="25400" bIns="25400" rtlCol="0" anchor="t">
            <a:normAutofit fontScale="77500" lnSpcReduction="20000"/>
          </a:bodyPr>
          <a:lstStyle/>
          <a:p>
            <a:pPr marL="0" indent="0" algn="l">
              <a:buNone/>
            </a:pPr>
            <a:r>
              <a:rPr lang="es-CO" sz="2700" b="1" noProof="0" dirty="0">
                <a:solidFill>
                  <a:srgbClr val="FFFFFF"/>
                </a:solidFill>
                <a:latin typeface="Segoe UI" pitchFamily="34" charset="0"/>
                <a:ea typeface="Segoe UI" pitchFamily="34" charset="-122"/>
                <a:cs typeface="Segoe UI" pitchFamily="34" charset="-120"/>
              </a:rPr>
              <a:t>32,3%</a:t>
            </a:r>
            <a:endParaRPr lang="es-CO" sz="2700" noProof="0" dirty="0"/>
          </a:p>
        </p:txBody>
      </p:sp>
      <p:sp>
        <p:nvSpPr>
          <p:cNvPr id="15" name="Shape 12"/>
          <p:cNvSpPr/>
          <p:nvPr/>
        </p:nvSpPr>
        <p:spPr>
          <a:xfrm>
            <a:off x="10096500" y="4457700"/>
            <a:ext cx="7048500" cy="990600"/>
          </a:xfrm>
          <a:prstGeom prst="roundRect">
            <a:avLst>
              <a:gd name="adj" fmla="val 23077"/>
            </a:avLst>
          </a:prstGeom>
          <a:solidFill>
            <a:srgbClr val="3D3D3D"/>
          </a:solidFill>
          <a:ln/>
        </p:spPr>
        <p:txBody>
          <a:bodyPr/>
          <a:lstStyle/>
          <a:p>
            <a:endParaRPr lang="es-CO" noProof="0" dirty="0"/>
          </a:p>
        </p:txBody>
      </p:sp>
      <p:sp>
        <p:nvSpPr>
          <p:cNvPr id="16" name="Text 13"/>
          <p:cNvSpPr/>
          <p:nvPr/>
        </p:nvSpPr>
        <p:spPr>
          <a:xfrm>
            <a:off x="10401300" y="4800600"/>
            <a:ext cx="655340" cy="342900"/>
          </a:xfrm>
          <a:prstGeom prst="rect">
            <a:avLst/>
          </a:prstGeom>
          <a:noFill/>
          <a:ln/>
        </p:spPr>
        <p:txBody>
          <a:bodyPr wrap="square" lIns="25400" tIns="25400" rIns="25400" bIns="25400" rtlCol="0" anchor="t">
            <a:normAutofit fontScale="62500" lnSpcReduction="20000"/>
          </a:bodyPr>
          <a:lstStyle/>
          <a:p>
            <a:pPr marL="0" indent="0" algn="l">
              <a:buNone/>
            </a:pPr>
            <a:r>
              <a:rPr lang="es-CO" sz="1800" noProof="0" dirty="0">
                <a:solidFill>
                  <a:srgbClr val="DDF28A"/>
                </a:solidFill>
                <a:latin typeface="Segoe UI" pitchFamily="34" charset="0"/>
                <a:ea typeface="Segoe UI" pitchFamily="34" charset="-122"/>
                <a:cs typeface="Segoe UI" pitchFamily="34" charset="-120"/>
              </a:rPr>
              <a:t>RMSE (CART)</a:t>
            </a:r>
            <a:endParaRPr lang="es-CO" sz="1800" noProof="0" dirty="0"/>
          </a:p>
        </p:txBody>
      </p:sp>
      <p:sp>
        <p:nvSpPr>
          <p:cNvPr id="17" name="Text 14"/>
          <p:cNvSpPr/>
          <p:nvPr/>
        </p:nvSpPr>
        <p:spPr>
          <a:xfrm>
            <a:off x="15853470" y="4724400"/>
            <a:ext cx="1062930" cy="495300"/>
          </a:xfrm>
          <a:prstGeom prst="rect">
            <a:avLst/>
          </a:prstGeom>
          <a:noFill/>
          <a:ln/>
        </p:spPr>
        <p:txBody>
          <a:bodyPr wrap="square" lIns="25400" tIns="25400" rIns="25400" bIns="25400" rtlCol="0" anchor="t">
            <a:normAutofit/>
          </a:bodyPr>
          <a:lstStyle/>
          <a:p>
            <a:pPr marL="0" indent="0" algn="l">
              <a:buNone/>
            </a:pPr>
            <a:r>
              <a:rPr lang="es-CO" sz="2700" b="1" noProof="0" dirty="0">
                <a:solidFill>
                  <a:srgbClr val="FFFFFF"/>
                </a:solidFill>
                <a:latin typeface="Segoe UI" pitchFamily="34" charset="0"/>
                <a:ea typeface="Segoe UI" pitchFamily="34" charset="-122"/>
                <a:cs typeface="Segoe UI" pitchFamily="34" charset="-120"/>
              </a:rPr>
              <a:t>21,6 u</a:t>
            </a:r>
            <a:endParaRPr lang="es-CO" sz="2700" noProof="0" dirty="0"/>
          </a:p>
        </p:txBody>
      </p:sp>
      <p:sp>
        <p:nvSpPr>
          <p:cNvPr id="18" name="Shape 15"/>
          <p:cNvSpPr/>
          <p:nvPr/>
        </p:nvSpPr>
        <p:spPr>
          <a:xfrm>
            <a:off x="10096500" y="5676900"/>
            <a:ext cx="7048500" cy="990600"/>
          </a:xfrm>
          <a:prstGeom prst="roundRect">
            <a:avLst>
              <a:gd name="adj" fmla="val 23077"/>
            </a:avLst>
          </a:prstGeom>
          <a:solidFill>
            <a:srgbClr val="FFFFFF"/>
          </a:solidFill>
          <a:ln>
            <a:solidFill>
              <a:schemeClr val="bg2"/>
            </a:solidFill>
          </a:ln>
        </p:spPr>
        <p:txBody>
          <a:bodyPr/>
          <a:lstStyle/>
          <a:p>
            <a:endParaRPr lang="es-CO" noProof="0" dirty="0"/>
          </a:p>
        </p:txBody>
      </p:sp>
      <p:sp>
        <p:nvSpPr>
          <p:cNvPr id="19" name="Text 16"/>
          <p:cNvSpPr/>
          <p:nvPr/>
        </p:nvSpPr>
        <p:spPr>
          <a:xfrm>
            <a:off x="10401300" y="6019800"/>
            <a:ext cx="2521367" cy="342900"/>
          </a:xfrm>
          <a:prstGeom prst="rect">
            <a:avLst/>
          </a:prstGeom>
          <a:noFill/>
          <a:ln/>
        </p:spPr>
        <p:txBody>
          <a:bodyPr wrap="square" lIns="25400" tIns="25400" rIns="25400" bIns="25400" rtlCol="0" anchor="t">
            <a:normAutofit fontScale="77500" lnSpcReduction="20000"/>
          </a:bodyPr>
          <a:lstStyle/>
          <a:p>
            <a:pPr marL="0" indent="0" algn="l">
              <a:buNone/>
            </a:pPr>
            <a:r>
              <a:rPr lang="es-CO" sz="1800" noProof="0" dirty="0">
                <a:solidFill>
                  <a:srgbClr val="7E2C8C"/>
                </a:solidFill>
                <a:latin typeface="Segoe UI" pitchFamily="34" charset="0"/>
                <a:ea typeface="Segoe UI" pitchFamily="34" charset="-122"/>
                <a:cs typeface="Segoe UI" pitchFamily="34" charset="-120"/>
              </a:rPr>
              <a:t>Mejora del CART sobre la MLR</a:t>
            </a:r>
            <a:endParaRPr lang="es-CO" sz="1800" noProof="0" dirty="0"/>
          </a:p>
        </p:txBody>
      </p:sp>
      <p:sp>
        <p:nvSpPr>
          <p:cNvPr id="20" name="Text 17"/>
          <p:cNvSpPr/>
          <p:nvPr/>
        </p:nvSpPr>
        <p:spPr>
          <a:xfrm>
            <a:off x="16009739" y="5943600"/>
            <a:ext cx="906661" cy="495300"/>
          </a:xfrm>
          <a:prstGeom prst="rect">
            <a:avLst/>
          </a:prstGeom>
          <a:noFill/>
          <a:ln/>
        </p:spPr>
        <p:txBody>
          <a:bodyPr wrap="square" lIns="25400" tIns="25400" rIns="25400" bIns="25400" rtlCol="0" anchor="t">
            <a:normAutofit fontScale="77500" lnSpcReduction="20000"/>
          </a:bodyPr>
          <a:lstStyle/>
          <a:p>
            <a:pPr marL="0" indent="0" algn="l">
              <a:buNone/>
            </a:pPr>
            <a:r>
              <a:rPr lang="es-CO" sz="2700" b="1" noProof="0" dirty="0">
                <a:solidFill>
                  <a:srgbClr val="3D3D3D"/>
                </a:solidFill>
                <a:latin typeface="Segoe UI" pitchFamily="34" charset="0"/>
                <a:ea typeface="Segoe UI" pitchFamily="34" charset="-122"/>
                <a:cs typeface="Segoe UI" pitchFamily="34" charset="-120"/>
              </a:rPr>
              <a:t>+6,7%</a:t>
            </a:r>
            <a:endParaRPr lang="es-CO" sz="2700" noProof="0" dirty="0"/>
          </a:p>
        </p:txBody>
      </p:sp>
      <p:sp>
        <p:nvSpPr>
          <p:cNvPr id="21" name="Text 18"/>
          <p:cNvSpPr/>
          <p:nvPr/>
        </p:nvSpPr>
        <p:spPr>
          <a:xfrm>
            <a:off x="1143000" y="9525000"/>
            <a:ext cx="5412720" cy="266700"/>
          </a:xfrm>
          <a:prstGeom prst="rect">
            <a:avLst/>
          </a:prstGeom>
          <a:noFill/>
          <a:ln/>
        </p:spPr>
        <p:txBody>
          <a:bodyPr wrap="square" lIns="25400" tIns="25400" rIns="25400" bIns="25400" rtlCol="0" anchor="t">
            <a:normAutofit/>
          </a:bodyPr>
          <a:lstStyle/>
          <a:p>
            <a:pPr marL="0" indent="0" algn="l">
              <a:buNone/>
            </a:pPr>
            <a:r>
              <a:rPr lang="es-CO" sz="1350" noProof="0" dirty="0">
                <a:solidFill>
                  <a:srgbClr val="6F6F6F"/>
                </a:solidFill>
                <a:latin typeface="Segoe UI" pitchFamily="34" charset="0"/>
                <a:ea typeface="Segoe UI" pitchFamily="34" charset="-122"/>
                <a:cs typeface="Segoe UI" pitchFamily="34" charset="-120"/>
              </a:rPr>
              <a:t>UTS · Cartilla de aprendizaje — Gestión Inteligente de Inventarios</a:t>
            </a:r>
            <a:endParaRPr lang="es-CO" sz="1350" noProof="0" dirty="0"/>
          </a:p>
        </p:txBody>
      </p:sp>
      <p:sp>
        <p:nvSpPr>
          <p:cNvPr id="22" name="Shape 19"/>
          <p:cNvSpPr/>
          <p:nvPr/>
        </p:nvSpPr>
        <p:spPr>
          <a:xfrm>
            <a:off x="16725900" y="9410700"/>
            <a:ext cx="419100" cy="419100"/>
          </a:xfrm>
          <a:prstGeom prst="ellipse">
            <a:avLst/>
          </a:prstGeom>
          <a:solidFill>
            <a:srgbClr val="7E2C8C"/>
          </a:solidFill>
          <a:ln/>
        </p:spPr>
        <p:txBody>
          <a:bodyPr/>
          <a:lstStyle/>
          <a:p>
            <a:endParaRPr lang="es-CO" noProof="0" dirty="0"/>
          </a:p>
        </p:txBody>
      </p:sp>
      <p:sp>
        <p:nvSpPr>
          <p:cNvPr id="23" name="Text 20"/>
          <p:cNvSpPr/>
          <p:nvPr/>
        </p:nvSpPr>
        <p:spPr>
          <a:xfrm>
            <a:off x="16687800" y="9410700"/>
            <a:ext cx="495300" cy="457200"/>
          </a:xfrm>
          <a:prstGeom prst="rect">
            <a:avLst/>
          </a:prstGeom>
          <a:noFill/>
          <a:ln/>
        </p:spPr>
        <p:txBody>
          <a:bodyPr wrap="square" lIns="25400" tIns="25400" rIns="25400" bIns="25400" rtlCol="0" anchor="ctr">
            <a:normAutofit/>
          </a:bodyPr>
          <a:lstStyle/>
          <a:p>
            <a:pPr marL="0" indent="0" algn="ctr">
              <a:buNone/>
            </a:pPr>
            <a:r>
              <a:rPr lang="es-CO" sz="1500" b="1" noProof="0" dirty="0">
                <a:solidFill>
                  <a:srgbClr val="FFFFFF"/>
                </a:solidFill>
                <a:latin typeface="Segoe UI" pitchFamily="34" charset="0"/>
                <a:cs typeface="Segoe UI" pitchFamily="34" charset="-120"/>
              </a:rPr>
              <a:t>26</a:t>
            </a:r>
            <a:endParaRPr lang="es-CO" sz="1500" noProof="0" dirty="0"/>
          </a:p>
        </p:txBody>
      </p:sp>
      <p:sp>
        <p:nvSpPr>
          <p:cNvPr id="25" name="Shape 0">
            <a:extLst>
              <a:ext uri="{FF2B5EF4-FFF2-40B4-BE49-F238E27FC236}">
                <a16:creationId xmlns:a16="http://schemas.microsoft.com/office/drawing/2014/main" id="{F17827D3-9D52-31D4-715E-6526B49A90BD}"/>
              </a:ext>
            </a:extLst>
          </p:cNvPr>
          <p:cNvSpPr/>
          <p:nvPr/>
        </p:nvSpPr>
        <p:spPr>
          <a:xfrm>
            <a:off x="1143000" y="838200"/>
            <a:ext cx="5592652" cy="419100"/>
          </a:xfrm>
          <a:prstGeom prst="roundRect">
            <a:avLst>
              <a:gd name="adj" fmla="val 50000"/>
            </a:avLst>
          </a:prstGeom>
          <a:solidFill>
            <a:srgbClr val="F4FADF"/>
          </a:solidFill>
          <a:ln/>
        </p:spPr>
        <p:txBody>
          <a:bodyPr/>
          <a:lstStyle/>
          <a:p>
            <a:endParaRPr lang="es-CO" noProof="0" dirty="0"/>
          </a:p>
        </p:txBody>
      </p:sp>
      <p:sp>
        <p:nvSpPr>
          <p:cNvPr id="27" name="Text 1">
            <a:extLst>
              <a:ext uri="{FF2B5EF4-FFF2-40B4-BE49-F238E27FC236}">
                <a16:creationId xmlns:a16="http://schemas.microsoft.com/office/drawing/2014/main" id="{A602E443-4FA1-FA87-B7F0-20985B6F4E72}"/>
              </a:ext>
            </a:extLst>
          </p:cNvPr>
          <p:cNvSpPr/>
          <p:nvPr/>
        </p:nvSpPr>
        <p:spPr>
          <a:xfrm>
            <a:off x="1352550" y="933450"/>
            <a:ext cx="5383101" cy="266700"/>
          </a:xfrm>
          <a:prstGeom prst="rect">
            <a:avLst/>
          </a:prstGeom>
          <a:noFill/>
          <a:ln/>
        </p:spPr>
        <p:txBody>
          <a:bodyPr wrap="square" lIns="25400" tIns="25400" rIns="25400" bIns="25400" rtlCol="0" anchor="ctr">
            <a:normAutofit/>
          </a:bodyPr>
          <a:lstStyle/>
          <a:p>
            <a:pPr marL="0" indent="0" algn="l">
              <a:buNone/>
            </a:pPr>
            <a:r>
              <a:rPr lang="es-CO" sz="1350" b="1" kern="0" spc="81" noProof="0" dirty="0">
                <a:solidFill>
                  <a:srgbClr val="7E2C8C"/>
                </a:solidFill>
                <a:latin typeface="Segoe UI" pitchFamily="34" charset="0"/>
                <a:ea typeface="Segoe UI" pitchFamily="34" charset="-122"/>
                <a:cs typeface="Segoe UI" pitchFamily="34" charset="-120"/>
              </a:rPr>
              <a:t>FASE 5 · MODELADO PREDICTIVO Y COMPARACIÓN  </a:t>
            </a:r>
            <a:endParaRPr lang="es-CO" sz="1350" noProof="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1143000" y="1619250"/>
            <a:ext cx="14668500" cy="698500"/>
          </a:xfrm>
          <a:prstGeom prst="rect">
            <a:avLst/>
          </a:prstGeom>
          <a:noFill/>
          <a:ln/>
        </p:spPr>
        <p:txBody>
          <a:bodyPr wrap="square" lIns="25400" tIns="25400" rIns="25400" bIns="25400" rtlCol="0" anchor="t">
            <a:normAutofit/>
          </a:bodyPr>
          <a:lstStyle/>
          <a:p>
            <a:pPr marL="0" indent="0" algn="l">
              <a:buNone/>
            </a:pPr>
            <a:r>
              <a:rPr lang="es-CO" sz="3900" b="1" noProof="0" dirty="0">
                <a:solidFill>
                  <a:srgbClr val="3D3D3D"/>
                </a:solidFill>
                <a:latin typeface="Segoe UI" pitchFamily="34" charset="0"/>
                <a:ea typeface="Segoe UI" pitchFamily="34" charset="-122"/>
                <a:cs typeface="Segoe UI" pitchFamily="34" charset="-120"/>
              </a:rPr>
              <a:t>Comparación de modelos predictivos</a:t>
            </a:r>
            <a:endParaRPr lang="es-CO" sz="3900" noProof="0" dirty="0"/>
          </a:p>
        </p:txBody>
      </p:sp>
      <p:sp>
        <p:nvSpPr>
          <p:cNvPr id="5" name="Shape 3"/>
          <p:cNvSpPr/>
          <p:nvPr/>
        </p:nvSpPr>
        <p:spPr>
          <a:xfrm>
            <a:off x="1136822" y="3045536"/>
            <a:ext cx="7291316" cy="4991762"/>
          </a:xfrm>
          <a:prstGeom prst="roundRect">
            <a:avLst>
              <a:gd name="adj" fmla="val 11594"/>
            </a:avLst>
          </a:prstGeom>
          <a:solidFill>
            <a:srgbClr val="F4FADF"/>
          </a:solidFill>
          <a:ln/>
        </p:spPr>
        <p:txBody>
          <a:bodyPr/>
          <a:lstStyle/>
          <a:p>
            <a:endParaRPr lang="es-CO" noProof="0" dirty="0"/>
          </a:p>
        </p:txBody>
      </p:sp>
      <p:sp>
        <p:nvSpPr>
          <p:cNvPr id="6" name="Text 4"/>
          <p:cNvSpPr/>
          <p:nvPr/>
        </p:nvSpPr>
        <p:spPr>
          <a:xfrm>
            <a:off x="1661744" y="3800807"/>
            <a:ext cx="8382000" cy="419100"/>
          </a:xfrm>
          <a:prstGeom prst="rect">
            <a:avLst/>
          </a:prstGeom>
          <a:noFill/>
          <a:ln/>
        </p:spPr>
        <p:txBody>
          <a:bodyPr wrap="square" lIns="25400" tIns="25400" rIns="25400" bIns="25400" rtlCol="0" anchor="t">
            <a:normAutofit/>
          </a:bodyPr>
          <a:lstStyle/>
          <a:p>
            <a:pPr marL="0" indent="0" algn="l">
              <a:buNone/>
            </a:pPr>
            <a:r>
              <a:rPr lang="es-CO" sz="2250" b="1" noProof="0" dirty="0">
                <a:solidFill>
                  <a:srgbClr val="7E2C8C"/>
                </a:solidFill>
                <a:latin typeface="Segoe UI" pitchFamily="34" charset="0"/>
                <a:ea typeface="Segoe UI" pitchFamily="34" charset="-122"/>
                <a:cs typeface="Segoe UI" pitchFamily="34" charset="-120"/>
              </a:rPr>
              <a:t>Regresión lineal múltiple (MLR)</a:t>
            </a:r>
            <a:endParaRPr lang="es-CO" sz="2250" noProof="0" dirty="0"/>
          </a:p>
        </p:txBody>
      </p:sp>
      <p:sp>
        <p:nvSpPr>
          <p:cNvPr id="7" name="Shape 5"/>
          <p:cNvSpPr/>
          <p:nvPr/>
        </p:nvSpPr>
        <p:spPr>
          <a:xfrm>
            <a:off x="1584858" y="4855428"/>
            <a:ext cx="133350" cy="133350"/>
          </a:xfrm>
          <a:prstGeom prst="roundRect">
            <a:avLst>
              <a:gd name="adj" fmla="val 28571"/>
            </a:avLst>
          </a:prstGeom>
          <a:solidFill>
            <a:srgbClr val="B7D81A"/>
          </a:solidFill>
          <a:ln/>
        </p:spPr>
        <p:txBody>
          <a:bodyPr/>
          <a:lstStyle/>
          <a:p>
            <a:endParaRPr lang="es-CO" noProof="0" dirty="0"/>
          </a:p>
        </p:txBody>
      </p:sp>
      <p:sp>
        <p:nvSpPr>
          <p:cNvPr id="8" name="Text 6"/>
          <p:cNvSpPr/>
          <p:nvPr/>
        </p:nvSpPr>
        <p:spPr>
          <a:xfrm>
            <a:off x="1927097" y="4750653"/>
            <a:ext cx="5597932" cy="342900"/>
          </a:xfrm>
          <a:prstGeom prst="rect">
            <a:avLst/>
          </a:prstGeom>
          <a:noFill/>
          <a:ln/>
        </p:spPr>
        <p:txBody>
          <a:bodyPr wrap="square" lIns="25400" tIns="25400" rIns="25400" bIns="25400" rtlCol="0" anchor="t">
            <a:normAutofit fontScale="92500"/>
          </a:bodyPr>
          <a:lstStyle/>
          <a:p>
            <a:pPr marL="0" indent="0" algn="l">
              <a:buNone/>
            </a:pPr>
            <a:r>
              <a:rPr lang="es-CO" sz="1800" noProof="0" dirty="0">
                <a:solidFill>
                  <a:srgbClr val="3D3D3D"/>
                </a:solidFill>
                <a:latin typeface="Segoe UI" pitchFamily="34" charset="0"/>
                <a:ea typeface="Segoe UI" pitchFamily="34" charset="-122"/>
                <a:cs typeface="Segoe UI" pitchFamily="34" charset="-120"/>
              </a:rPr>
              <a:t>Modelo estadístico paramétrico y de alta interpretabilidad</a:t>
            </a:r>
            <a:endParaRPr lang="es-CO" sz="1800" noProof="0" dirty="0"/>
          </a:p>
        </p:txBody>
      </p:sp>
      <p:sp>
        <p:nvSpPr>
          <p:cNvPr id="9" name="Shape 7"/>
          <p:cNvSpPr/>
          <p:nvPr/>
        </p:nvSpPr>
        <p:spPr>
          <a:xfrm>
            <a:off x="1584858" y="5541416"/>
            <a:ext cx="133350" cy="133350"/>
          </a:xfrm>
          <a:prstGeom prst="roundRect">
            <a:avLst>
              <a:gd name="adj" fmla="val 28571"/>
            </a:avLst>
          </a:prstGeom>
          <a:solidFill>
            <a:srgbClr val="B7D81A"/>
          </a:solidFill>
          <a:ln/>
        </p:spPr>
        <p:txBody>
          <a:bodyPr/>
          <a:lstStyle/>
          <a:p>
            <a:endParaRPr lang="es-CO" noProof="0" dirty="0"/>
          </a:p>
        </p:txBody>
      </p:sp>
      <p:sp>
        <p:nvSpPr>
          <p:cNvPr id="10" name="Text 8"/>
          <p:cNvSpPr/>
          <p:nvPr/>
        </p:nvSpPr>
        <p:spPr>
          <a:xfrm>
            <a:off x="2005445" y="5432756"/>
            <a:ext cx="5436622" cy="342900"/>
          </a:xfrm>
          <a:prstGeom prst="rect">
            <a:avLst/>
          </a:prstGeom>
          <a:noFill/>
          <a:ln/>
        </p:spPr>
        <p:txBody>
          <a:bodyPr wrap="square" lIns="25400" tIns="25400" rIns="25400" bIns="25400" rtlCol="0" anchor="t">
            <a:normAutofit/>
          </a:bodyPr>
          <a:lstStyle/>
          <a:p>
            <a:pPr marL="0" indent="0" algn="l">
              <a:buNone/>
            </a:pPr>
            <a:r>
              <a:rPr lang="es-CO" sz="1800" noProof="0" dirty="0">
                <a:solidFill>
                  <a:srgbClr val="3D3D3D"/>
                </a:solidFill>
                <a:latin typeface="Segoe UI" pitchFamily="34" charset="0"/>
                <a:ea typeface="Segoe UI" pitchFamily="34" charset="-122"/>
                <a:cs typeface="Segoe UI" pitchFamily="34" charset="-120"/>
              </a:rPr>
              <a:t>Asume linealidad; produce una salida continua</a:t>
            </a:r>
            <a:endParaRPr lang="es-CO" sz="1800" noProof="0" dirty="0"/>
          </a:p>
        </p:txBody>
      </p:sp>
      <p:sp>
        <p:nvSpPr>
          <p:cNvPr id="11" name="Shape 9"/>
          <p:cNvSpPr/>
          <p:nvPr/>
        </p:nvSpPr>
        <p:spPr>
          <a:xfrm>
            <a:off x="1595069" y="6137606"/>
            <a:ext cx="133350" cy="133350"/>
          </a:xfrm>
          <a:prstGeom prst="roundRect">
            <a:avLst>
              <a:gd name="adj" fmla="val 28571"/>
            </a:avLst>
          </a:prstGeom>
          <a:solidFill>
            <a:srgbClr val="B7D81A"/>
          </a:solidFill>
          <a:ln/>
        </p:spPr>
        <p:txBody>
          <a:bodyPr/>
          <a:lstStyle/>
          <a:p>
            <a:endParaRPr lang="es-CO" noProof="0" dirty="0"/>
          </a:p>
        </p:txBody>
      </p:sp>
      <p:sp>
        <p:nvSpPr>
          <p:cNvPr id="12" name="Text 10"/>
          <p:cNvSpPr/>
          <p:nvPr/>
        </p:nvSpPr>
        <p:spPr>
          <a:xfrm>
            <a:off x="2058124" y="6008143"/>
            <a:ext cx="4291846" cy="342900"/>
          </a:xfrm>
          <a:prstGeom prst="rect">
            <a:avLst/>
          </a:prstGeom>
          <a:noFill/>
          <a:ln/>
        </p:spPr>
        <p:txBody>
          <a:bodyPr wrap="square" lIns="25400" tIns="25400" rIns="25400" bIns="25400" rtlCol="0" anchor="t">
            <a:normAutofit/>
          </a:bodyPr>
          <a:lstStyle/>
          <a:p>
            <a:pPr marL="0" indent="0" algn="l">
              <a:buNone/>
            </a:pPr>
            <a:r>
              <a:rPr lang="es-CO" sz="1800" noProof="0" dirty="0">
                <a:solidFill>
                  <a:srgbClr val="3D3D3D"/>
                </a:solidFill>
                <a:latin typeface="Segoe UI" pitchFamily="34" charset="0"/>
                <a:ea typeface="Segoe UI" pitchFamily="34" charset="-122"/>
                <a:cs typeface="Segoe UI" pitchFamily="34" charset="-120"/>
              </a:rPr>
              <a:t>Implementado con lm() de R base</a:t>
            </a:r>
            <a:endParaRPr lang="es-CO" sz="1800" noProof="0" dirty="0"/>
          </a:p>
        </p:txBody>
      </p:sp>
      <p:sp>
        <p:nvSpPr>
          <p:cNvPr id="13" name="Shape 11"/>
          <p:cNvSpPr/>
          <p:nvPr/>
        </p:nvSpPr>
        <p:spPr>
          <a:xfrm>
            <a:off x="9522829" y="3045535"/>
            <a:ext cx="7291316" cy="4991762"/>
          </a:xfrm>
          <a:prstGeom prst="roundRect">
            <a:avLst>
              <a:gd name="adj" fmla="val 11594"/>
            </a:avLst>
          </a:prstGeom>
          <a:solidFill>
            <a:srgbClr val="3D3D3D"/>
          </a:solidFill>
          <a:ln/>
        </p:spPr>
        <p:txBody>
          <a:bodyPr/>
          <a:lstStyle/>
          <a:p>
            <a:endParaRPr lang="es-CO" noProof="0" dirty="0"/>
          </a:p>
        </p:txBody>
      </p:sp>
      <p:sp>
        <p:nvSpPr>
          <p:cNvPr id="14" name="Text 12"/>
          <p:cNvSpPr/>
          <p:nvPr/>
        </p:nvSpPr>
        <p:spPr>
          <a:xfrm>
            <a:off x="9944100" y="3657600"/>
            <a:ext cx="8382000" cy="419100"/>
          </a:xfrm>
          <a:prstGeom prst="rect">
            <a:avLst/>
          </a:prstGeom>
          <a:noFill/>
          <a:ln/>
        </p:spPr>
        <p:txBody>
          <a:bodyPr wrap="square" lIns="25400" tIns="25400" rIns="25400" bIns="25400" rtlCol="0" anchor="t">
            <a:normAutofit/>
          </a:bodyPr>
          <a:lstStyle/>
          <a:p>
            <a:pPr marL="0" indent="0" algn="l">
              <a:buNone/>
            </a:pPr>
            <a:r>
              <a:rPr lang="es-CO" sz="2250" b="1" noProof="0" dirty="0">
                <a:solidFill>
                  <a:srgbClr val="DDF28A"/>
                </a:solidFill>
                <a:latin typeface="Segoe UI" pitchFamily="34" charset="0"/>
                <a:ea typeface="Segoe UI" pitchFamily="34" charset="-122"/>
                <a:cs typeface="Segoe UI" pitchFamily="34" charset="-120"/>
              </a:rPr>
              <a:t>Árbol de decisión — CART</a:t>
            </a:r>
            <a:endParaRPr lang="es-CO" sz="2250" noProof="0" dirty="0"/>
          </a:p>
        </p:txBody>
      </p:sp>
      <p:sp>
        <p:nvSpPr>
          <p:cNvPr id="15" name="Shape 13"/>
          <p:cNvSpPr/>
          <p:nvPr/>
        </p:nvSpPr>
        <p:spPr>
          <a:xfrm>
            <a:off x="10052778" y="4675708"/>
            <a:ext cx="133350" cy="133350"/>
          </a:xfrm>
          <a:prstGeom prst="roundRect">
            <a:avLst>
              <a:gd name="adj" fmla="val 28571"/>
            </a:avLst>
          </a:prstGeom>
          <a:solidFill>
            <a:srgbClr val="A867B5"/>
          </a:solidFill>
          <a:ln/>
        </p:spPr>
        <p:txBody>
          <a:bodyPr/>
          <a:lstStyle/>
          <a:p>
            <a:endParaRPr lang="es-CO" noProof="0" dirty="0"/>
          </a:p>
        </p:txBody>
      </p:sp>
      <p:sp>
        <p:nvSpPr>
          <p:cNvPr id="16" name="Text 14"/>
          <p:cNvSpPr/>
          <p:nvPr/>
        </p:nvSpPr>
        <p:spPr>
          <a:xfrm>
            <a:off x="10461862" y="4545888"/>
            <a:ext cx="4687153" cy="533400"/>
          </a:xfrm>
          <a:prstGeom prst="rect">
            <a:avLst/>
          </a:prstGeom>
          <a:noFill/>
          <a:ln/>
        </p:spPr>
        <p:txBody>
          <a:bodyPr wrap="square" lIns="25400" tIns="25400" rIns="25400" bIns="25400" rtlCol="0" anchor="t">
            <a:normAutofit fontScale="92500" lnSpcReduction="10000"/>
          </a:bodyPr>
          <a:lstStyle/>
          <a:p>
            <a:pPr marL="0" indent="0" algn="l">
              <a:buNone/>
            </a:pPr>
            <a:r>
              <a:rPr lang="es-CO" sz="1800" noProof="0" dirty="0">
                <a:solidFill>
                  <a:srgbClr val="FFFFFF"/>
                </a:solidFill>
                <a:latin typeface="Segoe UI" pitchFamily="34" charset="0"/>
                <a:ea typeface="Segoe UI" pitchFamily="34" charset="-122"/>
                <a:cs typeface="Segoe UI" pitchFamily="34" charset="-120"/>
              </a:rPr>
              <a:t>Algoritmo de aprendizaje automático no paramétrico</a:t>
            </a:r>
            <a:endParaRPr lang="es-CO" sz="1800" noProof="0" dirty="0"/>
          </a:p>
        </p:txBody>
      </p:sp>
      <p:sp>
        <p:nvSpPr>
          <p:cNvPr id="17" name="Shape 15"/>
          <p:cNvSpPr/>
          <p:nvPr/>
        </p:nvSpPr>
        <p:spPr>
          <a:xfrm>
            <a:off x="10062794" y="5408066"/>
            <a:ext cx="133350" cy="133350"/>
          </a:xfrm>
          <a:prstGeom prst="roundRect">
            <a:avLst>
              <a:gd name="adj" fmla="val 28571"/>
            </a:avLst>
          </a:prstGeom>
          <a:solidFill>
            <a:srgbClr val="A867B5"/>
          </a:solidFill>
          <a:ln/>
        </p:spPr>
        <p:txBody>
          <a:bodyPr/>
          <a:lstStyle/>
          <a:p>
            <a:endParaRPr lang="es-CO" noProof="0" dirty="0"/>
          </a:p>
        </p:txBody>
      </p:sp>
      <p:sp>
        <p:nvSpPr>
          <p:cNvPr id="18" name="Text 16"/>
          <p:cNvSpPr/>
          <p:nvPr/>
        </p:nvSpPr>
        <p:spPr>
          <a:xfrm>
            <a:off x="10461862" y="5272963"/>
            <a:ext cx="5784015" cy="536906"/>
          </a:xfrm>
          <a:prstGeom prst="rect">
            <a:avLst/>
          </a:prstGeom>
          <a:noFill/>
          <a:ln/>
        </p:spPr>
        <p:txBody>
          <a:bodyPr wrap="square" lIns="25400" tIns="25400" rIns="25400" bIns="25400" rtlCol="0" anchor="t">
            <a:normAutofit fontScale="92500" lnSpcReduction="10000"/>
          </a:bodyPr>
          <a:lstStyle/>
          <a:p>
            <a:pPr marL="0" indent="0" algn="l">
              <a:buNone/>
            </a:pPr>
            <a:r>
              <a:rPr lang="es-CO" sz="1800" noProof="0" dirty="0">
                <a:solidFill>
                  <a:srgbClr val="FFFFFF"/>
                </a:solidFill>
                <a:latin typeface="Segoe UI" pitchFamily="34" charset="0"/>
                <a:ea typeface="Segoe UI" pitchFamily="34" charset="-122"/>
                <a:cs typeface="Segoe UI" pitchFamily="34" charset="-120"/>
              </a:rPr>
              <a:t>Capta relaciones no lineales; no exige supuestos distribucionales</a:t>
            </a:r>
            <a:endParaRPr lang="es-CO" sz="1800" noProof="0" dirty="0"/>
          </a:p>
        </p:txBody>
      </p:sp>
      <p:sp>
        <p:nvSpPr>
          <p:cNvPr id="19" name="Shape 17"/>
          <p:cNvSpPr/>
          <p:nvPr/>
        </p:nvSpPr>
        <p:spPr>
          <a:xfrm>
            <a:off x="10062794" y="6012193"/>
            <a:ext cx="133350" cy="133350"/>
          </a:xfrm>
          <a:prstGeom prst="roundRect">
            <a:avLst>
              <a:gd name="adj" fmla="val 28571"/>
            </a:avLst>
          </a:prstGeom>
          <a:solidFill>
            <a:srgbClr val="A867B5"/>
          </a:solidFill>
          <a:ln/>
        </p:spPr>
        <p:txBody>
          <a:bodyPr/>
          <a:lstStyle/>
          <a:p>
            <a:endParaRPr lang="es-CO" noProof="0" dirty="0"/>
          </a:p>
        </p:txBody>
      </p:sp>
      <p:sp>
        <p:nvSpPr>
          <p:cNvPr id="20" name="Text 18"/>
          <p:cNvSpPr/>
          <p:nvPr/>
        </p:nvSpPr>
        <p:spPr>
          <a:xfrm>
            <a:off x="10461862" y="5904078"/>
            <a:ext cx="4455141" cy="1000456"/>
          </a:xfrm>
          <a:prstGeom prst="rect">
            <a:avLst/>
          </a:prstGeom>
          <a:noFill/>
          <a:ln/>
        </p:spPr>
        <p:txBody>
          <a:bodyPr wrap="square" lIns="25400" tIns="25400" rIns="25400" bIns="25400" rtlCol="0" anchor="t">
            <a:normAutofit/>
          </a:bodyPr>
          <a:lstStyle/>
          <a:p>
            <a:pPr marL="0" indent="0" algn="l">
              <a:buNone/>
            </a:pPr>
            <a:r>
              <a:rPr lang="es-CO" sz="1800" noProof="0" dirty="0">
                <a:solidFill>
                  <a:srgbClr val="FFFFFF"/>
                </a:solidFill>
                <a:latin typeface="Segoe UI" pitchFamily="34" charset="0"/>
                <a:ea typeface="Segoe UI" pitchFamily="34" charset="-122"/>
                <a:cs typeface="Segoe UI" pitchFamily="34" charset="-120"/>
              </a:rPr>
              <a:t>Implementado con </a:t>
            </a:r>
            <a:r>
              <a:rPr lang="es-CO" sz="1800" noProof="0" dirty="0" err="1">
                <a:solidFill>
                  <a:srgbClr val="FFFFFF"/>
                </a:solidFill>
                <a:latin typeface="Segoe UI" pitchFamily="34" charset="0"/>
                <a:ea typeface="Segoe UI" pitchFamily="34" charset="-122"/>
                <a:cs typeface="Segoe UI" pitchFamily="34" charset="-120"/>
              </a:rPr>
              <a:t>rpart</a:t>
            </a:r>
            <a:r>
              <a:rPr lang="es-CO" sz="1800" noProof="0" dirty="0">
                <a:solidFill>
                  <a:srgbClr val="FFFFFF"/>
                </a:solidFill>
                <a:latin typeface="Segoe UI" pitchFamily="34" charset="0"/>
                <a:ea typeface="Segoe UI" pitchFamily="34" charset="-122"/>
                <a:cs typeface="Segoe UI" pitchFamily="34" charset="-120"/>
              </a:rPr>
              <a:t>() y poda por validación cruzada</a:t>
            </a:r>
            <a:endParaRPr lang="es-CO" sz="1800" noProof="0" dirty="0"/>
          </a:p>
        </p:txBody>
      </p:sp>
      <p:sp>
        <p:nvSpPr>
          <p:cNvPr id="21" name="Text 19"/>
          <p:cNvSpPr/>
          <p:nvPr/>
        </p:nvSpPr>
        <p:spPr>
          <a:xfrm>
            <a:off x="1143000" y="9525000"/>
            <a:ext cx="5412720" cy="266700"/>
          </a:xfrm>
          <a:prstGeom prst="rect">
            <a:avLst/>
          </a:prstGeom>
          <a:noFill/>
          <a:ln/>
        </p:spPr>
        <p:txBody>
          <a:bodyPr wrap="square" lIns="25400" tIns="25400" rIns="25400" bIns="25400" rtlCol="0" anchor="t">
            <a:normAutofit/>
          </a:bodyPr>
          <a:lstStyle/>
          <a:p>
            <a:pPr marL="0" indent="0" algn="l">
              <a:buNone/>
            </a:pPr>
            <a:r>
              <a:rPr lang="es-CO" sz="1350" noProof="0" dirty="0">
                <a:solidFill>
                  <a:srgbClr val="6F6F6F"/>
                </a:solidFill>
                <a:latin typeface="Segoe UI" pitchFamily="34" charset="0"/>
                <a:ea typeface="Segoe UI" pitchFamily="34" charset="-122"/>
                <a:cs typeface="Segoe UI" pitchFamily="34" charset="-120"/>
              </a:rPr>
              <a:t>UTS · Cartilla de aprendizaje — Gestión Inteligente de Inventarios</a:t>
            </a:r>
            <a:endParaRPr lang="es-CO" sz="1350" noProof="0" dirty="0"/>
          </a:p>
        </p:txBody>
      </p:sp>
      <p:sp>
        <p:nvSpPr>
          <p:cNvPr id="22" name="Shape 20"/>
          <p:cNvSpPr/>
          <p:nvPr/>
        </p:nvSpPr>
        <p:spPr>
          <a:xfrm>
            <a:off x="16725900" y="9410700"/>
            <a:ext cx="419100" cy="419100"/>
          </a:xfrm>
          <a:prstGeom prst="ellipse">
            <a:avLst/>
          </a:prstGeom>
          <a:solidFill>
            <a:srgbClr val="7E2C8C"/>
          </a:solidFill>
          <a:ln/>
        </p:spPr>
        <p:txBody>
          <a:bodyPr/>
          <a:lstStyle/>
          <a:p>
            <a:endParaRPr lang="es-CO" noProof="0" dirty="0"/>
          </a:p>
        </p:txBody>
      </p:sp>
      <p:sp>
        <p:nvSpPr>
          <p:cNvPr id="23" name="Text 21"/>
          <p:cNvSpPr/>
          <p:nvPr/>
        </p:nvSpPr>
        <p:spPr>
          <a:xfrm>
            <a:off x="16687800" y="9410700"/>
            <a:ext cx="495300" cy="457200"/>
          </a:xfrm>
          <a:prstGeom prst="rect">
            <a:avLst/>
          </a:prstGeom>
          <a:noFill/>
          <a:ln/>
        </p:spPr>
        <p:txBody>
          <a:bodyPr wrap="square" lIns="25400" tIns="25400" rIns="25400" bIns="25400" rtlCol="0" anchor="ctr">
            <a:normAutofit/>
          </a:bodyPr>
          <a:lstStyle/>
          <a:p>
            <a:pPr marL="0" indent="0" algn="ctr">
              <a:buNone/>
            </a:pPr>
            <a:r>
              <a:rPr lang="es-CO" sz="1500" b="1" noProof="0" dirty="0">
                <a:solidFill>
                  <a:srgbClr val="FFFFFF"/>
                </a:solidFill>
                <a:latin typeface="Segoe UI" pitchFamily="34" charset="0"/>
                <a:cs typeface="Segoe UI" pitchFamily="34" charset="-120"/>
              </a:rPr>
              <a:t>27</a:t>
            </a:r>
            <a:endParaRPr lang="es-CO" sz="1500" noProof="0" dirty="0"/>
          </a:p>
        </p:txBody>
      </p:sp>
      <p:sp>
        <p:nvSpPr>
          <p:cNvPr id="25" name="Shape 0">
            <a:extLst>
              <a:ext uri="{FF2B5EF4-FFF2-40B4-BE49-F238E27FC236}">
                <a16:creationId xmlns:a16="http://schemas.microsoft.com/office/drawing/2014/main" id="{94C8588B-D58E-5A8A-20BA-78331955C19E}"/>
              </a:ext>
            </a:extLst>
          </p:cNvPr>
          <p:cNvSpPr/>
          <p:nvPr/>
        </p:nvSpPr>
        <p:spPr>
          <a:xfrm>
            <a:off x="1143000" y="838200"/>
            <a:ext cx="5592652" cy="419100"/>
          </a:xfrm>
          <a:prstGeom prst="roundRect">
            <a:avLst>
              <a:gd name="adj" fmla="val 50000"/>
            </a:avLst>
          </a:prstGeom>
          <a:solidFill>
            <a:srgbClr val="F4FADF"/>
          </a:solidFill>
          <a:ln/>
        </p:spPr>
        <p:txBody>
          <a:bodyPr/>
          <a:lstStyle/>
          <a:p>
            <a:endParaRPr lang="es-CO" noProof="0" dirty="0"/>
          </a:p>
        </p:txBody>
      </p:sp>
      <p:sp>
        <p:nvSpPr>
          <p:cNvPr id="27" name="Text 1">
            <a:extLst>
              <a:ext uri="{FF2B5EF4-FFF2-40B4-BE49-F238E27FC236}">
                <a16:creationId xmlns:a16="http://schemas.microsoft.com/office/drawing/2014/main" id="{F659527B-3882-0FDC-9A7D-8C0804B3046E}"/>
              </a:ext>
            </a:extLst>
          </p:cNvPr>
          <p:cNvSpPr/>
          <p:nvPr/>
        </p:nvSpPr>
        <p:spPr>
          <a:xfrm>
            <a:off x="1352550" y="933450"/>
            <a:ext cx="5383101" cy="266700"/>
          </a:xfrm>
          <a:prstGeom prst="rect">
            <a:avLst/>
          </a:prstGeom>
          <a:noFill/>
          <a:ln/>
        </p:spPr>
        <p:txBody>
          <a:bodyPr wrap="square" lIns="25400" tIns="25400" rIns="25400" bIns="25400" rtlCol="0" anchor="ctr">
            <a:normAutofit/>
          </a:bodyPr>
          <a:lstStyle/>
          <a:p>
            <a:pPr marL="0" indent="0" algn="l">
              <a:buNone/>
            </a:pPr>
            <a:r>
              <a:rPr lang="es-CO" sz="1350" b="1" kern="0" spc="81" noProof="0" dirty="0">
                <a:solidFill>
                  <a:srgbClr val="7E2C8C"/>
                </a:solidFill>
                <a:latin typeface="Segoe UI" pitchFamily="34" charset="0"/>
                <a:ea typeface="Segoe UI" pitchFamily="34" charset="-122"/>
                <a:cs typeface="Segoe UI" pitchFamily="34" charset="-120"/>
              </a:rPr>
              <a:t>FASE 5 · MODELADO PREDICTIVO Y COMPARACIÓN  </a:t>
            </a:r>
            <a:endParaRPr lang="es-CO" sz="1350" noProof="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143000" y="838200"/>
            <a:ext cx="3807421" cy="419100"/>
          </a:xfrm>
          <a:prstGeom prst="roundRect">
            <a:avLst>
              <a:gd name="adj" fmla="val 50000"/>
            </a:avLst>
          </a:prstGeom>
          <a:solidFill>
            <a:srgbClr val="F4FADF"/>
          </a:solidFill>
          <a:ln/>
        </p:spPr>
        <p:txBody>
          <a:bodyPr/>
          <a:lstStyle/>
          <a:p>
            <a:endParaRPr lang="es-CO" noProof="0" dirty="0"/>
          </a:p>
        </p:txBody>
      </p:sp>
      <p:sp>
        <p:nvSpPr>
          <p:cNvPr id="3" name="Text 1"/>
          <p:cNvSpPr/>
          <p:nvPr/>
        </p:nvSpPr>
        <p:spPr>
          <a:xfrm>
            <a:off x="1352550" y="933450"/>
            <a:ext cx="3502543" cy="266700"/>
          </a:xfrm>
          <a:prstGeom prst="rect">
            <a:avLst/>
          </a:prstGeom>
          <a:noFill/>
          <a:ln/>
        </p:spPr>
        <p:txBody>
          <a:bodyPr wrap="square" lIns="25400" tIns="25400" rIns="25400" bIns="25400" rtlCol="0" anchor="ctr">
            <a:normAutofit fontScale="70000" lnSpcReduction="20000"/>
          </a:bodyPr>
          <a:lstStyle/>
          <a:p>
            <a:pPr marL="0" indent="0" algn="l">
              <a:buNone/>
            </a:pPr>
            <a:r>
              <a:rPr lang="es-CO" sz="1350" b="1" kern="0" spc="81" noProof="0" dirty="0">
                <a:solidFill>
                  <a:srgbClr val="7E2C8C"/>
                </a:solidFill>
                <a:latin typeface="Segoe UI" pitchFamily="34" charset="0"/>
                <a:ea typeface="Segoe UI" pitchFamily="34" charset="-122"/>
                <a:cs typeface="Segoe UI" pitchFamily="34" charset="-120"/>
              </a:rPr>
              <a:t>FASE 5 · MODELADO PREDICTIVO Y COMPARACIÓN</a:t>
            </a:r>
            <a:endParaRPr lang="es-CO" sz="1350" noProof="0" dirty="0"/>
          </a:p>
        </p:txBody>
      </p:sp>
      <p:sp>
        <p:nvSpPr>
          <p:cNvPr id="4" name="Text 2"/>
          <p:cNvSpPr/>
          <p:nvPr/>
        </p:nvSpPr>
        <p:spPr>
          <a:xfrm>
            <a:off x="1143000" y="1619250"/>
            <a:ext cx="14668500" cy="698500"/>
          </a:xfrm>
          <a:prstGeom prst="rect">
            <a:avLst/>
          </a:prstGeom>
          <a:noFill/>
          <a:ln/>
        </p:spPr>
        <p:txBody>
          <a:bodyPr wrap="square" lIns="25400" tIns="25400" rIns="25400" bIns="25400" rtlCol="0" anchor="t">
            <a:normAutofit/>
          </a:bodyPr>
          <a:lstStyle/>
          <a:p>
            <a:pPr marL="0" indent="0" algn="l">
              <a:buNone/>
            </a:pPr>
            <a:r>
              <a:rPr lang="es-CO" sz="3900" b="1" noProof="0" dirty="0">
                <a:solidFill>
                  <a:srgbClr val="3D3D3D"/>
                </a:solidFill>
                <a:latin typeface="Segoe UI" pitchFamily="34" charset="0"/>
                <a:ea typeface="Segoe UI" pitchFamily="34" charset="-122"/>
                <a:cs typeface="Segoe UI" pitchFamily="34" charset="-120"/>
              </a:rPr>
              <a:t>Evaluación comparativa: MLR Vs CART</a:t>
            </a:r>
            <a:endParaRPr lang="es-CO" sz="3900" noProof="0" dirty="0"/>
          </a:p>
        </p:txBody>
      </p:sp>
      <p:sp>
        <p:nvSpPr>
          <p:cNvPr id="5" name="Shape 3"/>
          <p:cNvSpPr/>
          <p:nvPr/>
        </p:nvSpPr>
        <p:spPr>
          <a:xfrm>
            <a:off x="1143000" y="3238500"/>
            <a:ext cx="16002000" cy="673100"/>
          </a:xfrm>
          <a:prstGeom prst="roundRect">
            <a:avLst>
              <a:gd name="adj" fmla="val 28302"/>
            </a:avLst>
          </a:prstGeom>
          <a:solidFill>
            <a:srgbClr val="7E2C8C"/>
          </a:solidFill>
          <a:ln/>
        </p:spPr>
        <p:txBody>
          <a:bodyPr/>
          <a:lstStyle/>
          <a:p>
            <a:endParaRPr lang="es-CO" noProof="0" dirty="0"/>
          </a:p>
        </p:txBody>
      </p:sp>
      <p:sp>
        <p:nvSpPr>
          <p:cNvPr id="6" name="Text 4"/>
          <p:cNvSpPr/>
          <p:nvPr/>
        </p:nvSpPr>
        <p:spPr>
          <a:xfrm>
            <a:off x="1447800" y="3448050"/>
            <a:ext cx="2447915" cy="292100"/>
          </a:xfrm>
          <a:prstGeom prst="rect">
            <a:avLst/>
          </a:prstGeom>
          <a:noFill/>
          <a:ln/>
        </p:spPr>
        <p:txBody>
          <a:bodyPr wrap="square" lIns="25400" tIns="25400" rIns="25400" bIns="25400" rtlCol="0" anchor="t">
            <a:normAutofit/>
          </a:bodyPr>
          <a:lstStyle/>
          <a:p>
            <a:pPr marL="0" indent="0" algn="l">
              <a:buNone/>
            </a:pPr>
            <a:r>
              <a:rPr lang="es-CO" sz="1500" b="1" noProof="0" dirty="0">
                <a:solidFill>
                  <a:srgbClr val="FFFFFF"/>
                </a:solidFill>
                <a:latin typeface="Segoe UI" pitchFamily="34" charset="0"/>
                <a:ea typeface="Segoe UI" pitchFamily="34" charset="-122"/>
                <a:cs typeface="Segoe UI" pitchFamily="34" charset="-120"/>
              </a:rPr>
              <a:t>Métrica</a:t>
            </a:r>
            <a:endParaRPr lang="es-CO" sz="1500" noProof="0" dirty="0"/>
          </a:p>
        </p:txBody>
      </p:sp>
      <p:sp>
        <p:nvSpPr>
          <p:cNvPr id="7" name="Text 5"/>
          <p:cNvSpPr/>
          <p:nvPr/>
        </p:nvSpPr>
        <p:spPr>
          <a:xfrm>
            <a:off x="3673178" y="3448050"/>
            <a:ext cx="4079895" cy="292100"/>
          </a:xfrm>
          <a:prstGeom prst="rect">
            <a:avLst/>
          </a:prstGeom>
          <a:noFill/>
          <a:ln/>
        </p:spPr>
        <p:txBody>
          <a:bodyPr wrap="square" lIns="25400" tIns="25400" rIns="25400" bIns="25400" rtlCol="0" anchor="t">
            <a:normAutofit/>
          </a:bodyPr>
          <a:lstStyle/>
          <a:p>
            <a:pPr marL="0" indent="0" algn="l">
              <a:buNone/>
            </a:pPr>
            <a:r>
              <a:rPr lang="es-CO" sz="1500" b="1" noProof="0" dirty="0">
                <a:solidFill>
                  <a:srgbClr val="FFFFFF"/>
                </a:solidFill>
                <a:latin typeface="Segoe UI" pitchFamily="34" charset="0"/>
                <a:ea typeface="Segoe UI" pitchFamily="34" charset="-122"/>
                <a:cs typeface="Segoe UI" pitchFamily="34" charset="-120"/>
              </a:rPr>
              <a:t>MLR</a:t>
            </a:r>
            <a:endParaRPr lang="es-CO" sz="1500" noProof="0" dirty="0"/>
          </a:p>
        </p:txBody>
      </p:sp>
      <p:sp>
        <p:nvSpPr>
          <p:cNvPr id="8" name="Text 6"/>
          <p:cNvSpPr/>
          <p:nvPr/>
        </p:nvSpPr>
        <p:spPr>
          <a:xfrm>
            <a:off x="7382173" y="3448050"/>
            <a:ext cx="2855883" cy="292100"/>
          </a:xfrm>
          <a:prstGeom prst="rect">
            <a:avLst/>
          </a:prstGeom>
          <a:noFill/>
          <a:ln/>
        </p:spPr>
        <p:txBody>
          <a:bodyPr wrap="square" lIns="25400" tIns="25400" rIns="25400" bIns="25400" rtlCol="0" anchor="t">
            <a:normAutofit/>
          </a:bodyPr>
          <a:lstStyle/>
          <a:p>
            <a:pPr marL="0" indent="0" algn="l">
              <a:buNone/>
            </a:pPr>
            <a:r>
              <a:rPr lang="es-CO" sz="1500" b="1" noProof="0" dirty="0">
                <a:solidFill>
                  <a:srgbClr val="FFFFFF"/>
                </a:solidFill>
                <a:latin typeface="Segoe UI" pitchFamily="34" charset="0"/>
                <a:ea typeface="Segoe UI" pitchFamily="34" charset="-122"/>
                <a:cs typeface="Segoe UI" pitchFamily="34" charset="-120"/>
              </a:rPr>
              <a:t>CART</a:t>
            </a:r>
            <a:endParaRPr lang="es-CO" sz="1500" noProof="0" dirty="0"/>
          </a:p>
        </p:txBody>
      </p:sp>
      <p:sp>
        <p:nvSpPr>
          <p:cNvPr id="9" name="Text 7"/>
          <p:cNvSpPr/>
          <p:nvPr/>
        </p:nvSpPr>
        <p:spPr>
          <a:xfrm>
            <a:off x="9978430" y="3448050"/>
            <a:ext cx="2652008" cy="292100"/>
          </a:xfrm>
          <a:prstGeom prst="rect">
            <a:avLst/>
          </a:prstGeom>
          <a:noFill/>
          <a:ln/>
        </p:spPr>
        <p:txBody>
          <a:bodyPr wrap="square" lIns="25400" tIns="25400" rIns="25400" bIns="25400" rtlCol="0" anchor="t">
            <a:normAutofit/>
          </a:bodyPr>
          <a:lstStyle/>
          <a:p>
            <a:pPr marL="0" indent="0" algn="l">
              <a:buNone/>
            </a:pPr>
            <a:r>
              <a:rPr lang="es-CO" sz="1500" b="1" noProof="0" dirty="0">
                <a:solidFill>
                  <a:srgbClr val="FFFFFF"/>
                </a:solidFill>
                <a:latin typeface="Segoe UI" pitchFamily="34" charset="0"/>
                <a:ea typeface="Segoe UI" pitchFamily="34" charset="-122"/>
                <a:cs typeface="Segoe UI" pitchFamily="34" charset="-120"/>
              </a:rPr>
              <a:t>Mejora CART</a:t>
            </a:r>
            <a:endParaRPr lang="es-CO" sz="1500" noProof="0" dirty="0"/>
          </a:p>
        </p:txBody>
      </p:sp>
      <p:sp>
        <p:nvSpPr>
          <p:cNvPr id="10" name="Text 8"/>
          <p:cNvSpPr/>
          <p:nvPr/>
        </p:nvSpPr>
        <p:spPr>
          <a:xfrm>
            <a:off x="12389346" y="3448050"/>
            <a:ext cx="2039947" cy="292100"/>
          </a:xfrm>
          <a:prstGeom prst="rect">
            <a:avLst/>
          </a:prstGeom>
          <a:noFill/>
          <a:ln/>
        </p:spPr>
        <p:txBody>
          <a:bodyPr wrap="square" lIns="25400" tIns="25400" rIns="25400" bIns="25400" rtlCol="0" anchor="t">
            <a:normAutofit/>
          </a:bodyPr>
          <a:lstStyle/>
          <a:p>
            <a:pPr marL="0" indent="0" algn="l">
              <a:buNone/>
            </a:pPr>
            <a:endParaRPr lang="es-CO" sz="1500" noProof="0" dirty="0"/>
          </a:p>
        </p:txBody>
      </p:sp>
      <p:sp>
        <p:nvSpPr>
          <p:cNvPr id="11" name="Text 9"/>
          <p:cNvSpPr/>
          <p:nvPr/>
        </p:nvSpPr>
        <p:spPr>
          <a:xfrm>
            <a:off x="14243845" y="3448050"/>
            <a:ext cx="2855992" cy="292100"/>
          </a:xfrm>
          <a:prstGeom prst="rect">
            <a:avLst/>
          </a:prstGeom>
          <a:noFill/>
          <a:ln/>
        </p:spPr>
        <p:txBody>
          <a:bodyPr wrap="square" lIns="25400" tIns="25400" rIns="25400" bIns="25400" rtlCol="0" anchor="t">
            <a:normAutofit/>
          </a:bodyPr>
          <a:lstStyle/>
          <a:p>
            <a:pPr marL="0" indent="0" algn="l">
              <a:buNone/>
            </a:pPr>
            <a:endParaRPr lang="es-CO" sz="1500" noProof="0" dirty="0"/>
          </a:p>
        </p:txBody>
      </p:sp>
      <p:sp>
        <p:nvSpPr>
          <p:cNvPr id="12" name="Shape 10"/>
          <p:cNvSpPr/>
          <p:nvPr/>
        </p:nvSpPr>
        <p:spPr>
          <a:xfrm>
            <a:off x="1143000" y="3911600"/>
            <a:ext cx="16002000" cy="635000"/>
          </a:xfrm>
          <a:prstGeom prst="rect">
            <a:avLst/>
          </a:prstGeom>
          <a:solidFill>
            <a:srgbClr val="F4FADF"/>
          </a:solidFill>
          <a:ln/>
        </p:spPr>
        <p:txBody>
          <a:bodyPr/>
          <a:lstStyle/>
          <a:p>
            <a:endParaRPr lang="es-CO" noProof="0" dirty="0"/>
          </a:p>
        </p:txBody>
      </p:sp>
      <p:sp>
        <p:nvSpPr>
          <p:cNvPr id="13" name="Text 11"/>
          <p:cNvSpPr/>
          <p:nvPr/>
        </p:nvSpPr>
        <p:spPr>
          <a:xfrm>
            <a:off x="1447800" y="4102100"/>
            <a:ext cx="2447915" cy="292100"/>
          </a:xfrm>
          <a:prstGeom prst="rect">
            <a:avLst/>
          </a:prstGeom>
          <a:noFill/>
          <a:ln/>
        </p:spPr>
        <p:txBody>
          <a:bodyPr wrap="square" lIns="25400" tIns="25400" rIns="25400" bIns="25400" rtlCol="0" anchor="t">
            <a:normAutofit/>
          </a:bodyPr>
          <a:lstStyle/>
          <a:p>
            <a:pPr marL="0" indent="0" algn="l">
              <a:buNone/>
            </a:pPr>
            <a:r>
              <a:rPr lang="es-CO" sz="1500" noProof="0" dirty="0">
                <a:solidFill>
                  <a:srgbClr val="3D3D3D"/>
                </a:solidFill>
                <a:latin typeface="Segoe UI" pitchFamily="34" charset="0"/>
                <a:ea typeface="Segoe UI" pitchFamily="34" charset="-122"/>
                <a:cs typeface="Segoe UI" pitchFamily="34" charset="-120"/>
              </a:rPr>
              <a:t>MAE (global)</a:t>
            </a:r>
            <a:endParaRPr lang="es-CO" sz="1500" noProof="0" dirty="0"/>
          </a:p>
        </p:txBody>
      </p:sp>
      <p:sp>
        <p:nvSpPr>
          <p:cNvPr id="14" name="Text 12"/>
          <p:cNvSpPr/>
          <p:nvPr/>
        </p:nvSpPr>
        <p:spPr>
          <a:xfrm>
            <a:off x="3673178" y="4102100"/>
            <a:ext cx="4079895" cy="292100"/>
          </a:xfrm>
          <a:prstGeom prst="rect">
            <a:avLst/>
          </a:prstGeom>
          <a:noFill/>
          <a:ln/>
        </p:spPr>
        <p:txBody>
          <a:bodyPr wrap="square" lIns="25400" tIns="25400" rIns="25400" bIns="25400" rtlCol="0" anchor="t">
            <a:normAutofit/>
          </a:bodyPr>
          <a:lstStyle/>
          <a:p>
            <a:pPr marL="0" indent="0" algn="l">
              <a:buNone/>
            </a:pPr>
            <a:r>
              <a:rPr lang="es-CO" sz="1500" noProof="0" dirty="0">
                <a:solidFill>
                  <a:srgbClr val="3D3D3D"/>
                </a:solidFill>
                <a:latin typeface="Segoe UI" pitchFamily="34" charset="0"/>
                <a:ea typeface="Segoe UI" pitchFamily="34" charset="-122"/>
                <a:cs typeface="Segoe UI" pitchFamily="34" charset="-120"/>
              </a:rPr>
              <a:t>13,91</a:t>
            </a:r>
            <a:endParaRPr lang="es-CO" sz="1500" noProof="0" dirty="0"/>
          </a:p>
        </p:txBody>
      </p:sp>
      <p:sp>
        <p:nvSpPr>
          <p:cNvPr id="15" name="Text 13"/>
          <p:cNvSpPr/>
          <p:nvPr/>
        </p:nvSpPr>
        <p:spPr>
          <a:xfrm>
            <a:off x="7382173" y="4102100"/>
            <a:ext cx="2855883" cy="292100"/>
          </a:xfrm>
          <a:prstGeom prst="rect">
            <a:avLst/>
          </a:prstGeom>
          <a:noFill/>
          <a:ln/>
        </p:spPr>
        <p:txBody>
          <a:bodyPr wrap="square" lIns="25400" tIns="25400" rIns="25400" bIns="25400" rtlCol="0" anchor="t">
            <a:normAutofit/>
          </a:bodyPr>
          <a:lstStyle/>
          <a:p>
            <a:pPr marL="0" indent="0" algn="l">
              <a:buNone/>
            </a:pPr>
            <a:r>
              <a:rPr lang="es-CO" sz="1500" noProof="0" dirty="0">
                <a:solidFill>
                  <a:srgbClr val="3D3D3D"/>
                </a:solidFill>
                <a:latin typeface="Segoe UI" pitchFamily="34" charset="0"/>
                <a:ea typeface="Segoe UI" pitchFamily="34" charset="-122"/>
                <a:cs typeface="Segoe UI" pitchFamily="34" charset="-120"/>
              </a:rPr>
              <a:t>12,97</a:t>
            </a:r>
            <a:endParaRPr lang="es-CO" sz="1500" noProof="0" dirty="0"/>
          </a:p>
        </p:txBody>
      </p:sp>
      <p:sp>
        <p:nvSpPr>
          <p:cNvPr id="16" name="Text 14"/>
          <p:cNvSpPr/>
          <p:nvPr/>
        </p:nvSpPr>
        <p:spPr>
          <a:xfrm>
            <a:off x="9978430" y="4102100"/>
            <a:ext cx="2652008" cy="292100"/>
          </a:xfrm>
          <a:prstGeom prst="rect">
            <a:avLst/>
          </a:prstGeom>
          <a:noFill/>
          <a:ln/>
        </p:spPr>
        <p:txBody>
          <a:bodyPr wrap="square" lIns="25400" tIns="25400" rIns="25400" bIns="25400" rtlCol="0" anchor="t">
            <a:normAutofit/>
          </a:bodyPr>
          <a:lstStyle/>
          <a:p>
            <a:pPr marL="0" indent="0" algn="l">
              <a:buNone/>
            </a:pPr>
            <a:r>
              <a:rPr lang="es-CO" sz="1500" noProof="0" dirty="0">
                <a:solidFill>
                  <a:srgbClr val="3D3D3D"/>
                </a:solidFill>
                <a:latin typeface="Segoe UI" pitchFamily="34" charset="0"/>
                <a:ea typeface="Segoe UI" pitchFamily="34" charset="-122"/>
                <a:cs typeface="Segoe UI" pitchFamily="34" charset="-120"/>
              </a:rPr>
              <a:t>+6,7 %</a:t>
            </a:r>
            <a:endParaRPr lang="es-CO" sz="1500" noProof="0" dirty="0"/>
          </a:p>
        </p:txBody>
      </p:sp>
      <p:sp>
        <p:nvSpPr>
          <p:cNvPr id="17" name="Text 15"/>
          <p:cNvSpPr/>
          <p:nvPr/>
        </p:nvSpPr>
        <p:spPr>
          <a:xfrm>
            <a:off x="12389346" y="4102100"/>
            <a:ext cx="2039947" cy="292100"/>
          </a:xfrm>
          <a:prstGeom prst="rect">
            <a:avLst/>
          </a:prstGeom>
          <a:noFill/>
          <a:ln/>
        </p:spPr>
        <p:txBody>
          <a:bodyPr wrap="square" lIns="25400" tIns="25400" rIns="25400" bIns="25400" rtlCol="0" anchor="t">
            <a:normAutofit/>
          </a:bodyPr>
          <a:lstStyle/>
          <a:p>
            <a:pPr marL="0" indent="0" algn="l">
              <a:buNone/>
            </a:pPr>
            <a:endParaRPr lang="es-CO" sz="1500" noProof="0" dirty="0"/>
          </a:p>
        </p:txBody>
      </p:sp>
      <p:sp>
        <p:nvSpPr>
          <p:cNvPr id="18" name="Text 16"/>
          <p:cNvSpPr/>
          <p:nvPr/>
        </p:nvSpPr>
        <p:spPr>
          <a:xfrm>
            <a:off x="14243845" y="4102100"/>
            <a:ext cx="2855992" cy="292100"/>
          </a:xfrm>
          <a:prstGeom prst="rect">
            <a:avLst/>
          </a:prstGeom>
          <a:noFill/>
          <a:ln/>
        </p:spPr>
        <p:txBody>
          <a:bodyPr wrap="square" lIns="25400" tIns="25400" rIns="25400" bIns="25400" rtlCol="0" anchor="t">
            <a:normAutofit/>
          </a:bodyPr>
          <a:lstStyle/>
          <a:p>
            <a:pPr marL="0" indent="0" algn="l">
              <a:buNone/>
            </a:pPr>
            <a:endParaRPr lang="es-CO" sz="1500" noProof="0" dirty="0"/>
          </a:p>
        </p:txBody>
      </p:sp>
      <p:sp>
        <p:nvSpPr>
          <p:cNvPr id="19" name="Shape 17"/>
          <p:cNvSpPr/>
          <p:nvPr/>
        </p:nvSpPr>
        <p:spPr>
          <a:xfrm>
            <a:off x="1143000" y="4546600"/>
            <a:ext cx="16002000" cy="635000"/>
          </a:xfrm>
          <a:prstGeom prst="rect">
            <a:avLst/>
          </a:prstGeom>
          <a:solidFill>
            <a:srgbClr val="FFFFFF"/>
          </a:solidFill>
          <a:ln/>
        </p:spPr>
        <p:txBody>
          <a:bodyPr/>
          <a:lstStyle/>
          <a:p>
            <a:endParaRPr lang="es-CO" noProof="0" dirty="0"/>
          </a:p>
        </p:txBody>
      </p:sp>
      <p:sp>
        <p:nvSpPr>
          <p:cNvPr id="20" name="Text 18"/>
          <p:cNvSpPr/>
          <p:nvPr/>
        </p:nvSpPr>
        <p:spPr>
          <a:xfrm>
            <a:off x="1447800" y="4737100"/>
            <a:ext cx="2447915" cy="292100"/>
          </a:xfrm>
          <a:prstGeom prst="rect">
            <a:avLst/>
          </a:prstGeom>
          <a:noFill/>
          <a:ln/>
        </p:spPr>
        <p:txBody>
          <a:bodyPr wrap="square" lIns="25400" tIns="25400" rIns="25400" bIns="25400" rtlCol="0" anchor="t">
            <a:normAutofit/>
          </a:bodyPr>
          <a:lstStyle/>
          <a:p>
            <a:pPr marL="0" indent="0" algn="l">
              <a:buNone/>
            </a:pPr>
            <a:r>
              <a:rPr lang="es-CO" sz="1500" noProof="0" dirty="0">
                <a:solidFill>
                  <a:srgbClr val="3D3D3D"/>
                </a:solidFill>
                <a:latin typeface="Segoe UI" pitchFamily="34" charset="0"/>
                <a:ea typeface="Segoe UI" pitchFamily="34" charset="-122"/>
                <a:cs typeface="Segoe UI" pitchFamily="34" charset="-120"/>
              </a:rPr>
              <a:t>RMSE (global)</a:t>
            </a:r>
            <a:endParaRPr lang="es-CO" sz="1500" noProof="0" dirty="0"/>
          </a:p>
        </p:txBody>
      </p:sp>
      <p:sp>
        <p:nvSpPr>
          <p:cNvPr id="21" name="Text 19"/>
          <p:cNvSpPr/>
          <p:nvPr/>
        </p:nvSpPr>
        <p:spPr>
          <a:xfrm>
            <a:off x="3673178" y="4737100"/>
            <a:ext cx="4079895" cy="292100"/>
          </a:xfrm>
          <a:prstGeom prst="rect">
            <a:avLst/>
          </a:prstGeom>
          <a:noFill/>
          <a:ln/>
        </p:spPr>
        <p:txBody>
          <a:bodyPr wrap="square" lIns="25400" tIns="25400" rIns="25400" bIns="25400" rtlCol="0" anchor="t">
            <a:normAutofit/>
          </a:bodyPr>
          <a:lstStyle/>
          <a:p>
            <a:pPr marL="0" indent="0" algn="l">
              <a:buNone/>
            </a:pPr>
            <a:r>
              <a:rPr lang="es-CO" sz="1500" noProof="0" dirty="0">
                <a:solidFill>
                  <a:srgbClr val="3D3D3D"/>
                </a:solidFill>
                <a:latin typeface="Segoe UI" pitchFamily="34" charset="0"/>
                <a:ea typeface="Segoe UI" pitchFamily="34" charset="-122"/>
                <a:cs typeface="Segoe UI" pitchFamily="34" charset="-120"/>
              </a:rPr>
              <a:t>21,73</a:t>
            </a:r>
            <a:endParaRPr lang="es-CO" sz="1500" noProof="0" dirty="0"/>
          </a:p>
        </p:txBody>
      </p:sp>
      <p:sp>
        <p:nvSpPr>
          <p:cNvPr id="22" name="Text 20"/>
          <p:cNvSpPr/>
          <p:nvPr/>
        </p:nvSpPr>
        <p:spPr>
          <a:xfrm>
            <a:off x="7382173" y="4737100"/>
            <a:ext cx="2855883" cy="292100"/>
          </a:xfrm>
          <a:prstGeom prst="rect">
            <a:avLst/>
          </a:prstGeom>
          <a:noFill/>
          <a:ln/>
        </p:spPr>
        <p:txBody>
          <a:bodyPr wrap="square" lIns="25400" tIns="25400" rIns="25400" bIns="25400" rtlCol="0" anchor="t">
            <a:normAutofit/>
          </a:bodyPr>
          <a:lstStyle/>
          <a:p>
            <a:pPr marL="0" indent="0" algn="l">
              <a:buNone/>
            </a:pPr>
            <a:r>
              <a:rPr lang="es-CO" sz="1500" noProof="0" dirty="0">
                <a:solidFill>
                  <a:srgbClr val="3D3D3D"/>
                </a:solidFill>
                <a:latin typeface="Segoe UI" pitchFamily="34" charset="0"/>
                <a:ea typeface="Segoe UI" pitchFamily="34" charset="-122"/>
                <a:cs typeface="Segoe UI" pitchFamily="34" charset="-120"/>
              </a:rPr>
              <a:t>21,60</a:t>
            </a:r>
            <a:endParaRPr lang="es-CO" sz="1500" noProof="0" dirty="0"/>
          </a:p>
        </p:txBody>
      </p:sp>
      <p:sp>
        <p:nvSpPr>
          <p:cNvPr id="23" name="Text 21"/>
          <p:cNvSpPr/>
          <p:nvPr/>
        </p:nvSpPr>
        <p:spPr>
          <a:xfrm>
            <a:off x="9978430" y="4737100"/>
            <a:ext cx="2652008" cy="292100"/>
          </a:xfrm>
          <a:prstGeom prst="rect">
            <a:avLst/>
          </a:prstGeom>
          <a:noFill/>
          <a:ln/>
        </p:spPr>
        <p:txBody>
          <a:bodyPr wrap="square" lIns="25400" tIns="25400" rIns="25400" bIns="25400" rtlCol="0" anchor="t">
            <a:normAutofit/>
          </a:bodyPr>
          <a:lstStyle/>
          <a:p>
            <a:pPr marL="0" indent="0" algn="l">
              <a:buNone/>
            </a:pPr>
            <a:r>
              <a:rPr lang="es-CO" sz="1500" noProof="0" dirty="0">
                <a:solidFill>
                  <a:srgbClr val="3D3D3D"/>
                </a:solidFill>
                <a:latin typeface="Segoe UI" pitchFamily="34" charset="0"/>
                <a:ea typeface="Segoe UI" pitchFamily="34" charset="-122"/>
                <a:cs typeface="Segoe UI" pitchFamily="34" charset="-120"/>
              </a:rPr>
              <a:t>+0,6 %</a:t>
            </a:r>
            <a:endParaRPr lang="es-CO" sz="1500" noProof="0" dirty="0"/>
          </a:p>
        </p:txBody>
      </p:sp>
      <p:sp>
        <p:nvSpPr>
          <p:cNvPr id="24" name="Text 22"/>
          <p:cNvSpPr/>
          <p:nvPr/>
        </p:nvSpPr>
        <p:spPr>
          <a:xfrm>
            <a:off x="12389346" y="4737100"/>
            <a:ext cx="2039947" cy="292100"/>
          </a:xfrm>
          <a:prstGeom prst="rect">
            <a:avLst/>
          </a:prstGeom>
          <a:noFill/>
          <a:ln/>
        </p:spPr>
        <p:txBody>
          <a:bodyPr wrap="square" lIns="25400" tIns="25400" rIns="25400" bIns="25400" rtlCol="0" anchor="t">
            <a:normAutofit/>
          </a:bodyPr>
          <a:lstStyle/>
          <a:p>
            <a:pPr marL="0" indent="0" algn="l">
              <a:buNone/>
            </a:pPr>
            <a:endParaRPr lang="es-CO" sz="1500" noProof="0" dirty="0"/>
          </a:p>
        </p:txBody>
      </p:sp>
      <p:sp>
        <p:nvSpPr>
          <p:cNvPr id="25" name="Text 23"/>
          <p:cNvSpPr/>
          <p:nvPr/>
        </p:nvSpPr>
        <p:spPr>
          <a:xfrm>
            <a:off x="14243845" y="4737100"/>
            <a:ext cx="2855992" cy="292100"/>
          </a:xfrm>
          <a:prstGeom prst="rect">
            <a:avLst/>
          </a:prstGeom>
          <a:noFill/>
          <a:ln/>
        </p:spPr>
        <p:txBody>
          <a:bodyPr wrap="square" lIns="25400" tIns="25400" rIns="25400" bIns="25400" rtlCol="0" anchor="t">
            <a:normAutofit/>
          </a:bodyPr>
          <a:lstStyle/>
          <a:p>
            <a:pPr marL="0" indent="0" algn="l">
              <a:buNone/>
            </a:pPr>
            <a:endParaRPr lang="es-CO" sz="1500" noProof="0" dirty="0"/>
          </a:p>
        </p:txBody>
      </p:sp>
      <p:sp>
        <p:nvSpPr>
          <p:cNvPr id="26" name="Shape 24"/>
          <p:cNvSpPr/>
          <p:nvPr/>
        </p:nvSpPr>
        <p:spPr>
          <a:xfrm>
            <a:off x="1143000" y="5181600"/>
            <a:ext cx="16002000" cy="635000"/>
          </a:xfrm>
          <a:prstGeom prst="rect">
            <a:avLst/>
          </a:prstGeom>
          <a:solidFill>
            <a:srgbClr val="F4FADF"/>
          </a:solidFill>
          <a:ln/>
        </p:spPr>
        <p:txBody>
          <a:bodyPr/>
          <a:lstStyle/>
          <a:p>
            <a:endParaRPr lang="es-CO" noProof="0" dirty="0"/>
          </a:p>
        </p:txBody>
      </p:sp>
      <p:sp>
        <p:nvSpPr>
          <p:cNvPr id="27" name="Text 25"/>
          <p:cNvSpPr/>
          <p:nvPr/>
        </p:nvSpPr>
        <p:spPr>
          <a:xfrm>
            <a:off x="1447800" y="5372100"/>
            <a:ext cx="2447915" cy="292100"/>
          </a:xfrm>
          <a:prstGeom prst="rect">
            <a:avLst/>
          </a:prstGeom>
          <a:noFill/>
          <a:ln/>
        </p:spPr>
        <p:txBody>
          <a:bodyPr wrap="square" lIns="25400" tIns="25400" rIns="25400" bIns="25400" rtlCol="0" anchor="t">
            <a:normAutofit/>
          </a:bodyPr>
          <a:lstStyle/>
          <a:p>
            <a:pPr marL="0" indent="0" algn="l">
              <a:buNone/>
            </a:pPr>
            <a:r>
              <a:rPr lang="es-CO" sz="1500" noProof="0" dirty="0">
                <a:solidFill>
                  <a:srgbClr val="3D3D3D"/>
                </a:solidFill>
                <a:latin typeface="Segoe UI" pitchFamily="34" charset="0"/>
                <a:ea typeface="Segoe UI" pitchFamily="34" charset="-122"/>
                <a:cs typeface="Segoe UI" pitchFamily="34" charset="-120"/>
              </a:rPr>
              <a:t>WAPE (global)</a:t>
            </a:r>
            <a:endParaRPr lang="es-CO" sz="1500" noProof="0" dirty="0"/>
          </a:p>
        </p:txBody>
      </p:sp>
      <p:sp>
        <p:nvSpPr>
          <p:cNvPr id="28" name="Text 26"/>
          <p:cNvSpPr/>
          <p:nvPr/>
        </p:nvSpPr>
        <p:spPr>
          <a:xfrm>
            <a:off x="3673178" y="5372100"/>
            <a:ext cx="4079895" cy="292100"/>
          </a:xfrm>
          <a:prstGeom prst="rect">
            <a:avLst/>
          </a:prstGeom>
          <a:noFill/>
          <a:ln/>
        </p:spPr>
        <p:txBody>
          <a:bodyPr wrap="square" lIns="25400" tIns="25400" rIns="25400" bIns="25400" rtlCol="0" anchor="t">
            <a:normAutofit/>
          </a:bodyPr>
          <a:lstStyle/>
          <a:p>
            <a:pPr marL="0" indent="0" algn="l">
              <a:buNone/>
            </a:pPr>
            <a:r>
              <a:rPr lang="es-CO" sz="1500" noProof="0" dirty="0">
                <a:solidFill>
                  <a:srgbClr val="3D3D3D"/>
                </a:solidFill>
                <a:latin typeface="Segoe UI" pitchFamily="34" charset="0"/>
                <a:ea typeface="Segoe UI" pitchFamily="34" charset="-122"/>
                <a:cs typeface="Segoe UI" pitchFamily="34" charset="-120"/>
              </a:rPr>
              <a:t>34,60 %</a:t>
            </a:r>
            <a:endParaRPr lang="es-CO" sz="1500" noProof="0" dirty="0"/>
          </a:p>
        </p:txBody>
      </p:sp>
      <p:sp>
        <p:nvSpPr>
          <p:cNvPr id="29" name="Text 27"/>
          <p:cNvSpPr/>
          <p:nvPr/>
        </p:nvSpPr>
        <p:spPr>
          <a:xfrm>
            <a:off x="7382173" y="5372100"/>
            <a:ext cx="2855883" cy="292100"/>
          </a:xfrm>
          <a:prstGeom prst="rect">
            <a:avLst/>
          </a:prstGeom>
          <a:noFill/>
          <a:ln/>
        </p:spPr>
        <p:txBody>
          <a:bodyPr wrap="square" lIns="25400" tIns="25400" rIns="25400" bIns="25400" rtlCol="0" anchor="t">
            <a:normAutofit/>
          </a:bodyPr>
          <a:lstStyle/>
          <a:p>
            <a:pPr marL="0" indent="0" algn="l">
              <a:buNone/>
            </a:pPr>
            <a:r>
              <a:rPr lang="es-CO" sz="1500" noProof="0" dirty="0">
                <a:solidFill>
                  <a:srgbClr val="3D3D3D"/>
                </a:solidFill>
                <a:latin typeface="Segoe UI" pitchFamily="34" charset="0"/>
                <a:ea typeface="Segoe UI" pitchFamily="34" charset="-122"/>
                <a:cs typeface="Segoe UI" pitchFamily="34" charset="-120"/>
              </a:rPr>
              <a:t>32,27 %</a:t>
            </a:r>
            <a:endParaRPr lang="es-CO" sz="1500" noProof="0" dirty="0"/>
          </a:p>
        </p:txBody>
      </p:sp>
      <p:sp>
        <p:nvSpPr>
          <p:cNvPr id="30" name="Text 28"/>
          <p:cNvSpPr/>
          <p:nvPr/>
        </p:nvSpPr>
        <p:spPr>
          <a:xfrm>
            <a:off x="9978430" y="5372100"/>
            <a:ext cx="2652008" cy="292100"/>
          </a:xfrm>
          <a:prstGeom prst="rect">
            <a:avLst/>
          </a:prstGeom>
          <a:noFill/>
          <a:ln/>
        </p:spPr>
        <p:txBody>
          <a:bodyPr wrap="square" lIns="25400" tIns="25400" rIns="25400" bIns="25400" rtlCol="0" anchor="t">
            <a:normAutofit/>
          </a:bodyPr>
          <a:lstStyle/>
          <a:p>
            <a:pPr marL="0" indent="0" algn="l">
              <a:buNone/>
            </a:pPr>
            <a:r>
              <a:rPr lang="es-CO" sz="1500" noProof="0" dirty="0">
                <a:solidFill>
                  <a:srgbClr val="3D3D3D"/>
                </a:solidFill>
                <a:latin typeface="Segoe UI" pitchFamily="34" charset="0"/>
                <a:ea typeface="Segoe UI" pitchFamily="34" charset="-122"/>
                <a:cs typeface="Segoe UI" pitchFamily="34" charset="-120"/>
              </a:rPr>
              <a:t>+6,7 %</a:t>
            </a:r>
            <a:endParaRPr lang="es-CO" sz="1500" noProof="0" dirty="0"/>
          </a:p>
        </p:txBody>
      </p:sp>
      <p:sp>
        <p:nvSpPr>
          <p:cNvPr id="31" name="Text 29"/>
          <p:cNvSpPr/>
          <p:nvPr/>
        </p:nvSpPr>
        <p:spPr>
          <a:xfrm>
            <a:off x="12389346" y="5372100"/>
            <a:ext cx="2039947" cy="292100"/>
          </a:xfrm>
          <a:prstGeom prst="rect">
            <a:avLst/>
          </a:prstGeom>
          <a:noFill/>
          <a:ln/>
        </p:spPr>
        <p:txBody>
          <a:bodyPr wrap="square" lIns="25400" tIns="25400" rIns="25400" bIns="25400" rtlCol="0" anchor="t">
            <a:normAutofit/>
          </a:bodyPr>
          <a:lstStyle/>
          <a:p>
            <a:pPr marL="0" indent="0" algn="l">
              <a:buNone/>
            </a:pPr>
            <a:endParaRPr lang="es-CO" sz="1500" noProof="0" dirty="0"/>
          </a:p>
        </p:txBody>
      </p:sp>
      <p:sp>
        <p:nvSpPr>
          <p:cNvPr id="32" name="Text 30"/>
          <p:cNvSpPr/>
          <p:nvPr/>
        </p:nvSpPr>
        <p:spPr>
          <a:xfrm>
            <a:off x="14243845" y="5372100"/>
            <a:ext cx="2855992" cy="292100"/>
          </a:xfrm>
          <a:prstGeom prst="rect">
            <a:avLst/>
          </a:prstGeom>
          <a:noFill/>
          <a:ln/>
        </p:spPr>
        <p:txBody>
          <a:bodyPr wrap="square" lIns="25400" tIns="25400" rIns="25400" bIns="25400" rtlCol="0" anchor="t">
            <a:normAutofit/>
          </a:bodyPr>
          <a:lstStyle/>
          <a:p>
            <a:pPr marL="0" indent="0" algn="l">
              <a:buNone/>
            </a:pPr>
            <a:endParaRPr lang="es-CO" sz="1500" noProof="0" dirty="0"/>
          </a:p>
        </p:txBody>
      </p:sp>
      <p:sp>
        <p:nvSpPr>
          <p:cNvPr id="33" name="Shape 31"/>
          <p:cNvSpPr/>
          <p:nvPr/>
        </p:nvSpPr>
        <p:spPr>
          <a:xfrm>
            <a:off x="1143000" y="5816600"/>
            <a:ext cx="16002000" cy="635000"/>
          </a:xfrm>
          <a:prstGeom prst="rect">
            <a:avLst/>
          </a:prstGeom>
          <a:solidFill>
            <a:srgbClr val="FFFFFF"/>
          </a:solidFill>
          <a:ln/>
        </p:spPr>
        <p:txBody>
          <a:bodyPr/>
          <a:lstStyle/>
          <a:p>
            <a:endParaRPr lang="es-CO" noProof="0" dirty="0"/>
          </a:p>
        </p:txBody>
      </p:sp>
      <p:sp>
        <p:nvSpPr>
          <p:cNvPr id="34" name="Text 32"/>
          <p:cNvSpPr/>
          <p:nvPr/>
        </p:nvSpPr>
        <p:spPr>
          <a:xfrm>
            <a:off x="1447800" y="6007100"/>
            <a:ext cx="2447915" cy="292100"/>
          </a:xfrm>
          <a:prstGeom prst="rect">
            <a:avLst/>
          </a:prstGeom>
          <a:noFill/>
          <a:ln/>
        </p:spPr>
        <p:txBody>
          <a:bodyPr wrap="square" lIns="25400" tIns="25400" rIns="25400" bIns="25400" rtlCol="0" anchor="t">
            <a:normAutofit/>
          </a:bodyPr>
          <a:lstStyle/>
          <a:p>
            <a:pPr marL="0" indent="0" algn="l">
              <a:buNone/>
            </a:pPr>
            <a:r>
              <a:rPr lang="es-CO" sz="1500" noProof="0" dirty="0">
                <a:solidFill>
                  <a:srgbClr val="3D3D3D"/>
                </a:solidFill>
                <a:latin typeface="Segoe UI" pitchFamily="34" charset="0"/>
                <a:ea typeface="Segoe UI" pitchFamily="34" charset="-122"/>
                <a:cs typeface="Segoe UI" pitchFamily="34" charset="-120"/>
              </a:rPr>
              <a:t>Ajuste del modelo</a:t>
            </a:r>
            <a:endParaRPr lang="es-CO" sz="1500" noProof="0" dirty="0"/>
          </a:p>
        </p:txBody>
      </p:sp>
      <p:sp>
        <p:nvSpPr>
          <p:cNvPr id="35" name="Text 33"/>
          <p:cNvSpPr/>
          <p:nvPr/>
        </p:nvSpPr>
        <p:spPr>
          <a:xfrm>
            <a:off x="3673178" y="6007100"/>
            <a:ext cx="4079895" cy="292100"/>
          </a:xfrm>
          <a:prstGeom prst="rect">
            <a:avLst/>
          </a:prstGeom>
          <a:noFill/>
          <a:ln/>
        </p:spPr>
        <p:txBody>
          <a:bodyPr wrap="square" lIns="25400" tIns="25400" rIns="25400" bIns="25400" rtlCol="0" anchor="t">
            <a:normAutofit/>
          </a:bodyPr>
          <a:lstStyle/>
          <a:p>
            <a:pPr marL="0" indent="0" algn="l">
              <a:buNone/>
            </a:pPr>
            <a:r>
              <a:rPr lang="es-CO" sz="1500" noProof="0" dirty="0">
                <a:solidFill>
                  <a:srgbClr val="3D3D3D"/>
                </a:solidFill>
                <a:latin typeface="Segoe UI" pitchFamily="34" charset="0"/>
                <a:ea typeface="Segoe UI" pitchFamily="34" charset="-122"/>
                <a:cs typeface="Segoe UI" pitchFamily="34" charset="-120"/>
              </a:rPr>
              <a:t>R² = 0,756</a:t>
            </a:r>
            <a:endParaRPr lang="es-CO" sz="1500" noProof="0" dirty="0"/>
          </a:p>
        </p:txBody>
      </p:sp>
      <p:sp>
        <p:nvSpPr>
          <p:cNvPr id="36" name="Text 34"/>
          <p:cNvSpPr/>
          <p:nvPr/>
        </p:nvSpPr>
        <p:spPr>
          <a:xfrm>
            <a:off x="7382173" y="6007100"/>
            <a:ext cx="2855883" cy="292100"/>
          </a:xfrm>
          <a:prstGeom prst="rect">
            <a:avLst/>
          </a:prstGeom>
          <a:noFill/>
          <a:ln/>
        </p:spPr>
        <p:txBody>
          <a:bodyPr wrap="square" lIns="25400" tIns="25400" rIns="25400" bIns="25400" rtlCol="0" anchor="t">
            <a:normAutofit/>
          </a:bodyPr>
          <a:lstStyle/>
          <a:p>
            <a:pPr marL="0" indent="0" algn="l">
              <a:buNone/>
            </a:pPr>
            <a:r>
              <a:rPr lang="es-CO" sz="1500" noProof="0" dirty="0">
                <a:solidFill>
                  <a:srgbClr val="3D3D3D"/>
                </a:solidFill>
                <a:latin typeface="Segoe UI" pitchFamily="34" charset="0"/>
                <a:ea typeface="Segoe UI" pitchFamily="34" charset="-122"/>
                <a:cs typeface="Segoe UI" pitchFamily="34" charset="-120"/>
              </a:rPr>
              <a:t>10 hojas</a:t>
            </a:r>
            <a:endParaRPr lang="es-CO" sz="1500" noProof="0" dirty="0"/>
          </a:p>
        </p:txBody>
      </p:sp>
      <p:sp>
        <p:nvSpPr>
          <p:cNvPr id="37" name="Text 35"/>
          <p:cNvSpPr/>
          <p:nvPr/>
        </p:nvSpPr>
        <p:spPr>
          <a:xfrm>
            <a:off x="9978430" y="6007100"/>
            <a:ext cx="2652008" cy="292100"/>
          </a:xfrm>
          <a:prstGeom prst="rect">
            <a:avLst/>
          </a:prstGeom>
          <a:noFill/>
          <a:ln/>
        </p:spPr>
        <p:txBody>
          <a:bodyPr wrap="square" lIns="25400" tIns="25400" rIns="25400" bIns="25400" rtlCol="0" anchor="t">
            <a:normAutofit/>
          </a:bodyPr>
          <a:lstStyle/>
          <a:p>
            <a:pPr marL="0" indent="0" algn="l">
              <a:buNone/>
            </a:pPr>
            <a:r>
              <a:rPr lang="es-CO" sz="1500" noProof="0" dirty="0">
                <a:solidFill>
                  <a:srgbClr val="3D3D3D"/>
                </a:solidFill>
                <a:latin typeface="Segoe UI" pitchFamily="34" charset="0"/>
                <a:ea typeface="Segoe UI" pitchFamily="34" charset="-122"/>
                <a:cs typeface="Segoe UI" pitchFamily="34" charset="-120"/>
              </a:rPr>
              <a:t>—</a:t>
            </a:r>
            <a:endParaRPr lang="es-CO" sz="1500" noProof="0" dirty="0"/>
          </a:p>
        </p:txBody>
      </p:sp>
      <p:sp>
        <p:nvSpPr>
          <p:cNvPr id="38" name="Text 36"/>
          <p:cNvSpPr/>
          <p:nvPr/>
        </p:nvSpPr>
        <p:spPr>
          <a:xfrm>
            <a:off x="12389346" y="6007100"/>
            <a:ext cx="2039947" cy="292100"/>
          </a:xfrm>
          <a:prstGeom prst="rect">
            <a:avLst/>
          </a:prstGeom>
          <a:noFill/>
          <a:ln/>
        </p:spPr>
        <p:txBody>
          <a:bodyPr wrap="square" lIns="25400" tIns="25400" rIns="25400" bIns="25400" rtlCol="0" anchor="t">
            <a:normAutofit/>
          </a:bodyPr>
          <a:lstStyle/>
          <a:p>
            <a:pPr marL="0" indent="0" algn="l">
              <a:buNone/>
            </a:pPr>
            <a:endParaRPr lang="es-CO" sz="1500" noProof="0" dirty="0"/>
          </a:p>
        </p:txBody>
      </p:sp>
      <p:sp>
        <p:nvSpPr>
          <p:cNvPr id="39" name="Text 37"/>
          <p:cNvSpPr/>
          <p:nvPr/>
        </p:nvSpPr>
        <p:spPr>
          <a:xfrm>
            <a:off x="14243845" y="6007100"/>
            <a:ext cx="2855992" cy="292100"/>
          </a:xfrm>
          <a:prstGeom prst="rect">
            <a:avLst/>
          </a:prstGeom>
          <a:noFill/>
          <a:ln/>
        </p:spPr>
        <p:txBody>
          <a:bodyPr wrap="square" lIns="25400" tIns="25400" rIns="25400" bIns="25400" rtlCol="0" anchor="t">
            <a:normAutofit/>
          </a:bodyPr>
          <a:lstStyle/>
          <a:p>
            <a:pPr marL="0" indent="0" algn="l">
              <a:buNone/>
            </a:pPr>
            <a:endParaRPr lang="es-CO" sz="1500" noProof="0" dirty="0"/>
          </a:p>
        </p:txBody>
      </p:sp>
      <p:sp>
        <p:nvSpPr>
          <p:cNvPr id="40" name="Text 38"/>
          <p:cNvSpPr/>
          <p:nvPr/>
        </p:nvSpPr>
        <p:spPr>
          <a:xfrm>
            <a:off x="1143000" y="9525000"/>
            <a:ext cx="5412720" cy="266700"/>
          </a:xfrm>
          <a:prstGeom prst="rect">
            <a:avLst/>
          </a:prstGeom>
          <a:noFill/>
          <a:ln/>
        </p:spPr>
        <p:txBody>
          <a:bodyPr wrap="square" lIns="25400" tIns="25400" rIns="25400" bIns="25400" rtlCol="0" anchor="t">
            <a:normAutofit/>
          </a:bodyPr>
          <a:lstStyle/>
          <a:p>
            <a:pPr marL="0" indent="0" algn="l">
              <a:buNone/>
            </a:pPr>
            <a:r>
              <a:rPr lang="es-CO" sz="1350" noProof="0" dirty="0">
                <a:solidFill>
                  <a:srgbClr val="6F6F6F"/>
                </a:solidFill>
                <a:latin typeface="Segoe UI" pitchFamily="34" charset="0"/>
                <a:ea typeface="Segoe UI" pitchFamily="34" charset="-122"/>
                <a:cs typeface="Segoe UI" pitchFamily="34" charset="-120"/>
              </a:rPr>
              <a:t>UTS · Cartilla de aprendizaje — Gestión Inteligente de Inventarios</a:t>
            </a:r>
            <a:endParaRPr lang="es-CO" sz="1350" noProof="0" dirty="0"/>
          </a:p>
        </p:txBody>
      </p:sp>
      <p:sp>
        <p:nvSpPr>
          <p:cNvPr id="41" name="Shape 39"/>
          <p:cNvSpPr/>
          <p:nvPr/>
        </p:nvSpPr>
        <p:spPr>
          <a:xfrm>
            <a:off x="16725900" y="9410700"/>
            <a:ext cx="419100" cy="419100"/>
          </a:xfrm>
          <a:prstGeom prst="ellipse">
            <a:avLst/>
          </a:prstGeom>
          <a:solidFill>
            <a:srgbClr val="7E2C8C"/>
          </a:solidFill>
          <a:ln/>
        </p:spPr>
        <p:txBody>
          <a:bodyPr/>
          <a:lstStyle/>
          <a:p>
            <a:endParaRPr lang="es-CO" noProof="0" dirty="0"/>
          </a:p>
        </p:txBody>
      </p:sp>
      <p:sp>
        <p:nvSpPr>
          <p:cNvPr id="42" name="Text 40"/>
          <p:cNvSpPr/>
          <p:nvPr/>
        </p:nvSpPr>
        <p:spPr>
          <a:xfrm>
            <a:off x="16687800" y="9410700"/>
            <a:ext cx="495300" cy="457200"/>
          </a:xfrm>
          <a:prstGeom prst="rect">
            <a:avLst/>
          </a:prstGeom>
          <a:noFill/>
          <a:ln/>
        </p:spPr>
        <p:txBody>
          <a:bodyPr wrap="square" lIns="25400" tIns="25400" rIns="25400" bIns="25400" rtlCol="0" anchor="ctr">
            <a:normAutofit/>
          </a:bodyPr>
          <a:lstStyle/>
          <a:p>
            <a:pPr marL="0" indent="0" algn="ctr">
              <a:buNone/>
            </a:pPr>
            <a:r>
              <a:rPr lang="es-CO" sz="1500" b="1" noProof="0" dirty="0">
                <a:solidFill>
                  <a:srgbClr val="FFFFFF"/>
                </a:solidFill>
                <a:latin typeface="Segoe UI" pitchFamily="34" charset="0"/>
                <a:cs typeface="Segoe UI" pitchFamily="34" charset="-120"/>
              </a:rPr>
              <a:t>28</a:t>
            </a:r>
            <a:endParaRPr lang="es-CO" sz="1500" noProof="0" dirty="0"/>
          </a:p>
        </p:txBody>
      </p:sp>
      <p:sp>
        <p:nvSpPr>
          <p:cNvPr id="44" name="Shape 0">
            <a:extLst>
              <a:ext uri="{FF2B5EF4-FFF2-40B4-BE49-F238E27FC236}">
                <a16:creationId xmlns:a16="http://schemas.microsoft.com/office/drawing/2014/main" id="{8132663F-E21B-8709-15E1-7FD64329CC32}"/>
              </a:ext>
            </a:extLst>
          </p:cNvPr>
          <p:cNvSpPr/>
          <p:nvPr/>
        </p:nvSpPr>
        <p:spPr>
          <a:xfrm>
            <a:off x="1143000" y="838200"/>
            <a:ext cx="5592652" cy="419100"/>
          </a:xfrm>
          <a:prstGeom prst="roundRect">
            <a:avLst>
              <a:gd name="adj" fmla="val 50000"/>
            </a:avLst>
          </a:prstGeom>
          <a:solidFill>
            <a:srgbClr val="F4FADF"/>
          </a:solidFill>
          <a:ln/>
        </p:spPr>
        <p:txBody>
          <a:bodyPr/>
          <a:lstStyle/>
          <a:p>
            <a:endParaRPr lang="es-CO" noProof="0" dirty="0"/>
          </a:p>
        </p:txBody>
      </p:sp>
      <p:sp>
        <p:nvSpPr>
          <p:cNvPr id="46" name="Text 1">
            <a:extLst>
              <a:ext uri="{FF2B5EF4-FFF2-40B4-BE49-F238E27FC236}">
                <a16:creationId xmlns:a16="http://schemas.microsoft.com/office/drawing/2014/main" id="{61F36A5D-7AEF-BA36-9F08-05BDD545007B}"/>
              </a:ext>
            </a:extLst>
          </p:cNvPr>
          <p:cNvSpPr/>
          <p:nvPr/>
        </p:nvSpPr>
        <p:spPr>
          <a:xfrm>
            <a:off x="1352550" y="933450"/>
            <a:ext cx="5383101" cy="266700"/>
          </a:xfrm>
          <a:prstGeom prst="rect">
            <a:avLst/>
          </a:prstGeom>
          <a:noFill/>
          <a:ln/>
        </p:spPr>
        <p:txBody>
          <a:bodyPr wrap="square" lIns="25400" tIns="25400" rIns="25400" bIns="25400" rtlCol="0" anchor="ctr">
            <a:normAutofit/>
          </a:bodyPr>
          <a:lstStyle/>
          <a:p>
            <a:pPr marL="0" indent="0" algn="l">
              <a:buNone/>
            </a:pPr>
            <a:r>
              <a:rPr lang="es-CO" sz="1350" b="1" kern="0" spc="81" noProof="0" dirty="0">
                <a:solidFill>
                  <a:srgbClr val="7E2C8C"/>
                </a:solidFill>
                <a:latin typeface="Segoe UI" pitchFamily="34" charset="0"/>
                <a:ea typeface="Segoe UI" pitchFamily="34" charset="-122"/>
                <a:cs typeface="Segoe UI" pitchFamily="34" charset="-120"/>
              </a:rPr>
              <a:t>FASE 5 · MODELADO PREDICTIVO Y COMPARACIÓN  </a:t>
            </a:r>
            <a:endParaRPr lang="es-CO" sz="1350" noProof="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143000" y="838200"/>
            <a:ext cx="3914974" cy="419100"/>
          </a:xfrm>
          <a:prstGeom prst="roundRect">
            <a:avLst>
              <a:gd name="adj" fmla="val 50000"/>
            </a:avLst>
          </a:prstGeom>
          <a:solidFill>
            <a:srgbClr val="FFFFFF"/>
          </a:solidFill>
          <a:ln/>
        </p:spPr>
        <p:txBody>
          <a:bodyPr/>
          <a:lstStyle/>
          <a:p>
            <a:endParaRPr lang="es-CO" noProof="0" dirty="0"/>
          </a:p>
        </p:txBody>
      </p:sp>
      <p:sp>
        <p:nvSpPr>
          <p:cNvPr id="4" name="Text 2"/>
          <p:cNvSpPr/>
          <p:nvPr/>
        </p:nvSpPr>
        <p:spPr>
          <a:xfrm>
            <a:off x="1143000" y="1619250"/>
            <a:ext cx="13620750" cy="698500"/>
          </a:xfrm>
          <a:prstGeom prst="rect">
            <a:avLst/>
          </a:prstGeom>
          <a:noFill/>
          <a:ln/>
        </p:spPr>
        <p:txBody>
          <a:bodyPr wrap="square" lIns="25400" tIns="25400" rIns="25400" bIns="25400" rtlCol="0" anchor="t">
            <a:normAutofit/>
          </a:bodyPr>
          <a:lstStyle/>
          <a:p>
            <a:pPr marL="0" indent="0" algn="l">
              <a:buNone/>
            </a:pPr>
            <a:r>
              <a:rPr lang="es-CO" sz="3900" b="1" noProof="0" dirty="0">
                <a:solidFill>
                  <a:srgbClr val="3D3D3D"/>
                </a:solidFill>
                <a:latin typeface="Segoe UI" pitchFamily="34" charset="0"/>
                <a:ea typeface="Segoe UI" pitchFamily="34" charset="-122"/>
                <a:cs typeface="Segoe UI" pitchFamily="34" charset="-120"/>
              </a:rPr>
              <a:t>Librerías utilizadas en R</a:t>
            </a:r>
            <a:endParaRPr lang="es-CO" sz="3900" noProof="0" dirty="0"/>
          </a:p>
        </p:txBody>
      </p:sp>
      <p:sp>
        <p:nvSpPr>
          <p:cNvPr id="5" name="Shape 3"/>
          <p:cNvSpPr/>
          <p:nvPr/>
        </p:nvSpPr>
        <p:spPr>
          <a:xfrm>
            <a:off x="1030122" y="3429000"/>
            <a:ext cx="4400550" cy="4495800"/>
          </a:xfrm>
          <a:prstGeom prst="roundRect">
            <a:avLst>
              <a:gd name="adj" fmla="val 6061"/>
            </a:avLst>
          </a:prstGeom>
          <a:solidFill>
            <a:srgbClr val="9524AC"/>
          </a:solidFill>
          <a:ln/>
        </p:spPr>
        <p:txBody>
          <a:bodyPr/>
          <a:lstStyle/>
          <a:p>
            <a:endParaRPr lang="es-CO" noProof="0" dirty="0"/>
          </a:p>
        </p:txBody>
      </p:sp>
      <p:sp>
        <p:nvSpPr>
          <p:cNvPr id="6" name="Shape 4"/>
          <p:cNvSpPr/>
          <p:nvPr/>
        </p:nvSpPr>
        <p:spPr>
          <a:xfrm>
            <a:off x="1485900" y="3771900"/>
            <a:ext cx="495300" cy="495300"/>
          </a:xfrm>
          <a:prstGeom prst="roundRect">
            <a:avLst>
              <a:gd name="adj" fmla="val 30769"/>
            </a:avLst>
          </a:prstGeom>
          <a:solidFill>
            <a:srgbClr val="B7D81A"/>
          </a:solidFill>
          <a:ln/>
        </p:spPr>
        <p:txBody>
          <a:bodyPr/>
          <a:lstStyle/>
          <a:p>
            <a:endParaRPr lang="es-CO" noProof="0" dirty="0"/>
          </a:p>
        </p:txBody>
      </p:sp>
      <p:sp>
        <p:nvSpPr>
          <p:cNvPr id="7" name="Text 5"/>
          <p:cNvSpPr/>
          <p:nvPr/>
        </p:nvSpPr>
        <p:spPr>
          <a:xfrm>
            <a:off x="1485900" y="4495800"/>
            <a:ext cx="4086225" cy="393700"/>
          </a:xfrm>
          <a:prstGeom prst="rect">
            <a:avLst/>
          </a:prstGeom>
          <a:noFill/>
          <a:ln/>
        </p:spPr>
        <p:txBody>
          <a:bodyPr wrap="square" lIns="25400" tIns="25400" rIns="25400" bIns="25400" rtlCol="0" anchor="t">
            <a:normAutofit/>
          </a:bodyPr>
          <a:lstStyle/>
          <a:p>
            <a:pPr marL="0" indent="0" algn="l">
              <a:buNone/>
            </a:pPr>
            <a:r>
              <a:rPr lang="es-CO" sz="2100" b="1" noProof="0" dirty="0">
                <a:solidFill>
                  <a:schemeClr val="bg1"/>
                </a:solidFill>
                <a:latin typeface="Segoe UI" pitchFamily="34" charset="0"/>
                <a:ea typeface="Segoe UI" pitchFamily="34" charset="-122"/>
                <a:cs typeface="Segoe UI" pitchFamily="34" charset="-120"/>
              </a:rPr>
              <a:t>R base</a:t>
            </a:r>
            <a:endParaRPr lang="es-CO" sz="2100" noProof="0" dirty="0">
              <a:solidFill>
                <a:schemeClr val="bg1"/>
              </a:solidFill>
            </a:endParaRPr>
          </a:p>
        </p:txBody>
      </p:sp>
      <p:sp>
        <p:nvSpPr>
          <p:cNvPr id="8" name="Text 6"/>
          <p:cNvSpPr/>
          <p:nvPr/>
        </p:nvSpPr>
        <p:spPr>
          <a:xfrm>
            <a:off x="1485900" y="4965700"/>
            <a:ext cx="3826193" cy="938213"/>
          </a:xfrm>
          <a:prstGeom prst="rect">
            <a:avLst/>
          </a:prstGeom>
          <a:noFill/>
          <a:ln/>
        </p:spPr>
        <p:txBody>
          <a:bodyPr wrap="square" lIns="25400" tIns="25400" rIns="25400" bIns="25400" rtlCol="0" anchor="t">
            <a:normAutofit/>
          </a:bodyPr>
          <a:lstStyle/>
          <a:p>
            <a:pPr marL="0" indent="0" algn="l">
              <a:lnSpc>
                <a:spcPct val="112500"/>
              </a:lnSpc>
              <a:buNone/>
            </a:pPr>
            <a:r>
              <a:rPr lang="es-CO" sz="1575" noProof="0" dirty="0">
                <a:solidFill>
                  <a:schemeClr val="bg1"/>
                </a:solidFill>
                <a:latin typeface="Segoe UI" pitchFamily="34" charset="0"/>
                <a:ea typeface="Segoe UI" pitchFamily="34" charset="-122"/>
                <a:cs typeface="Segoe UI" pitchFamily="34" charset="-120"/>
              </a:rPr>
              <a:t>Lectura de datos, construcción de variables y regresión con lm(), sin dependencias externas.</a:t>
            </a:r>
            <a:endParaRPr lang="es-CO" sz="1575" noProof="0" dirty="0">
              <a:solidFill>
                <a:schemeClr val="bg1"/>
              </a:solidFill>
            </a:endParaRPr>
          </a:p>
        </p:txBody>
      </p:sp>
      <p:sp>
        <p:nvSpPr>
          <p:cNvPr id="9" name="Shape 7"/>
          <p:cNvSpPr/>
          <p:nvPr/>
        </p:nvSpPr>
        <p:spPr>
          <a:xfrm>
            <a:off x="5143500" y="3429000"/>
            <a:ext cx="4400550" cy="4495800"/>
          </a:xfrm>
          <a:prstGeom prst="roundRect">
            <a:avLst>
              <a:gd name="adj" fmla="val 6061"/>
            </a:avLst>
          </a:prstGeom>
          <a:solidFill>
            <a:schemeClr val="bg1">
              <a:lumMod val="85000"/>
            </a:schemeClr>
          </a:solidFill>
          <a:ln/>
        </p:spPr>
        <p:txBody>
          <a:bodyPr/>
          <a:lstStyle/>
          <a:p>
            <a:endParaRPr lang="es-CO" noProof="0" dirty="0"/>
          </a:p>
        </p:txBody>
      </p:sp>
      <p:sp>
        <p:nvSpPr>
          <p:cNvPr id="10" name="Shape 8"/>
          <p:cNvSpPr/>
          <p:nvPr/>
        </p:nvSpPr>
        <p:spPr>
          <a:xfrm>
            <a:off x="5486400" y="3771900"/>
            <a:ext cx="495300" cy="495300"/>
          </a:xfrm>
          <a:prstGeom prst="roundRect">
            <a:avLst>
              <a:gd name="adj" fmla="val 30769"/>
            </a:avLst>
          </a:prstGeom>
          <a:solidFill>
            <a:srgbClr val="7E2C8C"/>
          </a:solidFill>
          <a:ln/>
        </p:spPr>
        <p:txBody>
          <a:bodyPr/>
          <a:lstStyle/>
          <a:p>
            <a:endParaRPr lang="es-CO" noProof="0" dirty="0"/>
          </a:p>
        </p:txBody>
      </p:sp>
      <p:sp>
        <p:nvSpPr>
          <p:cNvPr id="11" name="Text 9"/>
          <p:cNvSpPr/>
          <p:nvPr/>
        </p:nvSpPr>
        <p:spPr>
          <a:xfrm>
            <a:off x="5486400" y="4495800"/>
            <a:ext cx="4086225" cy="393700"/>
          </a:xfrm>
          <a:prstGeom prst="rect">
            <a:avLst/>
          </a:prstGeom>
          <a:noFill/>
          <a:ln/>
        </p:spPr>
        <p:txBody>
          <a:bodyPr wrap="square" lIns="25400" tIns="25400" rIns="25400" bIns="25400" rtlCol="0" anchor="t">
            <a:normAutofit/>
          </a:bodyPr>
          <a:lstStyle/>
          <a:p>
            <a:pPr marL="0" indent="0" algn="l">
              <a:buNone/>
            </a:pPr>
            <a:r>
              <a:rPr lang="es-CO" sz="2100" b="1" noProof="0" dirty="0" err="1">
                <a:solidFill>
                  <a:srgbClr val="3D3D3D"/>
                </a:solidFill>
                <a:latin typeface="Segoe UI" pitchFamily="34" charset="0"/>
                <a:ea typeface="Segoe UI" pitchFamily="34" charset="-122"/>
                <a:cs typeface="Segoe UI" pitchFamily="34" charset="-120"/>
              </a:rPr>
              <a:t>rpart</a:t>
            </a:r>
            <a:endParaRPr lang="es-CO" sz="2100" noProof="0" dirty="0"/>
          </a:p>
        </p:txBody>
      </p:sp>
      <p:sp>
        <p:nvSpPr>
          <p:cNvPr id="12" name="Text 10"/>
          <p:cNvSpPr/>
          <p:nvPr/>
        </p:nvSpPr>
        <p:spPr>
          <a:xfrm>
            <a:off x="5486400" y="4965700"/>
            <a:ext cx="3826193" cy="638175"/>
          </a:xfrm>
          <a:prstGeom prst="rect">
            <a:avLst/>
          </a:prstGeom>
          <a:noFill/>
          <a:ln/>
        </p:spPr>
        <p:txBody>
          <a:bodyPr wrap="square" lIns="25400" tIns="25400" rIns="25400" bIns="25400" rtlCol="0" anchor="t">
            <a:normAutofit/>
          </a:bodyPr>
          <a:lstStyle/>
          <a:p>
            <a:pPr marL="0" indent="0" algn="l">
              <a:lnSpc>
                <a:spcPct val="112500"/>
              </a:lnSpc>
              <a:buNone/>
            </a:pPr>
            <a:r>
              <a:rPr lang="es-CO" sz="1575" noProof="0" dirty="0">
                <a:solidFill>
                  <a:srgbClr val="6F6F6F"/>
                </a:solidFill>
                <a:latin typeface="Segoe UI" pitchFamily="34" charset="0"/>
                <a:ea typeface="Segoe UI" pitchFamily="34" charset="-122"/>
                <a:cs typeface="Segoe UI" pitchFamily="34" charset="-120"/>
              </a:rPr>
              <a:t>Construcción y poda del árbol de </a:t>
            </a:r>
          </a:p>
          <a:p>
            <a:pPr marL="0" indent="0" algn="l">
              <a:lnSpc>
                <a:spcPct val="112500"/>
              </a:lnSpc>
              <a:buNone/>
            </a:pPr>
            <a:r>
              <a:rPr lang="es-CO" sz="1575" noProof="0" dirty="0">
                <a:solidFill>
                  <a:srgbClr val="6F6F6F"/>
                </a:solidFill>
                <a:latin typeface="Segoe UI" pitchFamily="34" charset="0"/>
                <a:ea typeface="Segoe UI" pitchFamily="34" charset="-122"/>
                <a:cs typeface="Segoe UI" pitchFamily="34" charset="-120"/>
              </a:rPr>
              <a:t>decisión para regresión (CART).</a:t>
            </a:r>
            <a:endParaRPr lang="es-CO" sz="1575" noProof="0" dirty="0"/>
          </a:p>
        </p:txBody>
      </p:sp>
      <p:sp>
        <p:nvSpPr>
          <p:cNvPr id="13" name="Shape 11"/>
          <p:cNvSpPr/>
          <p:nvPr/>
        </p:nvSpPr>
        <p:spPr>
          <a:xfrm>
            <a:off x="9144000" y="3429000"/>
            <a:ext cx="4400550" cy="4495800"/>
          </a:xfrm>
          <a:prstGeom prst="roundRect">
            <a:avLst>
              <a:gd name="adj" fmla="val 6061"/>
            </a:avLst>
          </a:prstGeom>
          <a:solidFill>
            <a:srgbClr val="D6F38D"/>
          </a:solidFill>
          <a:ln/>
        </p:spPr>
        <p:txBody>
          <a:bodyPr/>
          <a:lstStyle/>
          <a:p>
            <a:endParaRPr lang="es-CO" noProof="0" dirty="0"/>
          </a:p>
        </p:txBody>
      </p:sp>
      <p:sp>
        <p:nvSpPr>
          <p:cNvPr id="14" name="Shape 12"/>
          <p:cNvSpPr/>
          <p:nvPr/>
        </p:nvSpPr>
        <p:spPr>
          <a:xfrm>
            <a:off x="9486900" y="3771900"/>
            <a:ext cx="495300" cy="495300"/>
          </a:xfrm>
          <a:prstGeom prst="roundRect">
            <a:avLst>
              <a:gd name="adj" fmla="val 30769"/>
            </a:avLst>
          </a:prstGeom>
          <a:solidFill>
            <a:srgbClr val="A867B5"/>
          </a:solidFill>
          <a:ln/>
        </p:spPr>
        <p:txBody>
          <a:bodyPr/>
          <a:lstStyle/>
          <a:p>
            <a:endParaRPr lang="es-CO" noProof="0" dirty="0"/>
          </a:p>
        </p:txBody>
      </p:sp>
      <p:sp>
        <p:nvSpPr>
          <p:cNvPr id="15" name="Text 13"/>
          <p:cNvSpPr/>
          <p:nvPr/>
        </p:nvSpPr>
        <p:spPr>
          <a:xfrm>
            <a:off x="9486900" y="4495800"/>
            <a:ext cx="4086225" cy="393700"/>
          </a:xfrm>
          <a:prstGeom prst="rect">
            <a:avLst/>
          </a:prstGeom>
          <a:noFill/>
          <a:ln/>
        </p:spPr>
        <p:txBody>
          <a:bodyPr wrap="square" lIns="25400" tIns="25400" rIns="25400" bIns="25400" rtlCol="0" anchor="t">
            <a:normAutofit/>
          </a:bodyPr>
          <a:lstStyle/>
          <a:p>
            <a:pPr marL="0" indent="0" algn="l">
              <a:buNone/>
            </a:pPr>
            <a:r>
              <a:rPr lang="es-CO" sz="2100" b="1" noProof="0" dirty="0" err="1">
                <a:solidFill>
                  <a:srgbClr val="3D3D3D"/>
                </a:solidFill>
                <a:latin typeface="Segoe UI" pitchFamily="34" charset="0"/>
                <a:ea typeface="Segoe UI" pitchFamily="34" charset="-122"/>
                <a:cs typeface="Segoe UI" pitchFamily="34" charset="-120"/>
              </a:rPr>
              <a:t>graphics</a:t>
            </a:r>
            <a:r>
              <a:rPr lang="es-CO" sz="2100" b="1" noProof="0" dirty="0">
                <a:solidFill>
                  <a:srgbClr val="3D3D3D"/>
                </a:solidFill>
                <a:latin typeface="Segoe UI" pitchFamily="34" charset="0"/>
                <a:ea typeface="Segoe UI" pitchFamily="34" charset="-122"/>
                <a:cs typeface="Segoe UI" pitchFamily="34" charset="-120"/>
              </a:rPr>
              <a:t> (R base)</a:t>
            </a:r>
            <a:endParaRPr lang="es-CO" sz="2100" noProof="0" dirty="0"/>
          </a:p>
        </p:txBody>
      </p:sp>
      <p:sp>
        <p:nvSpPr>
          <p:cNvPr id="16" name="Text 14"/>
          <p:cNvSpPr/>
          <p:nvPr/>
        </p:nvSpPr>
        <p:spPr>
          <a:xfrm>
            <a:off x="9486900" y="4965700"/>
            <a:ext cx="3826193" cy="638175"/>
          </a:xfrm>
          <a:prstGeom prst="rect">
            <a:avLst/>
          </a:prstGeom>
          <a:noFill/>
          <a:ln/>
        </p:spPr>
        <p:txBody>
          <a:bodyPr wrap="square" lIns="25400" tIns="25400" rIns="25400" bIns="25400" rtlCol="0" anchor="t">
            <a:normAutofit/>
          </a:bodyPr>
          <a:lstStyle/>
          <a:p>
            <a:pPr marL="0" indent="0" algn="l">
              <a:lnSpc>
                <a:spcPct val="112500"/>
              </a:lnSpc>
              <a:buNone/>
            </a:pPr>
            <a:r>
              <a:rPr lang="es-CO" sz="1575" noProof="0" dirty="0">
                <a:solidFill>
                  <a:srgbClr val="6F6F6F"/>
                </a:solidFill>
                <a:latin typeface="Segoe UI" pitchFamily="34" charset="0"/>
                <a:ea typeface="Segoe UI" pitchFamily="34" charset="-122"/>
                <a:cs typeface="Segoe UI" pitchFamily="34" charset="-120"/>
              </a:rPr>
              <a:t>Figuras de diagnóstico, comparación de modelos y resultados a 300 dpi.</a:t>
            </a:r>
            <a:endParaRPr lang="es-CO" sz="1575" noProof="0" dirty="0"/>
          </a:p>
        </p:txBody>
      </p:sp>
      <p:sp>
        <p:nvSpPr>
          <p:cNvPr id="17" name="Shape 15"/>
          <p:cNvSpPr/>
          <p:nvPr/>
        </p:nvSpPr>
        <p:spPr>
          <a:xfrm>
            <a:off x="13144500" y="3429000"/>
            <a:ext cx="4188157" cy="4495800"/>
          </a:xfrm>
          <a:prstGeom prst="roundRect">
            <a:avLst>
              <a:gd name="adj" fmla="val 5932"/>
            </a:avLst>
          </a:prstGeom>
          <a:solidFill>
            <a:schemeClr val="accent3">
              <a:lumMod val="20000"/>
              <a:lumOff val="80000"/>
            </a:schemeClr>
          </a:solidFill>
          <a:ln/>
        </p:spPr>
        <p:txBody>
          <a:bodyPr/>
          <a:lstStyle/>
          <a:p>
            <a:endParaRPr lang="es-CO" noProof="0" dirty="0"/>
          </a:p>
        </p:txBody>
      </p:sp>
      <p:sp>
        <p:nvSpPr>
          <p:cNvPr id="18" name="Shape 16"/>
          <p:cNvSpPr/>
          <p:nvPr/>
        </p:nvSpPr>
        <p:spPr>
          <a:xfrm>
            <a:off x="13487400" y="3771900"/>
            <a:ext cx="495300" cy="495300"/>
          </a:xfrm>
          <a:prstGeom prst="roundRect">
            <a:avLst>
              <a:gd name="adj" fmla="val 30769"/>
            </a:avLst>
          </a:prstGeom>
          <a:solidFill>
            <a:srgbClr val="DDF28A"/>
          </a:solidFill>
          <a:ln/>
        </p:spPr>
        <p:txBody>
          <a:bodyPr/>
          <a:lstStyle/>
          <a:p>
            <a:endParaRPr lang="es-CO" noProof="0" dirty="0"/>
          </a:p>
        </p:txBody>
      </p:sp>
      <p:sp>
        <p:nvSpPr>
          <p:cNvPr id="19" name="Text 17"/>
          <p:cNvSpPr/>
          <p:nvPr/>
        </p:nvSpPr>
        <p:spPr>
          <a:xfrm>
            <a:off x="13487400" y="4495800"/>
            <a:ext cx="4400550" cy="393700"/>
          </a:xfrm>
          <a:prstGeom prst="rect">
            <a:avLst/>
          </a:prstGeom>
          <a:noFill/>
          <a:ln/>
        </p:spPr>
        <p:txBody>
          <a:bodyPr wrap="square" lIns="25400" tIns="25400" rIns="25400" bIns="25400" rtlCol="0" anchor="t">
            <a:normAutofit/>
          </a:bodyPr>
          <a:lstStyle/>
          <a:p>
            <a:pPr marL="0" indent="0" algn="l">
              <a:buNone/>
            </a:pPr>
            <a:r>
              <a:rPr lang="es-CO" sz="2100" b="1" noProof="0" dirty="0" err="1">
                <a:solidFill>
                  <a:srgbClr val="3D3D3D"/>
                </a:solidFill>
                <a:latin typeface="Segoe UI" pitchFamily="34" charset="0"/>
                <a:ea typeface="Segoe UI" pitchFamily="34" charset="-122"/>
                <a:cs typeface="Segoe UI" pitchFamily="34" charset="-120"/>
              </a:rPr>
              <a:t>rpart.plot</a:t>
            </a:r>
            <a:endParaRPr lang="es-CO" sz="2100" noProof="0" dirty="0"/>
          </a:p>
        </p:txBody>
      </p:sp>
      <p:sp>
        <p:nvSpPr>
          <p:cNvPr id="20" name="Text 18"/>
          <p:cNvSpPr/>
          <p:nvPr/>
        </p:nvSpPr>
        <p:spPr>
          <a:xfrm>
            <a:off x="13487401" y="4965700"/>
            <a:ext cx="3238500" cy="638175"/>
          </a:xfrm>
          <a:prstGeom prst="rect">
            <a:avLst/>
          </a:prstGeom>
          <a:noFill/>
          <a:ln/>
        </p:spPr>
        <p:txBody>
          <a:bodyPr wrap="square" lIns="25400" tIns="25400" rIns="25400" bIns="25400" rtlCol="0" anchor="t">
            <a:normAutofit/>
          </a:bodyPr>
          <a:lstStyle/>
          <a:p>
            <a:pPr marL="0" indent="0" algn="l">
              <a:lnSpc>
                <a:spcPct val="112500"/>
              </a:lnSpc>
              <a:buNone/>
            </a:pPr>
            <a:r>
              <a:rPr lang="es-CO" sz="1575" noProof="0" dirty="0">
                <a:solidFill>
                  <a:srgbClr val="6F6F6F"/>
                </a:solidFill>
                <a:latin typeface="Segoe UI" pitchFamily="34" charset="0"/>
                <a:ea typeface="Segoe UI" pitchFamily="34" charset="-122"/>
                <a:cs typeface="Segoe UI" pitchFamily="34" charset="-120"/>
              </a:rPr>
              <a:t>Visualización del árbol de decisión podado.</a:t>
            </a:r>
            <a:endParaRPr lang="es-CO" sz="1575" noProof="0" dirty="0"/>
          </a:p>
        </p:txBody>
      </p:sp>
      <p:sp>
        <p:nvSpPr>
          <p:cNvPr id="21" name="Text 19"/>
          <p:cNvSpPr/>
          <p:nvPr/>
        </p:nvSpPr>
        <p:spPr>
          <a:xfrm>
            <a:off x="1143000" y="9525000"/>
            <a:ext cx="5412720" cy="266700"/>
          </a:xfrm>
          <a:prstGeom prst="rect">
            <a:avLst/>
          </a:prstGeom>
          <a:noFill/>
          <a:ln/>
        </p:spPr>
        <p:txBody>
          <a:bodyPr wrap="square" lIns="25400" tIns="25400" rIns="25400" bIns="25400" rtlCol="0" anchor="t">
            <a:normAutofit/>
          </a:bodyPr>
          <a:lstStyle/>
          <a:p>
            <a:pPr marL="0" indent="0" algn="l">
              <a:buNone/>
            </a:pPr>
            <a:r>
              <a:rPr lang="es-CO" sz="1350" noProof="0" dirty="0">
                <a:solidFill>
                  <a:srgbClr val="6F6F6F"/>
                </a:solidFill>
                <a:latin typeface="Segoe UI" pitchFamily="34" charset="0"/>
                <a:ea typeface="Segoe UI" pitchFamily="34" charset="-122"/>
                <a:cs typeface="Segoe UI" pitchFamily="34" charset="-120"/>
              </a:rPr>
              <a:t>UTS · Cartilla de aprendizaje — Gestión Inteligente de Inventarios</a:t>
            </a:r>
            <a:endParaRPr lang="es-CO" sz="1350" noProof="0" dirty="0"/>
          </a:p>
        </p:txBody>
      </p:sp>
      <p:sp>
        <p:nvSpPr>
          <p:cNvPr id="22" name="Shape 20"/>
          <p:cNvSpPr/>
          <p:nvPr/>
        </p:nvSpPr>
        <p:spPr>
          <a:xfrm>
            <a:off x="16725900" y="9410700"/>
            <a:ext cx="419100" cy="419100"/>
          </a:xfrm>
          <a:prstGeom prst="ellipse">
            <a:avLst/>
          </a:prstGeom>
          <a:solidFill>
            <a:srgbClr val="7E2C8C"/>
          </a:solidFill>
          <a:ln/>
        </p:spPr>
        <p:txBody>
          <a:bodyPr/>
          <a:lstStyle/>
          <a:p>
            <a:endParaRPr lang="es-CO" noProof="0" dirty="0"/>
          </a:p>
        </p:txBody>
      </p:sp>
      <p:sp>
        <p:nvSpPr>
          <p:cNvPr id="23" name="Text 21"/>
          <p:cNvSpPr/>
          <p:nvPr/>
        </p:nvSpPr>
        <p:spPr>
          <a:xfrm>
            <a:off x="16687800" y="9410700"/>
            <a:ext cx="495300" cy="457200"/>
          </a:xfrm>
          <a:prstGeom prst="rect">
            <a:avLst/>
          </a:prstGeom>
          <a:noFill/>
          <a:ln/>
        </p:spPr>
        <p:txBody>
          <a:bodyPr wrap="square" lIns="25400" tIns="25400" rIns="25400" bIns="25400" rtlCol="0" anchor="ctr">
            <a:normAutofit/>
          </a:bodyPr>
          <a:lstStyle/>
          <a:p>
            <a:pPr marL="0" indent="0" algn="ctr">
              <a:buNone/>
            </a:pPr>
            <a:r>
              <a:rPr lang="es-CO" sz="1500" b="1" noProof="0" dirty="0">
                <a:solidFill>
                  <a:srgbClr val="FFFFFF"/>
                </a:solidFill>
                <a:latin typeface="Segoe UI" pitchFamily="34" charset="0"/>
                <a:cs typeface="Segoe UI" pitchFamily="34" charset="-120"/>
              </a:rPr>
              <a:t>29</a:t>
            </a:r>
            <a:endParaRPr lang="es-CO" sz="1500" noProof="0" dirty="0"/>
          </a:p>
        </p:txBody>
      </p:sp>
      <p:sp>
        <p:nvSpPr>
          <p:cNvPr id="25" name="Shape 0">
            <a:extLst>
              <a:ext uri="{FF2B5EF4-FFF2-40B4-BE49-F238E27FC236}">
                <a16:creationId xmlns:a16="http://schemas.microsoft.com/office/drawing/2014/main" id="{09240204-99B5-C5EC-F0BD-93917863C8F0}"/>
              </a:ext>
            </a:extLst>
          </p:cNvPr>
          <p:cNvSpPr/>
          <p:nvPr/>
        </p:nvSpPr>
        <p:spPr>
          <a:xfrm>
            <a:off x="1143000" y="838200"/>
            <a:ext cx="3290788" cy="419100"/>
          </a:xfrm>
          <a:prstGeom prst="roundRect">
            <a:avLst>
              <a:gd name="adj" fmla="val 50000"/>
            </a:avLst>
          </a:prstGeom>
          <a:solidFill>
            <a:srgbClr val="FFFFFF"/>
          </a:solidFill>
          <a:ln/>
        </p:spPr>
        <p:txBody>
          <a:bodyPr/>
          <a:lstStyle/>
          <a:p>
            <a:endParaRPr lang="es-CO" noProof="0" dirty="0"/>
          </a:p>
        </p:txBody>
      </p:sp>
      <p:sp>
        <p:nvSpPr>
          <p:cNvPr id="27" name="Text 1">
            <a:extLst>
              <a:ext uri="{FF2B5EF4-FFF2-40B4-BE49-F238E27FC236}">
                <a16:creationId xmlns:a16="http://schemas.microsoft.com/office/drawing/2014/main" id="{780B8203-BD7B-0311-A753-46F0D9B04304}"/>
              </a:ext>
            </a:extLst>
          </p:cNvPr>
          <p:cNvSpPr/>
          <p:nvPr/>
        </p:nvSpPr>
        <p:spPr>
          <a:xfrm>
            <a:off x="1352550" y="857250"/>
            <a:ext cx="3081238" cy="381000"/>
          </a:xfrm>
          <a:prstGeom prst="rect">
            <a:avLst/>
          </a:prstGeom>
          <a:noFill/>
          <a:ln/>
        </p:spPr>
        <p:txBody>
          <a:bodyPr wrap="square" lIns="25400" tIns="25400" rIns="25400" bIns="25400" rtlCol="0" anchor="ctr">
            <a:normAutofit/>
          </a:bodyPr>
          <a:lstStyle/>
          <a:p>
            <a:pPr marL="0" indent="0" algn="l">
              <a:buNone/>
            </a:pPr>
            <a:r>
              <a:rPr lang="es-CO" sz="1350" b="1" kern="0" spc="81" noProof="0" dirty="0">
                <a:solidFill>
                  <a:srgbClr val="7E2C8C"/>
                </a:solidFill>
                <a:latin typeface="Segoe UI" pitchFamily="34" charset="0"/>
                <a:ea typeface="Segoe UI" pitchFamily="34" charset="-122"/>
                <a:cs typeface="Segoe UI" pitchFamily="34" charset="-120"/>
              </a:rPr>
              <a:t>FASE 6 SÍNTESIS DEL MÓDULO</a:t>
            </a:r>
            <a:endParaRPr lang="es-CO" sz="1350" noProof="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1143000" y="1619250"/>
            <a:ext cx="13620750" cy="698500"/>
          </a:xfrm>
          <a:prstGeom prst="rect">
            <a:avLst/>
          </a:prstGeom>
          <a:noFill/>
          <a:ln/>
        </p:spPr>
        <p:txBody>
          <a:bodyPr wrap="square" lIns="25400" tIns="25400" rIns="25400" bIns="25400" rtlCol="0" anchor="t">
            <a:normAutofit/>
          </a:bodyPr>
          <a:lstStyle/>
          <a:p>
            <a:pPr marL="0" indent="0" algn="l">
              <a:buNone/>
            </a:pPr>
            <a:r>
              <a:rPr lang="es-CO" sz="3900" b="1" noProof="0" dirty="0">
                <a:solidFill>
                  <a:srgbClr val="3D3D3D"/>
                </a:solidFill>
                <a:latin typeface="Segoe UI" pitchFamily="34" charset="0"/>
                <a:ea typeface="Segoe UI" pitchFamily="34" charset="-122"/>
                <a:cs typeface="Segoe UI" pitchFamily="34" charset="-120"/>
              </a:rPr>
              <a:t>Ciclo de mejora del modelo predictivo</a:t>
            </a:r>
            <a:endParaRPr lang="es-CO" sz="3900" noProof="0" dirty="0"/>
          </a:p>
        </p:txBody>
      </p:sp>
      <p:sp>
        <p:nvSpPr>
          <p:cNvPr id="5" name="Shape 3"/>
          <p:cNvSpPr/>
          <p:nvPr/>
        </p:nvSpPr>
        <p:spPr>
          <a:xfrm>
            <a:off x="6286500" y="3524250"/>
            <a:ext cx="5765800" cy="5765800"/>
          </a:xfrm>
          <a:prstGeom prst="ellipse">
            <a:avLst/>
          </a:prstGeom>
          <a:ln w="25400">
            <a:solidFill>
              <a:srgbClr val="A867B5"/>
            </a:solidFill>
            <a:prstDash val="dash"/>
          </a:ln>
        </p:spPr>
        <p:txBody>
          <a:bodyPr/>
          <a:lstStyle/>
          <a:p>
            <a:endParaRPr lang="es-CO" noProof="0" dirty="0"/>
          </a:p>
        </p:txBody>
      </p:sp>
      <p:sp>
        <p:nvSpPr>
          <p:cNvPr id="6" name="Shape 4"/>
          <p:cNvSpPr/>
          <p:nvPr/>
        </p:nvSpPr>
        <p:spPr>
          <a:xfrm>
            <a:off x="8191500" y="2730500"/>
            <a:ext cx="2286000" cy="2286000"/>
          </a:xfrm>
          <a:prstGeom prst="roundRect">
            <a:avLst>
              <a:gd name="adj" fmla="val 15000"/>
            </a:avLst>
          </a:prstGeom>
          <a:solidFill>
            <a:srgbClr val="B7D81A"/>
          </a:solidFill>
          <a:ln/>
        </p:spPr>
        <p:txBody>
          <a:bodyPr/>
          <a:lstStyle/>
          <a:p>
            <a:endParaRPr lang="es-CO" noProof="0" dirty="0"/>
          </a:p>
        </p:txBody>
      </p:sp>
      <p:sp>
        <p:nvSpPr>
          <p:cNvPr id="7" name="Text 5"/>
          <p:cNvSpPr/>
          <p:nvPr/>
        </p:nvSpPr>
        <p:spPr>
          <a:xfrm>
            <a:off x="8343900" y="2876401"/>
            <a:ext cx="1981200" cy="1943100"/>
          </a:xfrm>
          <a:prstGeom prst="rect">
            <a:avLst/>
          </a:prstGeom>
          <a:noFill/>
          <a:ln/>
        </p:spPr>
        <p:txBody>
          <a:bodyPr wrap="square" lIns="25400" tIns="25400" rIns="25400" bIns="25400" rtlCol="0" anchor="ctr">
            <a:normAutofit/>
          </a:bodyPr>
          <a:lstStyle/>
          <a:p>
            <a:pPr marL="0" indent="0" algn="ctr">
              <a:buNone/>
            </a:pPr>
            <a:r>
              <a:rPr lang="es-CO" sz="1800" b="1" noProof="0" dirty="0">
                <a:solidFill>
                  <a:srgbClr val="3D3D3D"/>
                </a:solidFill>
                <a:latin typeface="Segoe UI" pitchFamily="34" charset="0"/>
                <a:ea typeface="Segoe UI" pitchFamily="34" charset="-122"/>
                <a:cs typeface="Segoe UI" pitchFamily="34" charset="-120"/>
              </a:rPr>
              <a:t>Simular datos</a:t>
            </a:r>
            <a:endParaRPr lang="es-CO" sz="1800" noProof="0" dirty="0"/>
          </a:p>
        </p:txBody>
      </p:sp>
      <p:sp>
        <p:nvSpPr>
          <p:cNvPr id="8" name="Shape 6"/>
          <p:cNvSpPr/>
          <p:nvPr/>
        </p:nvSpPr>
        <p:spPr>
          <a:xfrm>
            <a:off x="11049000" y="5429250"/>
            <a:ext cx="2286000" cy="2286000"/>
          </a:xfrm>
          <a:prstGeom prst="roundRect">
            <a:avLst>
              <a:gd name="adj" fmla="val 15000"/>
            </a:avLst>
          </a:prstGeom>
          <a:solidFill>
            <a:srgbClr val="7E2C8C"/>
          </a:solidFill>
          <a:ln/>
        </p:spPr>
        <p:txBody>
          <a:bodyPr/>
          <a:lstStyle/>
          <a:p>
            <a:endParaRPr lang="es-CO" noProof="0" dirty="0"/>
          </a:p>
        </p:txBody>
      </p:sp>
      <p:sp>
        <p:nvSpPr>
          <p:cNvPr id="9" name="Text 7"/>
          <p:cNvSpPr/>
          <p:nvPr/>
        </p:nvSpPr>
        <p:spPr>
          <a:xfrm>
            <a:off x="11201400" y="5619750"/>
            <a:ext cx="1981200" cy="1943100"/>
          </a:xfrm>
          <a:prstGeom prst="rect">
            <a:avLst/>
          </a:prstGeom>
          <a:noFill/>
          <a:ln/>
        </p:spPr>
        <p:txBody>
          <a:bodyPr wrap="square" lIns="25400" tIns="25400" rIns="25400" bIns="25400" rtlCol="0" anchor="ctr">
            <a:normAutofit/>
          </a:bodyPr>
          <a:lstStyle/>
          <a:p>
            <a:pPr marL="0" indent="0" algn="ctr">
              <a:buNone/>
            </a:pPr>
            <a:r>
              <a:rPr lang="es-CO" sz="1800" b="1" noProof="0" dirty="0">
                <a:solidFill>
                  <a:srgbClr val="FFFFFF"/>
                </a:solidFill>
                <a:latin typeface="Segoe UI" pitchFamily="34" charset="0"/>
                <a:ea typeface="Segoe UI" pitchFamily="34" charset="-122"/>
                <a:cs typeface="Segoe UI" pitchFamily="34" charset="-120"/>
              </a:rPr>
              <a:t>Entrenar modelo</a:t>
            </a:r>
            <a:endParaRPr lang="es-CO" sz="1800" noProof="0" dirty="0"/>
          </a:p>
        </p:txBody>
      </p:sp>
      <p:sp>
        <p:nvSpPr>
          <p:cNvPr id="10" name="Shape 8"/>
          <p:cNvSpPr/>
          <p:nvPr/>
        </p:nvSpPr>
        <p:spPr>
          <a:xfrm>
            <a:off x="8191500" y="7334250"/>
            <a:ext cx="2286000" cy="2286000"/>
          </a:xfrm>
          <a:prstGeom prst="roundRect">
            <a:avLst>
              <a:gd name="adj" fmla="val 15000"/>
            </a:avLst>
          </a:prstGeom>
          <a:solidFill>
            <a:srgbClr val="A867B5"/>
          </a:solidFill>
          <a:ln/>
        </p:spPr>
        <p:txBody>
          <a:bodyPr/>
          <a:lstStyle/>
          <a:p>
            <a:endParaRPr lang="es-CO" noProof="0" dirty="0"/>
          </a:p>
        </p:txBody>
      </p:sp>
      <p:sp>
        <p:nvSpPr>
          <p:cNvPr id="11" name="Text 9"/>
          <p:cNvSpPr/>
          <p:nvPr/>
        </p:nvSpPr>
        <p:spPr>
          <a:xfrm>
            <a:off x="8343900" y="7524750"/>
            <a:ext cx="1981200" cy="1943100"/>
          </a:xfrm>
          <a:prstGeom prst="rect">
            <a:avLst/>
          </a:prstGeom>
          <a:noFill/>
          <a:ln/>
        </p:spPr>
        <p:txBody>
          <a:bodyPr wrap="square" lIns="25400" tIns="25400" rIns="25400" bIns="25400" rtlCol="0" anchor="ctr">
            <a:normAutofit/>
          </a:bodyPr>
          <a:lstStyle/>
          <a:p>
            <a:pPr marL="0" indent="0" algn="ctr">
              <a:buNone/>
            </a:pPr>
            <a:r>
              <a:rPr lang="es-CO" sz="1800" b="1" noProof="0" dirty="0">
                <a:solidFill>
                  <a:srgbClr val="FFFFFF"/>
                </a:solidFill>
                <a:latin typeface="Segoe UI" pitchFamily="34" charset="0"/>
                <a:ea typeface="Segoe UI" pitchFamily="34" charset="-122"/>
                <a:cs typeface="Segoe UI" pitchFamily="34" charset="-120"/>
              </a:rPr>
              <a:t>Validar resultados</a:t>
            </a:r>
            <a:endParaRPr lang="es-CO" sz="1800" noProof="0" dirty="0"/>
          </a:p>
        </p:txBody>
      </p:sp>
      <p:sp>
        <p:nvSpPr>
          <p:cNvPr id="12" name="Shape 10"/>
          <p:cNvSpPr/>
          <p:nvPr/>
        </p:nvSpPr>
        <p:spPr>
          <a:xfrm>
            <a:off x="5334000" y="5429250"/>
            <a:ext cx="2286000" cy="2286000"/>
          </a:xfrm>
          <a:prstGeom prst="roundRect">
            <a:avLst>
              <a:gd name="adj" fmla="val 15000"/>
            </a:avLst>
          </a:prstGeom>
          <a:solidFill>
            <a:srgbClr val="DDF28A"/>
          </a:solidFill>
          <a:ln/>
        </p:spPr>
        <p:txBody>
          <a:bodyPr/>
          <a:lstStyle/>
          <a:p>
            <a:endParaRPr lang="es-CO" noProof="0" dirty="0"/>
          </a:p>
        </p:txBody>
      </p:sp>
      <p:sp>
        <p:nvSpPr>
          <p:cNvPr id="13" name="Text 11"/>
          <p:cNvSpPr/>
          <p:nvPr/>
        </p:nvSpPr>
        <p:spPr>
          <a:xfrm>
            <a:off x="5486400" y="5619750"/>
            <a:ext cx="1981200" cy="1943100"/>
          </a:xfrm>
          <a:prstGeom prst="rect">
            <a:avLst/>
          </a:prstGeom>
          <a:noFill/>
          <a:ln/>
        </p:spPr>
        <p:txBody>
          <a:bodyPr wrap="square" lIns="25400" tIns="25400" rIns="25400" bIns="25400" rtlCol="0" anchor="ctr">
            <a:normAutofit/>
          </a:bodyPr>
          <a:lstStyle/>
          <a:p>
            <a:pPr marL="0" indent="0" algn="ctr">
              <a:buNone/>
            </a:pPr>
            <a:r>
              <a:rPr lang="es-CO" sz="1800" b="1" noProof="0" dirty="0">
                <a:solidFill>
                  <a:srgbClr val="3D3D3D"/>
                </a:solidFill>
                <a:latin typeface="Segoe UI" pitchFamily="34" charset="0"/>
                <a:ea typeface="Segoe UI" pitchFamily="34" charset="-122"/>
                <a:cs typeface="Segoe UI" pitchFamily="34" charset="-120"/>
              </a:rPr>
              <a:t>Ajustar parámetros</a:t>
            </a:r>
            <a:endParaRPr lang="es-CO" sz="1800" noProof="0" dirty="0"/>
          </a:p>
        </p:txBody>
      </p:sp>
      <p:sp>
        <p:nvSpPr>
          <p:cNvPr id="14" name="Text 12"/>
          <p:cNvSpPr/>
          <p:nvPr/>
        </p:nvSpPr>
        <p:spPr>
          <a:xfrm>
            <a:off x="1143000" y="3810000"/>
            <a:ext cx="4120515" cy="2019002"/>
          </a:xfrm>
          <a:prstGeom prst="rect">
            <a:avLst/>
          </a:prstGeom>
          <a:noFill/>
          <a:ln/>
        </p:spPr>
        <p:txBody>
          <a:bodyPr wrap="square" lIns="25400" tIns="25400" rIns="25400" bIns="25400" rtlCol="0" anchor="t">
            <a:normAutofit/>
          </a:bodyPr>
          <a:lstStyle/>
          <a:p>
            <a:pPr marL="0" indent="0" algn="l">
              <a:lnSpc>
                <a:spcPct val="120000"/>
              </a:lnSpc>
              <a:buNone/>
            </a:pPr>
            <a:r>
              <a:rPr lang="es-CO" sz="1950" noProof="0" dirty="0">
                <a:solidFill>
                  <a:srgbClr val="3D3D3D"/>
                </a:solidFill>
                <a:latin typeface="Segoe UI" pitchFamily="34" charset="0"/>
                <a:ea typeface="Segoe UI" pitchFamily="34" charset="-122"/>
                <a:cs typeface="Segoe UI" pitchFamily="34" charset="-120"/>
              </a:rPr>
              <a:t>El modelo se refina de forma iterativa: cada validación aporta información para ajustar parámetros y volver a entrenar con datos actualizados.</a:t>
            </a:r>
            <a:endParaRPr lang="es-CO" sz="1950" noProof="0" dirty="0"/>
          </a:p>
        </p:txBody>
      </p:sp>
      <p:sp>
        <p:nvSpPr>
          <p:cNvPr id="15" name="Text 13"/>
          <p:cNvSpPr/>
          <p:nvPr/>
        </p:nvSpPr>
        <p:spPr>
          <a:xfrm>
            <a:off x="1143000" y="9525000"/>
            <a:ext cx="5412720" cy="266700"/>
          </a:xfrm>
          <a:prstGeom prst="rect">
            <a:avLst/>
          </a:prstGeom>
          <a:noFill/>
          <a:ln/>
        </p:spPr>
        <p:txBody>
          <a:bodyPr wrap="square" lIns="25400" tIns="25400" rIns="25400" bIns="25400" rtlCol="0" anchor="t">
            <a:normAutofit/>
          </a:bodyPr>
          <a:lstStyle/>
          <a:p>
            <a:pPr marL="0" indent="0" algn="l">
              <a:buNone/>
            </a:pPr>
            <a:r>
              <a:rPr lang="es-CO" sz="1350" noProof="0" dirty="0">
                <a:solidFill>
                  <a:srgbClr val="6F6F6F"/>
                </a:solidFill>
                <a:latin typeface="Segoe UI" pitchFamily="34" charset="0"/>
                <a:ea typeface="Segoe UI" pitchFamily="34" charset="-122"/>
                <a:cs typeface="Segoe UI" pitchFamily="34" charset="-120"/>
              </a:rPr>
              <a:t>UTS · Cartilla de aprendizaje — Gestión Inteligente de Inventarios</a:t>
            </a:r>
            <a:endParaRPr lang="es-CO" sz="1350" noProof="0" dirty="0"/>
          </a:p>
        </p:txBody>
      </p:sp>
      <p:sp>
        <p:nvSpPr>
          <p:cNvPr id="16" name="Shape 14"/>
          <p:cNvSpPr/>
          <p:nvPr/>
        </p:nvSpPr>
        <p:spPr>
          <a:xfrm>
            <a:off x="16725900" y="9410700"/>
            <a:ext cx="419100" cy="419100"/>
          </a:xfrm>
          <a:prstGeom prst="ellipse">
            <a:avLst/>
          </a:prstGeom>
          <a:solidFill>
            <a:srgbClr val="7E2C8C"/>
          </a:solidFill>
          <a:ln/>
        </p:spPr>
        <p:txBody>
          <a:bodyPr/>
          <a:lstStyle/>
          <a:p>
            <a:endParaRPr lang="es-CO" noProof="0" dirty="0"/>
          </a:p>
        </p:txBody>
      </p:sp>
      <p:sp>
        <p:nvSpPr>
          <p:cNvPr id="17" name="Text 15"/>
          <p:cNvSpPr/>
          <p:nvPr/>
        </p:nvSpPr>
        <p:spPr>
          <a:xfrm>
            <a:off x="16687800" y="9410700"/>
            <a:ext cx="495300" cy="457200"/>
          </a:xfrm>
          <a:prstGeom prst="rect">
            <a:avLst/>
          </a:prstGeom>
          <a:noFill/>
          <a:ln/>
        </p:spPr>
        <p:txBody>
          <a:bodyPr wrap="square" lIns="25400" tIns="25400" rIns="25400" bIns="25400" rtlCol="0" anchor="ctr">
            <a:normAutofit/>
          </a:bodyPr>
          <a:lstStyle/>
          <a:p>
            <a:pPr marL="0" indent="0" algn="ctr">
              <a:buNone/>
            </a:pPr>
            <a:r>
              <a:rPr lang="es-CO" sz="1500" b="1" noProof="0" dirty="0">
                <a:solidFill>
                  <a:srgbClr val="FFFFFF"/>
                </a:solidFill>
                <a:latin typeface="Segoe UI" pitchFamily="34" charset="0"/>
                <a:cs typeface="Segoe UI" pitchFamily="34" charset="-120"/>
              </a:rPr>
              <a:t>30</a:t>
            </a:r>
            <a:endParaRPr lang="es-CO" sz="1500" noProof="0" dirty="0"/>
          </a:p>
        </p:txBody>
      </p:sp>
      <p:sp>
        <p:nvSpPr>
          <p:cNvPr id="19" name="Shape 0">
            <a:extLst>
              <a:ext uri="{FF2B5EF4-FFF2-40B4-BE49-F238E27FC236}">
                <a16:creationId xmlns:a16="http://schemas.microsoft.com/office/drawing/2014/main" id="{C4F6A59A-5437-DA29-6DF8-C19002B800F2}"/>
              </a:ext>
            </a:extLst>
          </p:cNvPr>
          <p:cNvSpPr/>
          <p:nvPr/>
        </p:nvSpPr>
        <p:spPr>
          <a:xfrm>
            <a:off x="1143000" y="838200"/>
            <a:ext cx="3290788" cy="419100"/>
          </a:xfrm>
          <a:prstGeom prst="roundRect">
            <a:avLst>
              <a:gd name="adj" fmla="val 50000"/>
            </a:avLst>
          </a:prstGeom>
          <a:solidFill>
            <a:srgbClr val="FFFFFF"/>
          </a:solidFill>
          <a:ln/>
        </p:spPr>
        <p:txBody>
          <a:bodyPr/>
          <a:lstStyle/>
          <a:p>
            <a:endParaRPr lang="es-CO" noProof="0" dirty="0"/>
          </a:p>
        </p:txBody>
      </p:sp>
      <p:sp>
        <p:nvSpPr>
          <p:cNvPr id="21" name="Text 1">
            <a:extLst>
              <a:ext uri="{FF2B5EF4-FFF2-40B4-BE49-F238E27FC236}">
                <a16:creationId xmlns:a16="http://schemas.microsoft.com/office/drawing/2014/main" id="{824745EE-AEB0-BEA6-BC8B-1E885965360A}"/>
              </a:ext>
            </a:extLst>
          </p:cNvPr>
          <p:cNvSpPr/>
          <p:nvPr/>
        </p:nvSpPr>
        <p:spPr>
          <a:xfrm>
            <a:off x="1352550" y="857250"/>
            <a:ext cx="3081238" cy="381000"/>
          </a:xfrm>
          <a:prstGeom prst="rect">
            <a:avLst/>
          </a:prstGeom>
          <a:noFill/>
          <a:ln/>
        </p:spPr>
        <p:txBody>
          <a:bodyPr wrap="square" lIns="25400" tIns="25400" rIns="25400" bIns="25400" rtlCol="0" anchor="ctr">
            <a:normAutofit/>
          </a:bodyPr>
          <a:lstStyle/>
          <a:p>
            <a:pPr marL="0" indent="0" algn="l">
              <a:buNone/>
            </a:pPr>
            <a:r>
              <a:rPr lang="es-CO" sz="1350" b="1" kern="0" spc="81" noProof="0" dirty="0">
                <a:solidFill>
                  <a:srgbClr val="7E2C8C"/>
                </a:solidFill>
                <a:latin typeface="Segoe UI" pitchFamily="34" charset="0"/>
                <a:ea typeface="Segoe UI" pitchFamily="34" charset="-122"/>
                <a:cs typeface="Segoe UI" pitchFamily="34" charset="-120"/>
              </a:rPr>
              <a:t>FASE 6 SÍNTESIS DEL MÓDULO</a:t>
            </a:r>
            <a:endParaRPr lang="es-CO" sz="1350" noProof="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tx1">
            <a:lumMod val="65000"/>
            <a:lumOff val="35000"/>
          </a:schemeClr>
        </a:solidFill>
        <a:effectLst/>
      </p:bgPr>
    </p:bg>
    <p:spTree>
      <p:nvGrpSpPr>
        <p:cNvPr id="1" name=""/>
        <p:cNvGrpSpPr/>
        <p:nvPr/>
      </p:nvGrpSpPr>
      <p:grpSpPr>
        <a:xfrm>
          <a:off x="0" y="0"/>
          <a:ext cx="0" cy="0"/>
          <a:chOff x="0" y="0"/>
          <a:chExt cx="0" cy="0"/>
        </a:xfrm>
      </p:grpSpPr>
      <p:sp>
        <p:nvSpPr>
          <p:cNvPr id="2" name="Shape 0"/>
          <p:cNvSpPr/>
          <p:nvPr/>
        </p:nvSpPr>
        <p:spPr>
          <a:xfrm>
            <a:off x="1143000" y="838200"/>
            <a:ext cx="2341166" cy="419100"/>
          </a:xfrm>
          <a:prstGeom prst="roundRect">
            <a:avLst>
              <a:gd name="adj" fmla="val 50000"/>
            </a:avLst>
          </a:prstGeom>
          <a:solidFill>
            <a:srgbClr val="FFFFFF">
              <a:alpha val="8000"/>
            </a:srgbClr>
          </a:solidFill>
          <a:ln/>
        </p:spPr>
        <p:txBody>
          <a:bodyPr/>
          <a:lstStyle/>
          <a:p>
            <a:endParaRPr lang="es-CO" noProof="0" dirty="0"/>
          </a:p>
        </p:txBody>
      </p:sp>
      <p:sp>
        <p:nvSpPr>
          <p:cNvPr id="3" name="Text 1"/>
          <p:cNvSpPr/>
          <p:nvPr/>
        </p:nvSpPr>
        <p:spPr>
          <a:xfrm>
            <a:off x="1352550" y="933450"/>
            <a:ext cx="1998266" cy="266700"/>
          </a:xfrm>
          <a:prstGeom prst="rect">
            <a:avLst/>
          </a:prstGeom>
          <a:noFill/>
          <a:ln/>
        </p:spPr>
        <p:txBody>
          <a:bodyPr wrap="square" lIns="25400" tIns="25400" rIns="25400" bIns="25400" rtlCol="0" anchor="ctr">
            <a:normAutofit fontScale="92500"/>
          </a:bodyPr>
          <a:lstStyle/>
          <a:p>
            <a:pPr marL="0" indent="0" algn="l">
              <a:buNone/>
            </a:pPr>
            <a:r>
              <a:rPr lang="es-CO" sz="1350" b="1" kern="0" spc="81" noProof="0" dirty="0">
                <a:solidFill>
                  <a:srgbClr val="DDF28A"/>
                </a:solidFill>
                <a:latin typeface="Segoe UI" pitchFamily="34" charset="0"/>
                <a:ea typeface="Segoe UI" pitchFamily="34" charset="-122"/>
                <a:cs typeface="Segoe UI" pitchFamily="34" charset="-120"/>
              </a:rPr>
              <a:t>SÍNTESIS DEL MÓDULO</a:t>
            </a:r>
            <a:endParaRPr lang="es-CO" sz="1350" noProof="0" dirty="0"/>
          </a:p>
        </p:txBody>
      </p:sp>
      <p:sp>
        <p:nvSpPr>
          <p:cNvPr id="4" name="Text 2"/>
          <p:cNvSpPr/>
          <p:nvPr/>
        </p:nvSpPr>
        <p:spPr>
          <a:xfrm>
            <a:off x="1143000" y="1619250"/>
            <a:ext cx="13620750" cy="698500"/>
          </a:xfrm>
          <a:prstGeom prst="rect">
            <a:avLst/>
          </a:prstGeom>
          <a:noFill/>
          <a:ln/>
        </p:spPr>
        <p:txBody>
          <a:bodyPr wrap="square" lIns="25400" tIns="25400" rIns="25400" bIns="25400" rtlCol="0" anchor="t">
            <a:normAutofit/>
          </a:bodyPr>
          <a:lstStyle/>
          <a:p>
            <a:pPr marL="0" indent="0" algn="l">
              <a:buNone/>
            </a:pPr>
            <a:r>
              <a:rPr lang="es-CO" sz="3900" b="1" noProof="0" dirty="0">
                <a:solidFill>
                  <a:srgbClr val="FFFFFF"/>
                </a:solidFill>
                <a:latin typeface="Segoe UI" pitchFamily="34" charset="0"/>
                <a:ea typeface="Segoe UI" pitchFamily="34" charset="-122"/>
                <a:cs typeface="Segoe UI" pitchFamily="34" charset="-120"/>
              </a:rPr>
              <a:t>Recomendaciones metodológicas transversales</a:t>
            </a:r>
            <a:endParaRPr lang="es-CO" sz="3900" noProof="0" dirty="0"/>
          </a:p>
        </p:txBody>
      </p:sp>
      <p:sp>
        <p:nvSpPr>
          <p:cNvPr id="5" name="Shape 3"/>
          <p:cNvSpPr/>
          <p:nvPr/>
        </p:nvSpPr>
        <p:spPr>
          <a:xfrm>
            <a:off x="1143000" y="3429000"/>
            <a:ext cx="457200" cy="457200"/>
          </a:xfrm>
          <a:prstGeom prst="roundRect">
            <a:avLst>
              <a:gd name="adj" fmla="val 29167"/>
            </a:avLst>
          </a:prstGeom>
          <a:solidFill>
            <a:srgbClr val="B7D81A"/>
          </a:solidFill>
          <a:ln/>
        </p:spPr>
        <p:txBody>
          <a:bodyPr/>
          <a:lstStyle/>
          <a:p>
            <a:endParaRPr lang="es-CO" noProof="0" dirty="0"/>
          </a:p>
        </p:txBody>
      </p:sp>
      <p:sp>
        <p:nvSpPr>
          <p:cNvPr id="6" name="Text 4"/>
          <p:cNvSpPr/>
          <p:nvPr/>
        </p:nvSpPr>
        <p:spPr>
          <a:xfrm>
            <a:off x="1828800" y="3429000"/>
            <a:ext cx="16530003" cy="438150"/>
          </a:xfrm>
          <a:prstGeom prst="rect">
            <a:avLst/>
          </a:prstGeom>
          <a:noFill/>
          <a:ln/>
        </p:spPr>
        <p:txBody>
          <a:bodyPr wrap="square" lIns="25400" tIns="25400" rIns="25400" bIns="25400" rtlCol="0" anchor="t">
            <a:normAutofit/>
          </a:bodyPr>
          <a:lstStyle/>
          <a:p>
            <a:pPr marL="0" indent="0" algn="l">
              <a:lnSpc>
                <a:spcPct val="112500"/>
              </a:lnSpc>
              <a:buNone/>
            </a:pPr>
            <a:r>
              <a:rPr lang="es-CO" sz="2100" noProof="0" dirty="0">
                <a:solidFill>
                  <a:srgbClr val="F4FADF"/>
                </a:solidFill>
                <a:latin typeface="Segoe UI" pitchFamily="34" charset="0"/>
                <a:ea typeface="Segoe UI" pitchFamily="34" charset="-122"/>
                <a:cs typeface="Segoe UI" pitchFamily="34" charset="-120"/>
              </a:rPr>
              <a:t>Nunca modele sobre datos sin validar: verifique identidades contables y de política antes de entrenar cualquier modelo.</a:t>
            </a:r>
            <a:endParaRPr lang="es-CO" sz="2100" noProof="0" dirty="0"/>
          </a:p>
        </p:txBody>
      </p:sp>
      <p:sp>
        <p:nvSpPr>
          <p:cNvPr id="7" name="Shape 5"/>
          <p:cNvSpPr/>
          <p:nvPr/>
        </p:nvSpPr>
        <p:spPr>
          <a:xfrm>
            <a:off x="1143000" y="4152900"/>
            <a:ext cx="457200" cy="457200"/>
          </a:xfrm>
          <a:prstGeom prst="roundRect">
            <a:avLst>
              <a:gd name="adj" fmla="val 29167"/>
            </a:avLst>
          </a:prstGeom>
          <a:solidFill>
            <a:srgbClr val="A867B5"/>
          </a:solidFill>
          <a:ln/>
        </p:spPr>
        <p:txBody>
          <a:bodyPr/>
          <a:lstStyle/>
          <a:p>
            <a:endParaRPr lang="es-CO" noProof="0" dirty="0"/>
          </a:p>
        </p:txBody>
      </p:sp>
      <p:sp>
        <p:nvSpPr>
          <p:cNvPr id="8" name="Text 6"/>
          <p:cNvSpPr/>
          <p:nvPr/>
        </p:nvSpPr>
        <p:spPr>
          <a:xfrm>
            <a:off x="1828800" y="4152900"/>
            <a:ext cx="14626045" cy="438150"/>
          </a:xfrm>
          <a:prstGeom prst="rect">
            <a:avLst/>
          </a:prstGeom>
          <a:noFill/>
          <a:ln/>
        </p:spPr>
        <p:txBody>
          <a:bodyPr wrap="square" lIns="25400" tIns="25400" rIns="25400" bIns="25400" rtlCol="0" anchor="t">
            <a:normAutofit fontScale="85000" lnSpcReduction="10000"/>
          </a:bodyPr>
          <a:lstStyle/>
          <a:p>
            <a:pPr marL="0" indent="0" algn="l">
              <a:lnSpc>
                <a:spcPct val="112500"/>
              </a:lnSpc>
              <a:buNone/>
            </a:pPr>
            <a:r>
              <a:rPr lang="es-CO" sz="2100" noProof="0" dirty="0">
                <a:solidFill>
                  <a:srgbClr val="F4FADF"/>
                </a:solidFill>
                <a:latin typeface="Segoe UI" pitchFamily="34" charset="0"/>
                <a:ea typeface="Segoe UI" pitchFamily="34" charset="-122"/>
                <a:cs typeface="Segoe UI" pitchFamily="34" charset="-120"/>
              </a:rPr>
              <a:t>En series de tiempo, particione siempre de forma temporal (</a:t>
            </a:r>
            <a:r>
              <a:rPr lang="es-CO" sz="2100" noProof="0" dirty="0" err="1">
                <a:solidFill>
                  <a:srgbClr val="F4FADF"/>
                </a:solidFill>
                <a:latin typeface="Segoe UI" pitchFamily="34" charset="0"/>
                <a:ea typeface="Segoe UI" pitchFamily="34" charset="-122"/>
                <a:cs typeface="Segoe UI" pitchFamily="34" charset="-120"/>
              </a:rPr>
              <a:t>hold-out</a:t>
            </a:r>
            <a:r>
              <a:rPr lang="es-CO" sz="2100" noProof="0" dirty="0">
                <a:solidFill>
                  <a:srgbClr val="F4FADF"/>
                </a:solidFill>
                <a:latin typeface="Segoe UI" pitchFamily="34" charset="0"/>
                <a:ea typeface="Segoe UI" pitchFamily="34" charset="-122"/>
                <a:cs typeface="Segoe UI" pitchFamily="34" charset="-120"/>
              </a:rPr>
              <a:t> u origen móvil); una partición aleatoria produce fuga de información.</a:t>
            </a:r>
            <a:endParaRPr lang="es-CO" sz="2100" noProof="0" dirty="0"/>
          </a:p>
        </p:txBody>
      </p:sp>
      <p:sp>
        <p:nvSpPr>
          <p:cNvPr id="9" name="Shape 7"/>
          <p:cNvSpPr/>
          <p:nvPr/>
        </p:nvSpPr>
        <p:spPr>
          <a:xfrm>
            <a:off x="1143000" y="4876800"/>
            <a:ext cx="457200" cy="457200"/>
          </a:xfrm>
          <a:prstGeom prst="roundRect">
            <a:avLst>
              <a:gd name="adj" fmla="val 29167"/>
            </a:avLst>
          </a:prstGeom>
          <a:solidFill>
            <a:srgbClr val="DDF28A"/>
          </a:solidFill>
          <a:ln/>
        </p:spPr>
        <p:txBody>
          <a:bodyPr/>
          <a:lstStyle/>
          <a:p>
            <a:endParaRPr lang="es-CO" noProof="0" dirty="0"/>
          </a:p>
        </p:txBody>
      </p:sp>
      <p:sp>
        <p:nvSpPr>
          <p:cNvPr id="10" name="Text 8"/>
          <p:cNvSpPr/>
          <p:nvPr/>
        </p:nvSpPr>
        <p:spPr>
          <a:xfrm>
            <a:off x="1828800" y="4876800"/>
            <a:ext cx="13915540" cy="438150"/>
          </a:xfrm>
          <a:prstGeom prst="rect">
            <a:avLst/>
          </a:prstGeom>
          <a:noFill/>
          <a:ln/>
        </p:spPr>
        <p:txBody>
          <a:bodyPr wrap="square" lIns="25400" tIns="25400" rIns="25400" bIns="25400" rtlCol="0" anchor="t">
            <a:normAutofit fontScale="92500"/>
          </a:bodyPr>
          <a:lstStyle/>
          <a:p>
            <a:pPr marL="0" indent="0" algn="l">
              <a:lnSpc>
                <a:spcPct val="112500"/>
              </a:lnSpc>
              <a:buNone/>
            </a:pPr>
            <a:r>
              <a:rPr lang="es-CO" sz="2100" noProof="0" dirty="0">
                <a:solidFill>
                  <a:srgbClr val="F4FADF"/>
                </a:solidFill>
                <a:latin typeface="Segoe UI" pitchFamily="34" charset="0"/>
                <a:ea typeface="Segoe UI" pitchFamily="34" charset="-122"/>
                <a:cs typeface="Segoe UI" pitchFamily="34" charset="-120"/>
              </a:rPr>
              <a:t>Ante demanda intermitente, use WAPE o MASE en vez de MAPE, y compare siempre contra un modelo de referencia (</a:t>
            </a:r>
            <a:r>
              <a:rPr lang="es-CO" sz="2100" noProof="0" dirty="0" err="1">
                <a:solidFill>
                  <a:srgbClr val="F4FADF"/>
                </a:solidFill>
                <a:latin typeface="Segoe UI" pitchFamily="34" charset="0"/>
                <a:ea typeface="Segoe UI" pitchFamily="34" charset="-122"/>
                <a:cs typeface="Segoe UI" pitchFamily="34" charset="-120"/>
              </a:rPr>
              <a:t>baseline</a:t>
            </a:r>
            <a:r>
              <a:rPr lang="es-CO" sz="2100" noProof="0" dirty="0">
                <a:solidFill>
                  <a:srgbClr val="F4FADF"/>
                </a:solidFill>
                <a:latin typeface="Segoe UI" pitchFamily="34" charset="0"/>
                <a:ea typeface="Segoe UI" pitchFamily="34" charset="-122"/>
                <a:cs typeface="Segoe UI" pitchFamily="34" charset="-120"/>
              </a:rPr>
              <a:t>).</a:t>
            </a:r>
            <a:endParaRPr lang="es-CO" sz="2100" noProof="0" dirty="0"/>
          </a:p>
        </p:txBody>
      </p:sp>
      <p:sp>
        <p:nvSpPr>
          <p:cNvPr id="11" name="Text 9"/>
          <p:cNvSpPr/>
          <p:nvPr/>
        </p:nvSpPr>
        <p:spPr>
          <a:xfrm>
            <a:off x="1143000" y="9525000"/>
            <a:ext cx="5412720" cy="266700"/>
          </a:xfrm>
          <a:prstGeom prst="rect">
            <a:avLst/>
          </a:prstGeom>
          <a:noFill/>
          <a:ln/>
        </p:spPr>
        <p:txBody>
          <a:bodyPr wrap="square" lIns="25400" tIns="25400" rIns="25400" bIns="25400" rtlCol="0" anchor="t">
            <a:normAutofit/>
          </a:bodyPr>
          <a:lstStyle/>
          <a:p>
            <a:pPr marL="0" indent="0" algn="l">
              <a:buNone/>
            </a:pPr>
            <a:r>
              <a:rPr lang="es-CO" sz="1350" noProof="0" dirty="0">
                <a:solidFill>
                  <a:srgbClr val="DDF28A"/>
                </a:solidFill>
                <a:latin typeface="Segoe UI" pitchFamily="34" charset="0"/>
                <a:ea typeface="Segoe UI" pitchFamily="34" charset="-122"/>
                <a:cs typeface="Segoe UI" pitchFamily="34" charset="-120"/>
              </a:rPr>
              <a:t>UTS · Cartilla de aprendizaje — Gestión Inteligente de Inventarios</a:t>
            </a:r>
            <a:endParaRPr lang="es-CO" sz="1350" noProof="0" dirty="0"/>
          </a:p>
        </p:txBody>
      </p:sp>
      <p:sp>
        <p:nvSpPr>
          <p:cNvPr id="12" name="Shape 10"/>
          <p:cNvSpPr/>
          <p:nvPr/>
        </p:nvSpPr>
        <p:spPr>
          <a:xfrm>
            <a:off x="16725900" y="9410700"/>
            <a:ext cx="419100" cy="419100"/>
          </a:xfrm>
          <a:prstGeom prst="ellipse">
            <a:avLst/>
          </a:prstGeom>
          <a:solidFill>
            <a:srgbClr val="B7D81A"/>
          </a:solidFill>
          <a:ln/>
        </p:spPr>
        <p:txBody>
          <a:bodyPr/>
          <a:lstStyle/>
          <a:p>
            <a:endParaRPr lang="es-CO" noProof="0" dirty="0"/>
          </a:p>
        </p:txBody>
      </p:sp>
      <p:sp>
        <p:nvSpPr>
          <p:cNvPr id="13" name="Text 11"/>
          <p:cNvSpPr/>
          <p:nvPr/>
        </p:nvSpPr>
        <p:spPr>
          <a:xfrm>
            <a:off x="16687800" y="9410700"/>
            <a:ext cx="495300" cy="457200"/>
          </a:xfrm>
          <a:prstGeom prst="rect">
            <a:avLst/>
          </a:prstGeom>
          <a:noFill/>
          <a:ln/>
        </p:spPr>
        <p:txBody>
          <a:bodyPr wrap="square" lIns="25400" tIns="25400" rIns="25400" bIns="25400" rtlCol="0" anchor="ctr">
            <a:normAutofit/>
          </a:bodyPr>
          <a:lstStyle/>
          <a:p>
            <a:pPr marL="0" indent="0" algn="ctr">
              <a:buNone/>
            </a:pPr>
            <a:r>
              <a:rPr lang="es-CO" sz="1500" b="1" noProof="0" dirty="0">
                <a:solidFill>
                  <a:srgbClr val="3D3D3D"/>
                </a:solidFill>
                <a:latin typeface="Segoe UI" pitchFamily="34" charset="0"/>
                <a:ea typeface="Segoe UI" pitchFamily="34" charset="-122"/>
                <a:cs typeface="Segoe UI" pitchFamily="34" charset="-120"/>
              </a:rPr>
              <a:t>31</a:t>
            </a:r>
            <a:endParaRPr lang="es-CO" sz="1500" noProof="0" dirty="0"/>
          </a:p>
        </p:txBody>
      </p:sp>
      <p:sp>
        <p:nvSpPr>
          <p:cNvPr id="15" name="Shape 0">
            <a:extLst>
              <a:ext uri="{FF2B5EF4-FFF2-40B4-BE49-F238E27FC236}">
                <a16:creationId xmlns:a16="http://schemas.microsoft.com/office/drawing/2014/main" id="{6783A8E6-42F1-3058-4205-C0359C5F8742}"/>
              </a:ext>
            </a:extLst>
          </p:cNvPr>
          <p:cNvSpPr/>
          <p:nvPr/>
        </p:nvSpPr>
        <p:spPr>
          <a:xfrm>
            <a:off x="1143000" y="838200"/>
            <a:ext cx="3290788" cy="419100"/>
          </a:xfrm>
          <a:prstGeom prst="roundRect">
            <a:avLst>
              <a:gd name="adj" fmla="val 50000"/>
            </a:avLst>
          </a:prstGeom>
          <a:solidFill>
            <a:srgbClr val="FFFFFF"/>
          </a:solidFill>
          <a:ln/>
        </p:spPr>
        <p:txBody>
          <a:bodyPr/>
          <a:lstStyle/>
          <a:p>
            <a:endParaRPr lang="es-CO" noProof="0" dirty="0"/>
          </a:p>
        </p:txBody>
      </p:sp>
      <p:sp>
        <p:nvSpPr>
          <p:cNvPr id="17" name="Text 1">
            <a:extLst>
              <a:ext uri="{FF2B5EF4-FFF2-40B4-BE49-F238E27FC236}">
                <a16:creationId xmlns:a16="http://schemas.microsoft.com/office/drawing/2014/main" id="{2D148A2F-6E03-EAD5-1B65-3F74FAD7BC7A}"/>
              </a:ext>
            </a:extLst>
          </p:cNvPr>
          <p:cNvSpPr/>
          <p:nvPr/>
        </p:nvSpPr>
        <p:spPr>
          <a:xfrm>
            <a:off x="1352550" y="857250"/>
            <a:ext cx="3081238" cy="381000"/>
          </a:xfrm>
          <a:prstGeom prst="rect">
            <a:avLst/>
          </a:prstGeom>
          <a:noFill/>
          <a:ln/>
        </p:spPr>
        <p:txBody>
          <a:bodyPr wrap="square" lIns="25400" tIns="25400" rIns="25400" bIns="25400" rtlCol="0" anchor="ctr">
            <a:normAutofit/>
          </a:bodyPr>
          <a:lstStyle/>
          <a:p>
            <a:pPr marL="0" indent="0" algn="l">
              <a:buNone/>
            </a:pPr>
            <a:r>
              <a:rPr lang="es-CO" sz="1350" b="1" kern="0" spc="81" noProof="0" dirty="0">
                <a:solidFill>
                  <a:srgbClr val="7E2C8C"/>
                </a:solidFill>
                <a:latin typeface="Segoe UI" pitchFamily="34" charset="0"/>
                <a:ea typeface="Segoe UI" pitchFamily="34" charset="-122"/>
                <a:cs typeface="Segoe UI" pitchFamily="34" charset="-120"/>
              </a:rPr>
              <a:t>FASE 6 SÍNTESIS DEL MÓDULO</a:t>
            </a:r>
            <a:endParaRPr lang="es-CO" sz="1350" noProof="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4FCE0"/>
        </a:solidFill>
        <a:effectLst/>
      </p:bgPr>
    </p:bg>
    <p:spTree>
      <p:nvGrpSpPr>
        <p:cNvPr id="1" name=""/>
        <p:cNvGrpSpPr/>
        <p:nvPr/>
      </p:nvGrpSpPr>
      <p:grpSpPr>
        <a:xfrm>
          <a:off x="0" y="0"/>
          <a:ext cx="0" cy="0"/>
          <a:chOff x="0" y="0"/>
          <a:chExt cx="0" cy="0"/>
        </a:xfrm>
      </p:grpSpPr>
      <p:sp>
        <p:nvSpPr>
          <p:cNvPr id="2" name="Shape 0"/>
          <p:cNvSpPr/>
          <p:nvPr/>
        </p:nvSpPr>
        <p:spPr>
          <a:xfrm>
            <a:off x="1143000" y="838200"/>
            <a:ext cx="3290788" cy="419100"/>
          </a:xfrm>
          <a:prstGeom prst="roundRect">
            <a:avLst>
              <a:gd name="adj" fmla="val 50000"/>
            </a:avLst>
          </a:prstGeom>
          <a:solidFill>
            <a:srgbClr val="FFFFFF"/>
          </a:solidFill>
          <a:ln/>
        </p:spPr>
        <p:txBody>
          <a:bodyPr/>
          <a:lstStyle/>
          <a:p>
            <a:endParaRPr lang="es-CO" noProof="0" dirty="0"/>
          </a:p>
        </p:txBody>
      </p:sp>
      <p:sp>
        <p:nvSpPr>
          <p:cNvPr id="3" name="Text 1"/>
          <p:cNvSpPr/>
          <p:nvPr/>
        </p:nvSpPr>
        <p:spPr>
          <a:xfrm>
            <a:off x="1352550" y="857250"/>
            <a:ext cx="3081238" cy="381000"/>
          </a:xfrm>
          <a:prstGeom prst="rect">
            <a:avLst/>
          </a:prstGeom>
          <a:noFill/>
          <a:ln/>
        </p:spPr>
        <p:txBody>
          <a:bodyPr wrap="square" lIns="25400" tIns="25400" rIns="25400" bIns="25400" rtlCol="0" anchor="ctr">
            <a:normAutofit/>
          </a:bodyPr>
          <a:lstStyle/>
          <a:p>
            <a:pPr marL="0" indent="0" algn="l">
              <a:buNone/>
            </a:pPr>
            <a:r>
              <a:rPr lang="es-CO" sz="1350" b="1" kern="0" spc="81" noProof="0" dirty="0">
                <a:solidFill>
                  <a:srgbClr val="7E2C8C"/>
                </a:solidFill>
                <a:latin typeface="Segoe UI" pitchFamily="34" charset="0"/>
                <a:ea typeface="Segoe UI" pitchFamily="34" charset="-122"/>
                <a:cs typeface="Segoe UI" pitchFamily="34" charset="-120"/>
              </a:rPr>
              <a:t>FASE 6 SÍNTESIS DEL MÓDULO</a:t>
            </a:r>
            <a:endParaRPr lang="es-CO" sz="1350" noProof="0" dirty="0"/>
          </a:p>
        </p:txBody>
      </p:sp>
      <p:sp>
        <p:nvSpPr>
          <p:cNvPr id="4" name="Text 2"/>
          <p:cNvSpPr/>
          <p:nvPr/>
        </p:nvSpPr>
        <p:spPr>
          <a:xfrm>
            <a:off x="1143000" y="1619250"/>
            <a:ext cx="13620750" cy="698500"/>
          </a:xfrm>
          <a:prstGeom prst="rect">
            <a:avLst/>
          </a:prstGeom>
          <a:noFill/>
          <a:ln/>
        </p:spPr>
        <p:txBody>
          <a:bodyPr wrap="square" lIns="25400" tIns="25400" rIns="25400" bIns="25400" rtlCol="0" anchor="t">
            <a:normAutofit/>
          </a:bodyPr>
          <a:lstStyle/>
          <a:p>
            <a:pPr marL="0" indent="0" algn="l">
              <a:buNone/>
            </a:pPr>
            <a:r>
              <a:rPr lang="es-CO" sz="3900" b="1" noProof="0" dirty="0">
                <a:solidFill>
                  <a:srgbClr val="3D3D3D"/>
                </a:solidFill>
                <a:latin typeface="Segoe UI" pitchFamily="34" charset="0"/>
                <a:ea typeface="Segoe UI" pitchFamily="34" charset="-122"/>
                <a:cs typeface="Segoe UI" pitchFamily="34" charset="-120"/>
              </a:rPr>
              <a:t>Buenas prácticas de reproducibilidad</a:t>
            </a:r>
            <a:endParaRPr lang="es-CO" sz="3900" noProof="0" dirty="0"/>
          </a:p>
        </p:txBody>
      </p:sp>
      <p:sp>
        <p:nvSpPr>
          <p:cNvPr id="5" name="Shape 3"/>
          <p:cNvSpPr/>
          <p:nvPr/>
        </p:nvSpPr>
        <p:spPr>
          <a:xfrm>
            <a:off x="1143000" y="3238500"/>
            <a:ext cx="5448300" cy="2470150"/>
          </a:xfrm>
          <a:prstGeom prst="roundRect">
            <a:avLst>
              <a:gd name="adj" fmla="val 10797"/>
            </a:avLst>
          </a:prstGeom>
          <a:solidFill>
            <a:srgbClr val="FFFFFF"/>
          </a:solidFill>
          <a:ln/>
        </p:spPr>
        <p:txBody>
          <a:bodyPr/>
          <a:lstStyle/>
          <a:p>
            <a:endParaRPr lang="es-CO" noProof="0" dirty="0"/>
          </a:p>
        </p:txBody>
      </p:sp>
      <p:sp>
        <p:nvSpPr>
          <p:cNvPr id="6" name="Shape 4"/>
          <p:cNvSpPr/>
          <p:nvPr/>
        </p:nvSpPr>
        <p:spPr>
          <a:xfrm>
            <a:off x="1485900" y="3581400"/>
            <a:ext cx="495300" cy="495300"/>
          </a:xfrm>
          <a:prstGeom prst="roundRect">
            <a:avLst>
              <a:gd name="adj" fmla="val 30769"/>
            </a:avLst>
          </a:prstGeom>
          <a:solidFill>
            <a:srgbClr val="B7D81A"/>
          </a:solidFill>
          <a:ln/>
        </p:spPr>
        <p:txBody>
          <a:bodyPr/>
          <a:lstStyle/>
          <a:p>
            <a:endParaRPr lang="es-CO" noProof="0" dirty="0"/>
          </a:p>
        </p:txBody>
      </p:sp>
      <p:sp>
        <p:nvSpPr>
          <p:cNvPr id="7" name="Text 5"/>
          <p:cNvSpPr/>
          <p:nvPr/>
        </p:nvSpPr>
        <p:spPr>
          <a:xfrm>
            <a:off x="1485900" y="4267200"/>
            <a:ext cx="5238750" cy="393700"/>
          </a:xfrm>
          <a:prstGeom prst="rect">
            <a:avLst/>
          </a:prstGeom>
          <a:noFill/>
          <a:ln/>
        </p:spPr>
        <p:txBody>
          <a:bodyPr wrap="square" lIns="25400" tIns="25400" rIns="25400" bIns="25400" rtlCol="0" anchor="t">
            <a:normAutofit/>
          </a:bodyPr>
          <a:lstStyle/>
          <a:p>
            <a:pPr marL="0" indent="0" algn="l">
              <a:buNone/>
            </a:pPr>
            <a:r>
              <a:rPr lang="es-CO" sz="2100" b="1" noProof="0" dirty="0">
                <a:solidFill>
                  <a:srgbClr val="3D3D3D"/>
                </a:solidFill>
                <a:latin typeface="Segoe UI" pitchFamily="34" charset="0"/>
                <a:ea typeface="Segoe UI" pitchFamily="34" charset="-122"/>
                <a:cs typeface="Segoe UI" pitchFamily="34" charset="-120"/>
              </a:rPr>
              <a:t>Semilla fija</a:t>
            </a:r>
            <a:endParaRPr lang="es-CO" sz="2100" noProof="0" dirty="0"/>
          </a:p>
        </p:txBody>
      </p:sp>
      <p:sp>
        <p:nvSpPr>
          <p:cNvPr id="8" name="Text 6"/>
          <p:cNvSpPr/>
          <p:nvPr/>
        </p:nvSpPr>
        <p:spPr>
          <a:xfrm>
            <a:off x="1485900" y="4737100"/>
            <a:ext cx="4905375" cy="666750"/>
          </a:xfrm>
          <a:prstGeom prst="rect">
            <a:avLst/>
          </a:prstGeom>
          <a:noFill/>
          <a:ln/>
        </p:spPr>
        <p:txBody>
          <a:bodyPr wrap="square" lIns="25400" tIns="25400" rIns="25400" bIns="25400" rtlCol="0" anchor="t">
            <a:normAutofit/>
          </a:bodyPr>
          <a:lstStyle/>
          <a:p>
            <a:pPr marL="0" indent="0" algn="l">
              <a:lnSpc>
                <a:spcPct val="112500"/>
              </a:lnSpc>
              <a:buNone/>
            </a:pPr>
            <a:r>
              <a:rPr lang="es-CO" sz="1650" noProof="0" dirty="0" err="1">
                <a:solidFill>
                  <a:srgbClr val="6F6F6F"/>
                </a:solidFill>
                <a:latin typeface="Segoe UI" pitchFamily="34" charset="0"/>
                <a:ea typeface="Segoe UI" pitchFamily="34" charset="-122"/>
                <a:cs typeface="Segoe UI" pitchFamily="34" charset="-120"/>
              </a:rPr>
              <a:t>set.seed</a:t>
            </a:r>
            <a:r>
              <a:rPr lang="es-CO" sz="1650" noProof="0" dirty="0">
                <a:solidFill>
                  <a:srgbClr val="6F6F6F"/>
                </a:solidFill>
                <a:latin typeface="Segoe UI" pitchFamily="34" charset="0"/>
                <a:ea typeface="Segoe UI" pitchFamily="34" charset="-122"/>
                <a:cs typeface="Segoe UI" pitchFamily="34" charset="-120"/>
              </a:rPr>
              <a:t>(123) al inicio de cada script garantiza que los resultados sean exactamente replicables.</a:t>
            </a:r>
            <a:endParaRPr lang="es-CO" sz="1650" noProof="0" dirty="0"/>
          </a:p>
        </p:txBody>
      </p:sp>
      <p:sp>
        <p:nvSpPr>
          <p:cNvPr id="9" name="Shape 7"/>
          <p:cNvSpPr/>
          <p:nvPr/>
        </p:nvSpPr>
        <p:spPr>
          <a:xfrm>
            <a:off x="6286500" y="3238500"/>
            <a:ext cx="5448300" cy="2470150"/>
          </a:xfrm>
          <a:prstGeom prst="roundRect">
            <a:avLst>
              <a:gd name="adj" fmla="val 10797"/>
            </a:avLst>
          </a:prstGeom>
          <a:solidFill>
            <a:srgbClr val="FFFFFF"/>
          </a:solidFill>
          <a:ln/>
        </p:spPr>
        <p:txBody>
          <a:bodyPr/>
          <a:lstStyle/>
          <a:p>
            <a:endParaRPr lang="es-CO" noProof="0" dirty="0"/>
          </a:p>
        </p:txBody>
      </p:sp>
      <p:sp>
        <p:nvSpPr>
          <p:cNvPr id="10" name="Shape 8"/>
          <p:cNvSpPr/>
          <p:nvPr/>
        </p:nvSpPr>
        <p:spPr>
          <a:xfrm>
            <a:off x="6629400" y="3581400"/>
            <a:ext cx="495300" cy="495300"/>
          </a:xfrm>
          <a:prstGeom prst="roundRect">
            <a:avLst>
              <a:gd name="adj" fmla="val 30769"/>
            </a:avLst>
          </a:prstGeom>
          <a:solidFill>
            <a:srgbClr val="7E2C8C"/>
          </a:solidFill>
          <a:ln/>
        </p:spPr>
        <p:txBody>
          <a:bodyPr/>
          <a:lstStyle/>
          <a:p>
            <a:endParaRPr lang="es-CO" noProof="0" dirty="0"/>
          </a:p>
        </p:txBody>
      </p:sp>
      <p:sp>
        <p:nvSpPr>
          <p:cNvPr id="11" name="Text 9"/>
          <p:cNvSpPr/>
          <p:nvPr/>
        </p:nvSpPr>
        <p:spPr>
          <a:xfrm>
            <a:off x="6629400" y="4267200"/>
            <a:ext cx="5238750" cy="393700"/>
          </a:xfrm>
          <a:prstGeom prst="rect">
            <a:avLst/>
          </a:prstGeom>
          <a:noFill/>
          <a:ln/>
        </p:spPr>
        <p:txBody>
          <a:bodyPr wrap="square" lIns="25400" tIns="25400" rIns="25400" bIns="25400" rtlCol="0" anchor="t">
            <a:normAutofit/>
          </a:bodyPr>
          <a:lstStyle/>
          <a:p>
            <a:pPr marL="0" indent="0" algn="l">
              <a:buNone/>
            </a:pPr>
            <a:r>
              <a:rPr lang="es-CO" sz="2100" b="1" noProof="0" dirty="0">
                <a:solidFill>
                  <a:srgbClr val="3D3D3D"/>
                </a:solidFill>
                <a:latin typeface="Segoe UI" pitchFamily="34" charset="0"/>
                <a:ea typeface="Segoe UI" pitchFamily="34" charset="-122"/>
                <a:cs typeface="Segoe UI" pitchFamily="34" charset="-120"/>
              </a:rPr>
              <a:t>Separación temporal</a:t>
            </a:r>
            <a:endParaRPr lang="es-CO" sz="2100" noProof="0" dirty="0"/>
          </a:p>
        </p:txBody>
      </p:sp>
      <p:sp>
        <p:nvSpPr>
          <p:cNvPr id="12" name="Text 10"/>
          <p:cNvSpPr/>
          <p:nvPr/>
        </p:nvSpPr>
        <p:spPr>
          <a:xfrm>
            <a:off x="6629400" y="4737100"/>
            <a:ext cx="4905375" cy="666750"/>
          </a:xfrm>
          <a:prstGeom prst="rect">
            <a:avLst/>
          </a:prstGeom>
          <a:noFill/>
          <a:ln/>
        </p:spPr>
        <p:txBody>
          <a:bodyPr wrap="square" lIns="25400" tIns="25400" rIns="25400" bIns="25400" rtlCol="0" anchor="t">
            <a:normAutofit/>
          </a:bodyPr>
          <a:lstStyle/>
          <a:p>
            <a:pPr marL="0" indent="0" algn="l">
              <a:lnSpc>
                <a:spcPct val="112500"/>
              </a:lnSpc>
              <a:buNone/>
            </a:pPr>
            <a:r>
              <a:rPr lang="es-CO" sz="1650" noProof="0" dirty="0">
                <a:solidFill>
                  <a:srgbClr val="6F6F6F"/>
                </a:solidFill>
                <a:latin typeface="Segoe UI" pitchFamily="34" charset="0"/>
                <a:ea typeface="Segoe UI" pitchFamily="34" charset="-122"/>
                <a:cs typeface="Segoe UI" pitchFamily="34" charset="-120"/>
              </a:rPr>
              <a:t>El conjunto de validación nunca participa en el entrenamiento ni en la construcción de variables.</a:t>
            </a:r>
            <a:endParaRPr lang="es-CO" sz="1650" noProof="0" dirty="0"/>
          </a:p>
        </p:txBody>
      </p:sp>
      <p:sp>
        <p:nvSpPr>
          <p:cNvPr id="13" name="Shape 11"/>
          <p:cNvSpPr/>
          <p:nvPr/>
        </p:nvSpPr>
        <p:spPr>
          <a:xfrm>
            <a:off x="11430000" y="3238500"/>
            <a:ext cx="5448300" cy="2470150"/>
          </a:xfrm>
          <a:prstGeom prst="roundRect">
            <a:avLst>
              <a:gd name="adj" fmla="val 10797"/>
            </a:avLst>
          </a:prstGeom>
          <a:solidFill>
            <a:srgbClr val="FFFFFF"/>
          </a:solidFill>
          <a:ln/>
        </p:spPr>
        <p:txBody>
          <a:bodyPr/>
          <a:lstStyle/>
          <a:p>
            <a:endParaRPr lang="es-CO" noProof="0" dirty="0"/>
          </a:p>
        </p:txBody>
      </p:sp>
      <p:sp>
        <p:nvSpPr>
          <p:cNvPr id="14" name="Shape 12"/>
          <p:cNvSpPr/>
          <p:nvPr/>
        </p:nvSpPr>
        <p:spPr>
          <a:xfrm>
            <a:off x="11772900" y="3581400"/>
            <a:ext cx="495300" cy="495300"/>
          </a:xfrm>
          <a:prstGeom prst="roundRect">
            <a:avLst>
              <a:gd name="adj" fmla="val 30769"/>
            </a:avLst>
          </a:prstGeom>
          <a:solidFill>
            <a:srgbClr val="A867B5"/>
          </a:solidFill>
          <a:ln/>
        </p:spPr>
        <p:txBody>
          <a:bodyPr/>
          <a:lstStyle/>
          <a:p>
            <a:endParaRPr lang="es-CO" noProof="0" dirty="0"/>
          </a:p>
        </p:txBody>
      </p:sp>
      <p:sp>
        <p:nvSpPr>
          <p:cNvPr id="15" name="Text 13"/>
          <p:cNvSpPr/>
          <p:nvPr/>
        </p:nvSpPr>
        <p:spPr>
          <a:xfrm>
            <a:off x="11772900" y="4267200"/>
            <a:ext cx="5238750" cy="393700"/>
          </a:xfrm>
          <a:prstGeom prst="rect">
            <a:avLst/>
          </a:prstGeom>
          <a:noFill/>
          <a:ln/>
        </p:spPr>
        <p:txBody>
          <a:bodyPr wrap="square" lIns="25400" tIns="25400" rIns="25400" bIns="25400" rtlCol="0" anchor="t">
            <a:normAutofit/>
          </a:bodyPr>
          <a:lstStyle/>
          <a:p>
            <a:pPr marL="0" indent="0" algn="l">
              <a:buNone/>
            </a:pPr>
            <a:r>
              <a:rPr lang="es-CO" sz="2100" b="1" noProof="0" dirty="0">
                <a:solidFill>
                  <a:srgbClr val="3D3D3D"/>
                </a:solidFill>
                <a:latin typeface="Segoe UI" pitchFamily="34" charset="0"/>
                <a:ea typeface="Segoe UI" pitchFamily="34" charset="-122"/>
                <a:cs typeface="Segoe UI" pitchFamily="34" charset="-120"/>
              </a:rPr>
              <a:t>Validación independiente</a:t>
            </a:r>
            <a:endParaRPr lang="es-CO" sz="2100" noProof="0" dirty="0"/>
          </a:p>
        </p:txBody>
      </p:sp>
      <p:sp>
        <p:nvSpPr>
          <p:cNvPr id="16" name="Text 14"/>
          <p:cNvSpPr/>
          <p:nvPr/>
        </p:nvSpPr>
        <p:spPr>
          <a:xfrm>
            <a:off x="11772900" y="4737100"/>
            <a:ext cx="4905375" cy="666750"/>
          </a:xfrm>
          <a:prstGeom prst="rect">
            <a:avLst/>
          </a:prstGeom>
          <a:noFill/>
          <a:ln/>
        </p:spPr>
        <p:txBody>
          <a:bodyPr wrap="square" lIns="25400" tIns="25400" rIns="25400" bIns="25400" rtlCol="0" anchor="t">
            <a:normAutofit fontScale="85000" lnSpcReduction="20000"/>
          </a:bodyPr>
          <a:lstStyle/>
          <a:p>
            <a:pPr marL="0" indent="0" algn="l">
              <a:lnSpc>
                <a:spcPct val="112500"/>
              </a:lnSpc>
              <a:buNone/>
            </a:pPr>
            <a:r>
              <a:rPr lang="es-CO" sz="1650" noProof="0" dirty="0">
                <a:solidFill>
                  <a:srgbClr val="6F6F6F"/>
                </a:solidFill>
                <a:latin typeface="Segoe UI" pitchFamily="34" charset="0"/>
                <a:ea typeface="Segoe UI" pitchFamily="34" charset="-122"/>
                <a:cs typeface="Segoe UI" pitchFamily="34" charset="-120"/>
              </a:rPr>
              <a:t>Un script separado verifica cada etapa (</a:t>
            </a:r>
            <a:r>
              <a:rPr lang="es-CO" sz="1650" noProof="0" dirty="0" err="1">
                <a:solidFill>
                  <a:srgbClr val="6F6F6F"/>
                </a:solidFill>
                <a:latin typeface="Segoe UI" pitchFamily="34" charset="0"/>
                <a:ea typeface="Segoe UI" pitchFamily="34" charset="-122"/>
                <a:cs typeface="Segoe UI" pitchFamily="34" charset="-120"/>
              </a:rPr>
              <a:t>dataset</a:t>
            </a:r>
            <a:r>
              <a:rPr lang="es-CO" sz="1650" noProof="0" dirty="0">
                <a:solidFill>
                  <a:srgbClr val="6F6F6F"/>
                </a:solidFill>
                <a:latin typeface="Segoe UI" pitchFamily="34" charset="0"/>
                <a:ea typeface="Segoe UI" pitchFamily="34" charset="-122"/>
                <a:cs typeface="Segoe UI" pitchFamily="34" charset="-120"/>
              </a:rPr>
              <a:t> y predictores) antes de modelar, sin mezclar su lógica con la de construcción.</a:t>
            </a:r>
            <a:endParaRPr lang="es-CO" sz="1650" noProof="0" dirty="0"/>
          </a:p>
        </p:txBody>
      </p:sp>
      <p:sp>
        <p:nvSpPr>
          <p:cNvPr id="17" name="Text 15"/>
          <p:cNvSpPr/>
          <p:nvPr/>
        </p:nvSpPr>
        <p:spPr>
          <a:xfrm>
            <a:off x="1143000" y="9525000"/>
            <a:ext cx="5412720" cy="266700"/>
          </a:xfrm>
          <a:prstGeom prst="rect">
            <a:avLst/>
          </a:prstGeom>
          <a:noFill/>
          <a:ln/>
        </p:spPr>
        <p:txBody>
          <a:bodyPr wrap="square" lIns="25400" tIns="25400" rIns="25400" bIns="25400" rtlCol="0" anchor="t">
            <a:normAutofit/>
          </a:bodyPr>
          <a:lstStyle/>
          <a:p>
            <a:pPr marL="0" indent="0" algn="l">
              <a:buNone/>
            </a:pPr>
            <a:r>
              <a:rPr lang="es-CO" sz="1350" noProof="0" dirty="0">
                <a:solidFill>
                  <a:srgbClr val="6F6F6F"/>
                </a:solidFill>
                <a:latin typeface="Segoe UI" pitchFamily="34" charset="0"/>
                <a:ea typeface="Segoe UI" pitchFamily="34" charset="-122"/>
                <a:cs typeface="Segoe UI" pitchFamily="34" charset="-120"/>
              </a:rPr>
              <a:t>UTS · Cartilla de aprendizaje — Gestión Inteligente de Inventarios</a:t>
            </a:r>
            <a:endParaRPr lang="es-CO" sz="1350" noProof="0" dirty="0"/>
          </a:p>
        </p:txBody>
      </p:sp>
      <p:sp>
        <p:nvSpPr>
          <p:cNvPr id="18" name="Shape 16"/>
          <p:cNvSpPr/>
          <p:nvPr/>
        </p:nvSpPr>
        <p:spPr>
          <a:xfrm>
            <a:off x="16725900" y="9410700"/>
            <a:ext cx="419100" cy="419100"/>
          </a:xfrm>
          <a:prstGeom prst="ellipse">
            <a:avLst/>
          </a:prstGeom>
          <a:solidFill>
            <a:srgbClr val="7E2C8C"/>
          </a:solidFill>
          <a:ln/>
        </p:spPr>
        <p:txBody>
          <a:bodyPr/>
          <a:lstStyle/>
          <a:p>
            <a:endParaRPr lang="es-CO" noProof="0" dirty="0"/>
          </a:p>
        </p:txBody>
      </p:sp>
      <p:sp>
        <p:nvSpPr>
          <p:cNvPr id="19" name="Text 17"/>
          <p:cNvSpPr/>
          <p:nvPr/>
        </p:nvSpPr>
        <p:spPr>
          <a:xfrm>
            <a:off x="16687800" y="9410700"/>
            <a:ext cx="495300" cy="457200"/>
          </a:xfrm>
          <a:prstGeom prst="rect">
            <a:avLst/>
          </a:prstGeom>
          <a:noFill/>
          <a:ln/>
        </p:spPr>
        <p:txBody>
          <a:bodyPr wrap="square" lIns="25400" tIns="25400" rIns="25400" bIns="25400" rtlCol="0" anchor="ctr">
            <a:normAutofit/>
          </a:bodyPr>
          <a:lstStyle/>
          <a:p>
            <a:pPr marL="0" indent="0" algn="ctr">
              <a:buNone/>
            </a:pPr>
            <a:r>
              <a:rPr lang="es-CO" sz="1500" b="1" noProof="0" dirty="0">
                <a:solidFill>
                  <a:srgbClr val="FFFFFF"/>
                </a:solidFill>
                <a:latin typeface="Segoe UI" pitchFamily="34" charset="0"/>
                <a:cs typeface="Segoe UI" pitchFamily="34" charset="-120"/>
              </a:rPr>
              <a:t>32</a:t>
            </a:r>
            <a:endParaRPr lang="es-CO" sz="1500" noProof="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9524AC"/>
        </a:solidFill>
        <a:effectLst/>
      </p:bgPr>
    </p:bg>
    <p:spTree>
      <p:nvGrpSpPr>
        <p:cNvPr id="1" name=""/>
        <p:cNvGrpSpPr/>
        <p:nvPr/>
      </p:nvGrpSpPr>
      <p:grpSpPr>
        <a:xfrm>
          <a:off x="0" y="0"/>
          <a:ext cx="0" cy="0"/>
          <a:chOff x="0" y="0"/>
          <a:chExt cx="0" cy="0"/>
        </a:xfrm>
      </p:grpSpPr>
      <p:sp>
        <p:nvSpPr>
          <p:cNvPr id="2" name="Shape 0"/>
          <p:cNvSpPr/>
          <p:nvPr/>
        </p:nvSpPr>
        <p:spPr>
          <a:xfrm>
            <a:off x="-1524000" y="-1524000"/>
            <a:ext cx="4572000" cy="4572000"/>
          </a:xfrm>
          <a:prstGeom prst="ellipse">
            <a:avLst/>
          </a:prstGeom>
          <a:solidFill>
            <a:schemeClr val="bg1">
              <a:lumMod val="85000"/>
            </a:schemeClr>
          </a:solidFill>
          <a:ln/>
        </p:spPr>
        <p:txBody>
          <a:bodyPr/>
          <a:lstStyle/>
          <a:p>
            <a:endParaRPr lang="es-CO" noProof="0" dirty="0"/>
          </a:p>
        </p:txBody>
      </p:sp>
      <p:sp>
        <p:nvSpPr>
          <p:cNvPr id="3" name="Shape 1"/>
          <p:cNvSpPr/>
          <p:nvPr/>
        </p:nvSpPr>
        <p:spPr>
          <a:xfrm rot="-900000">
            <a:off x="15049501" y="7810500"/>
            <a:ext cx="4381501" cy="4381501"/>
          </a:xfrm>
          <a:prstGeom prst="roundRect">
            <a:avLst>
              <a:gd name="adj" fmla="val 13913"/>
            </a:avLst>
          </a:prstGeom>
          <a:solidFill>
            <a:srgbClr val="B7D81A"/>
          </a:solidFill>
          <a:ln/>
        </p:spPr>
        <p:txBody>
          <a:bodyPr/>
          <a:lstStyle/>
          <a:p>
            <a:endParaRPr lang="es-CO" noProof="0" dirty="0"/>
          </a:p>
        </p:txBody>
      </p:sp>
      <p:sp>
        <p:nvSpPr>
          <p:cNvPr id="6" name="Text 4"/>
          <p:cNvSpPr/>
          <p:nvPr/>
        </p:nvSpPr>
        <p:spPr>
          <a:xfrm>
            <a:off x="5192837" y="6160362"/>
            <a:ext cx="7902327" cy="596900"/>
          </a:xfrm>
          <a:prstGeom prst="rect">
            <a:avLst/>
          </a:prstGeom>
          <a:noFill/>
          <a:ln/>
        </p:spPr>
        <p:txBody>
          <a:bodyPr wrap="square" lIns="25400" tIns="25400" rIns="25400" bIns="25400" rtlCol="0" anchor="t">
            <a:normAutofit fontScale="85000" lnSpcReduction="10000"/>
          </a:bodyPr>
          <a:lstStyle/>
          <a:p>
            <a:pPr marL="0" indent="0" algn="ctr">
              <a:buNone/>
            </a:pPr>
            <a:r>
              <a:rPr lang="es-CO" sz="3300" b="1" noProof="0" dirty="0">
                <a:solidFill>
                  <a:srgbClr val="FFFFFF"/>
                </a:solidFill>
                <a:latin typeface="Segoe UI" pitchFamily="34" charset="0"/>
                <a:ea typeface="Segoe UI" pitchFamily="34" charset="-122"/>
                <a:cs typeface="Segoe UI" pitchFamily="34" charset="-120"/>
              </a:rPr>
              <a:t>Repositorio Sistema Predictivo de Inventarios</a:t>
            </a:r>
            <a:endParaRPr lang="es-CO" sz="3300" noProof="0" dirty="0"/>
          </a:p>
        </p:txBody>
      </p:sp>
      <p:sp>
        <p:nvSpPr>
          <p:cNvPr id="7" name="Text 5"/>
          <p:cNvSpPr/>
          <p:nvPr/>
        </p:nvSpPr>
        <p:spPr>
          <a:xfrm>
            <a:off x="5192837" y="6681383"/>
            <a:ext cx="7902327" cy="368300"/>
          </a:xfrm>
          <a:prstGeom prst="rect">
            <a:avLst/>
          </a:prstGeom>
          <a:noFill/>
          <a:ln/>
        </p:spPr>
        <p:txBody>
          <a:bodyPr wrap="square" lIns="25400" tIns="25400" rIns="25400" bIns="25400" rtlCol="0" anchor="t">
            <a:normAutofit/>
          </a:bodyPr>
          <a:lstStyle/>
          <a:p>
            <a:pPr marL="0" indent="0" algn="ctr">
              <a:buNone/>
            </a:pPr>
            <a:r>
              <a:rPr lang="es-CO" sz="1950" noProof="0" dirty="0">
                <a:solidFill>
                  <a:srgbClr val="DDF28A"/>
                </a:solidFill>
                <a:latin typeface="Segoe UI" pitchFamily="34" charset="0"/>
                <a:ea typeface="Segoe UI" pitchFamily="34" charset="-122"/>
                <a:cs typeface="Segoe UI" pitchFamily="34" charset="-120"/>
              </a:rPr>
              <a:t>https://github.com/mabely2710-dot/sistema-predictivo-inventarios</a:t>
            </a:r>
            <a:endParaRPr lang="es-CO" sz="1950" noProof="0" dirty="0"/>
          </a:p>
        </p:txBody>
      </p:sp>
      <p:sp>
        <p:nvSpPr>
          <p:cNvPr id="8" name="Text 6"/>
          <p:cNvSpPr/>
          <p:nvPr/>
        </p:nvSpPr>
        <p:spPr>
          <a:xfrm>
            <a:off x="1143000" y="9525000"/>
            <a:ext cx="5412720" cy="266700"/>
          </a:xfrm>
          <a:prstGeom prst="rect">
            <a:avLst/>
          </a:prstGeom>
          <a:noFill/>
          <a:ln/>
        </p:spPr>
        <p:txBody>
          <a:bodyPr wrap="square" lIns="25400" tIns="25400" rIns="25400" bIns="25400" rtlCol="0" anchor="t">
            <a:normAutofit/>
          </a:bodyPr>
          <a:lstStyle/>
          <a:p>
            <a:pPr marL="0" indent="0" algn="l">
              <a:buNone/>
            </a:pPr>
            <a:r>
              <a:rPr lang="es-CO" sz="1350" noProof="0" dirty="0">
                <a:solidFill>
                  <a:srgbClr val="DDF28A"/>
                </a:solidFill>
                <a:latin typeface="Segoe UI" pitchFamily="34" charset="0"/>
                <a:ea typeface="Segoe UI" pitchFamily="34" charset="-122"/>
                <a:cs typeface="Segoe UI" pitchFamily="34" charset="-120"/>
              </a:rPr>
              <a:t>UTS · Cartilla de aprendizaje — Gestión Inteligente de Inventarios</a:t>
            </a:r>
            <a:endParaRPr lang="es-CO" sz="1350" noProof="0" dirty="0"/>
          </a:p>
        </p:txBody>
      </p:sp>
      <p:sp>
        <p:nvSpPr>
          <p:cNvPr id="9" name="Shape 7"/>
          <p:cNvSpPr/>
          <p:nvPr/>
        </p:nvSpPr>
        <p:spPr>
          <a:xfrm>
            <a:off x="16725900" y="9410700"/>
            <a:ext cx="419100" cy="419100"/>
          </a:xfrm>
          <a:prstGeom prst="ellipse">
            <a:avLst/>
          </a:prstGeom>
          <a:solidFill>
            <a:srgbClr val="FFFFFF"/>
          </a:solidFill>
          <a:ln/>
        </p:spPr>
        <p:txBody>
          <a:bodyPr/>
          <a:lstStyle/>
          <a:p>
            <a:endParaRPr lang="es-CO" noProof="0" dirty="0"/>
          </a:p>
        </p:txBody>
      </p:sp>
      <p:sp>
        <p:nvSpPr>
          <p:cNvPr id="10" name="Text 8"/>
          <p:cNvSpPr/>
          <p:nvPr/>
        </p:nvSpPr>
        <p:spPr>
          <a:xfrm>
            <a:off x="16687800" y="9410700"/>
            <a:ext cx="495300" cy="457200"/>
          </a:xfrm>
          <a:prstGeom prst="rect">
            <a:avLst/>
          </a:prstGeom>
          <a:noFill/>
          <a:ln/>
        </p:spPr>
        <p:txBody>
          <a:bodyPr wrap="square" lIns="25400" tIns="25400" rIns="25400" bIns="25400" rtlCol="0" anchor="ctr">
            <a:normAutofit/>
          </a:bodyPr>
          <a:lstStyle/>
          <a:p>
            <a:pPr marL="0" indent="0" algn="ctr">
              <a:buNone/>
            </a:pPr>
            <a:r>
              <a:rPr lang="es-CO" sz="1500" b="1" noProof="0" dirty="0">
                <a:solidFill>
                  <a:srgbClr val="7E2C8C"/>
                </a:solidFill>
                <a:latin typeface="Segoe UI" pitchFamily="34" charset="0"/>
                <a:cs typeface="Segoe UI" pitchFamily="34" charset="-120"/>
              </a:rPr>
              <a:t>33</a:t>
            </a:r>
            <a:endParaRPr lang="es-CO" sz="1500" noProof="0" dirty="0"/>
          </a:p>
        </p:txBody>
      </p:sp>
      <p:pic>
        <p:nvPicPr>
          <p:cNvPr id="12" name="Imagen 11">
            <a:extLst>
              <a:ext uri="{FF2B5EF4-FFF2-40B4-BE49-F238E27FC236}">
                <a16:creationId xmlns:a16="http://schemas.microsoft.com/office/drawing/2014/main" id="{4EFE38E5-E03A-290E-BB1B-EA8CF9CFCBA8}"/>
              </a:ext>
            </a:extLst>
          </p:cNvPr>
          <p:cNvPicPr>
            <a:picLocks noChangeAspect="1"/>
          </p:cNvPicPr>
          <p:nvPr/>
        </p:nvPicPr>
        <p:blipFill>
          <a:blip r:embed="rId2"/>
          <a:stretch>
            <a:fillRect/>
          </a:stretch>
        </p:blipFill>
        <p:spPr>
          <a:xfrm>
            <a:off x="7303420" y="2330950"/>
            <a:ext cx="3681160" cy="3591376"/>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9524AC"/>
        </a:solidFill>
        <a:effectLst/>
      </p:bgPr>
    </p:bg>
    <p:spTree>
      <p:nvGrpSpPr>
        <p:cNvPr id="1" name=""/>
        <p:cNvGrpSpPr/>
        <p:nvPr/>
      </p:nvGrpSpPr>
      <p:grpSpPr>
        <a:xfrm>
          <a:off x="0" y="0"/>
          <a:ext cx="0" cy="0"/>
          <a:chOff x="0" y="0"/>
          <a:chExt cx="0" cy="0"/>
        </a:xfrm>
      </p:grpSpPr>
      <p:sp>
        <p:nvSpPr>
          <p:cNvPr id="2" name="Shape 0"/>
          <p:cNvSpPr/>
          <p:nvPr/>
        </p:nvSpPr>
        <p:spPr>
          <a:xfrm>
            <a:off x="-1524000" y="-1524000"/>
            <a:ext cx="4572000" cy="4572000"/>
          </a:xfrm>
          <a:prstGeom prst="ellipse">
            <a:avLst/>
          </a:prstGeom>
          <a:solidFill>
            <a:srgbClr val="8F3B9C"/>
          </a:solidFill>
          <a:ln/>
        </p:spPr>
        <p:txBody>
          <a:bodyPr/>
          <a:lstStyle/>
          <a:p>
            <a:endParaRPr lang="es-CO" noProof="0" dirty="0"/>
          </a:p>
        </p:txBody>
      </p:sp>
      <p:sp>
        <p:nvSpPr>
          <p:cNvPr id="3" name="Shape 1"/>
          <p:cNvSpPr/>
          <p:nvPr/>
        </p:nvSpPr>
        <p:spPr>
          <a:xfrm rot="-900000">
            <a:off x="15049501" y="7810500"/>
            <a:ext cx="4381501" cy="4381501"/>
          </a:xfrm>
          <a:prstGeom prst="roundRect">
            <a:avLst>
              <a:gd name="adj" fmla="val 13913"/>
            </a:avLst>
          </a:prstGeom>
          <a:solidFill>
            <a:srgbClr val="B7D81A"/>
          </a:solidFill>
          <a:ln/>
        </p:spPr>
        <p:txBody>
          <a:bodyPr/>
          <a:lstStyle/>
          <a:p>
            <a:endParaRPr lang="es-CO" noProof="0" dirty="0"/>
          </a:p>
        </p:txBody>
      </p:sp>
      <p:sp>
        <p:nvSpPr>
          <p:cNvPr id="4" name="Shape 2"/>
          <p:cNvSpPr/>
          <p:nvPr/>
        </p:nvSpPr>
        <p:spPr>
          <a:xfrm>
            <a:off x="8686751" y="3975100"/>
            <a:ext cx="914400" cy="914400"/>
          </a:xfrm>
          <a:prstGeom prst="roundRect">
            <a:avLst>
              <a:gd name="adj" fmla="val 29167"/>
            </a:avLst>
          </a:prstGeom>
          <a:solidFill>
            <a:srgbClr val="FFFFFF"/>
          </a:solidFill>
          <a:ln/>
        </p:spPr>
        <p:txBody>
          <a:bodyPr/>
          <a:lstStyle/>
          <a:p>
            <a:endParaRPr lang="es-CO" noProof="0" dirty="0"/>
          </a:p>
        </p:txBody>
      </p:sp>
      <p:sp>
        <p:nvSpPr>
          <p:cNvPr id="5" name="Text 3"/>
          <p:cNvSpPr/>
          <p:nvPr/>
        </p:nvSpPr>
        <p:spPr>
          <a:xfrm>
            <a:off x="8648651" y="3975100"/>
            <a:ext cx="990600" cy="952500"/>
          </a:xfrm>
          <a:prstGeom prst="rect">
            <a:avLst/>
          </a:prstGeom>
          <a:noFill/>
          <a:ln/>
        </p:spPr>
        <p:txBody>
          <a:bodyPr wrap="square" lIns="25400" tIns="25400" rIns="25400" bIns="25400" rtlCol="0" anchor="ctr">
            <a:normAutofit/>
          </a:bodyPr>
          <a:lstStyle/>
          <a:p>
            <a:pPr marL="0" indent="0" algn="ctr">
              <a:buNone/>
            </a:pPr>
            <a:r>
              <a:rPr lang="es-CO" sz="3000" b="1" noProof="0" dirty="0">
                <a:solidFill>
                  <a:srgbClr val="7E2C8C"/>
                </a:solidFill>
                <a:latin typeface="Segoe UI" pitchFamily="34" charset="0"/>
                <a:ea typeface="Segoe UI" pitchFamily="34" charset="-122"/>
                <a:cs typeface="Segoe UI" pitchFamily="34" charset="-120"/>
              </a:rPr>
              <a:t>UTS</a:t>
            </a:r>
            <a:endParaRPr lang="es-CO" sz="3000" noProof="0" dirty="0"/>
          </a:p>
        </p:txBody>
      </p:sp>
      <p:sp>
        <p:nvSpPr>
          <p:cNvPr id="6" name="Text 4"/>
          <p:cNvSpPr/>
          <p:nvPr/>
        </p:nvSpPr>
        <p:spPr>
          <a:xfrm>
            <a:off x="5192837" y="5270500"/>
            <a:ext cx="7902327" cy="596900"/>
          </a:xfrm>
          <a:prstGeom prst="rect">
            <a:avLst/>
          </a:prstGeom>
          <a:noFill/>
          <a:ln/>
        </p:spPr>
        <p:txBody>
          <a:bodyPr wrap="square" lIns="25400" tIns="25400" rIns="25400" bIns="25400" rtlCol="0" anchor="t">
            <a:normAutofit/>
          </a:bodyPr>
          <a:lstStyle/>
          <a:p>
            <a:pPr marL="0" indent="0" algn="ctr">
              <a:buNone/>
            </a:pPr>
            <a:r>
              <a:rPr lang="es-CO" sz="3300" b="1" noProof="0" dirty="0">
                <a:solidFill>
                  <a:srgbClr val="FFFFFF"/>
                </a:solidFill>
                <a:latin typeface="Segoe UI" pitchFamily="34" charset="0"/>
                <a:ea typeface="Segoe UI" pitchFamily="34" charset="-122"/>
                <a:cs typeface="Segoe UI" pitchFamily="34" charset="-120"/>
              </a:rPr>
              <a:t>Unidades Tecnológicas de Santander</a:t>
            </a:r>
            <a:endParaRPr lang="es-CO" sz="3300" noProof="0" dirty="0"/>
          </a:p>
        </p:txBody>
      </p:sp>
      <p:sp>
        <p:nvSpPr>
          <p:cNvPr id="7" name="Text 5"/>
          <p:cNvSpPr/>
          <p:nvPr/>
        </p:nvSpPr>
        <p:spPr>
          <a:xfrm>
            <a:off x="5192837" y="5981700"/>
            <a:ext cx="7902327" cy="368300"/>
          </a:xfrm>
          <a:prstGeom prst="rect">
            <a:avLst/>
          </a:prstGeom>
          <a:noFill/>
          <a:ln/>
        </p:spPr>
        <p:txBody>
          <a:bodyPr wrap="square" lIns="25400" tIns="25400" rIns="25400" bIns="25400" rtlCol="0" anchor="t">
            <a:normAutofit/>
          </a:bodyPr>
          <a:lstStyle/>
          <a:p>
            <a:pPr marL="0" indent="0" algn="ctr">
              <a:buNone/>
            </a:pPr>
            <a:r>
              <a:rPr lang="es-CO" sz="1950" noProof="0" dirty="0">
                <a:solidFill>
                  <a:srgbClr val="DDF28A"/>
                </a:solidFill>
                <a:latin typeface="Segoe UI" pitchFamily="34" charset="0"/>
                <a:ea typeface="Segoe UI" pitchFamily="34" charset="-122"/>
                <a:cs typeface="Segoe UI" pitchFamily="34" charset="-120"/>
              </a:rPr>
              <a:t>Facultad de Ingeniería · Ingeniería Industrial</a:t>
            </a:r>
            <a:endParaRPr lang="es-CO" sz="1950" noProof="0" dirty="0"/>
          </a:p>
        </p:txBody>
      </p:sp>
      <p:sp>
        <p:nvSpPr>
          <p:cNvPr id="8" name="Text 6"/>
          <p:cNvSpPr/>
          <p:nvPr/>
        </p:nvSpPr>
        <p:spPr>
          <a:xfrm>
            <a:off x="1143000" y="9525000"/>
            <a:ext cx="5412720" cy="266700"/>
          </a:xfrm>
          <a:prstGeom prst="rect">
            <a:avLst/>
          </a:prstGeom>
          <a:noFill/>
          <a:ln/>
        </p:spPr>
        <p:txBody>
          <a:bodyPr wrap="square" lIns="25400" tIns="25400" rIns="25400" bIns="25400" rtlCol="0" anchor="t">
            <a:normAutofit/>
          </a:bodyPr>
          <a:lstStyle/>
          <a:p>
            <a:pPr marL="0" indent="0" algn="l">
              <a:buNone/>
            </a:pPr>
            <a:r>
              <a:rPr lang="es-CO" sz="1350" noProof="0" dirty="0">
                <a:solidFill>
                  <a:srgbClr val="DDF28A"/>
                </a:solidFill>
                <a:latin typeface="Segoe UI" pitchFamily="34" charset="0"/>
                <a:ea typeface="Segoe UI" pitchFamily="34" charset="-122"/>
                <a:cs typeface="Segoe UI" pitchFamily="34" charset="-120"/>
              </a:rPr>
              <a:t>UTS · Cartilla de aprendizaje — Gestión Inteligente de Inventarios</a:t>
            </a:r>
            <a:endParaRPr lang="es-CO" sz="1350" noProof="0" dirty="0"/>
          </a:p>
        </p:txBody>
      </p:sp>
      <p:sp>
        <p:nvSpPr>
          <p:cNvPr id="9" name="Shape 7"/>
          <p:cNvSpPr/>
          <p:nvPr/>
        </p:nvSpPr>
        <p:spPr>
          <a:xfrm>
            <a:off x="16725900" y="9410700"/>
            <a:ext cx="419100" cy="419100"/>
          </a:xfrm>
          <a:prstGeom prst="ellipse">
            <a:avLst/>
          </a:prstGeom>
          <a:solidFill>
            <a:srgbClr val="FFFFFF"/>
          </a:solidFill>
          <a:ln/>
        </p:spPr>
        <p:txBody>
          <a:bodyPr/>
          <a:lstStyle/>
          <a:p>
            <a:endParaRPr lang="es-CO" noProof="0" dirty="0"/>
          </a:p>
        </p:txBody>
      </p:sp>
      <p:sp>
        <p:nvSpPr>
          <p:cNvPr id="10" name="Text 8"/>
          <p:cNvSpPr/>
          <p:nvPr/>
        </p:nvSpPr>
        <p:spPr>
          <a:xfrm>
            <a:off x="16687800" y="9410700"/>
            <a:ext cx="495300" cy="457200"/>
          </a:xfrm>
          <a:prstGeom prst="rect">
            <a:avLst/>
          </a:prstGeom>
          <a:noFill/>
          <a:ln/>
        </p:spPr>
        <p:txBody>
          <a:bodyPr wrap="square" lIns="25400" tIns="25400" rIns="25400" bIns="25400" rtlCol="0" anchor="ctr">
            <a:normAutofit/>
          </a:bodyPr>
          <a:lstStyle/>
          <a:p>
            <a:pPr marL="0" indent="0" algn="ctr">
              <a:buNone/>
            </a:pPr>
            <a:r>
              <a:rPr lang="es-CO" sz="1500" b="1" noProof="0" dirty="0">
                <a:solidFill>
                  <a:srgbClr val="7E2C8C"/>
                </a:solidFill>
                <a:latin typeface="Segoe UI" pitchFamily="34" charset="0"/>
                <a:cs typeface="Segoe UI" pitchFamily="34" charset="-120"/>
              </a:rPr>
              <a:t>34</a:t>
            </a:r>
            <a:endParaRPr lang="es-CO" sz="1500" noProof="0" dirty="0"/>
          </a:p>
        </p:txBody>
      </p:sp>
    </p:spTree>
  </p:cSld>
  <p:clrMapOvr>
    <a:masterClrMapping/>
  </p:clrMapOvr>
</p:sld>
</file>

<file path=ppt/theme/theme1.xml><?xml version="1.0" encoding="utf-8"?>
<a:theme xmlns:a="http://schemas.openxmlformats.org/drawingml/2006/main" name="Office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Film Burn</Template>
  <TotalTime>1143</TotalTime>
  <Words>3730</Words>
  <Application>Microsoft Office PowerPoint</Application>
  <PresentationFormat>Personalizado</PresentationFormat>
  <Paragraphs>483</Paragraphs>
  <Slides>34</Slides>
  <Notes>8</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34</vt:i4>
      </vt:variant>
    </vt:vector>
  </HeadingPairs>
  <TitlesOfParts>
    <vt:vector size="39" baseType="lpstr">
      <vt:lpstr>Aptos</vt:lpstr>
      <vt:lpstr>Arial</vt:lpstr>
      <vt:lpstr>Courier New</vt:lpstr>
      <vt:lpstr>Segoe UI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MABELY JULIETH GAMBOA FLOREZ</cp:lastModifiedBy>
  <cp:revision>13</cp:revision>
  <dcterms:created xsi:type="dcterms:W3CDTF">2026-07-15T02:17:30Z</dcterms:created>
  <dcterms:modified xsi:type="dcterms:W3CDTF">2026-08-06T04:44:15Z</dcterms:modified>
</cp:coreProperties>
</file>